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D3D0F4-37C2-43F2-A100-0B3413584A68}" v="499" dt="2026-09-07T06:00:22.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051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358"/>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bg1"/>
          </a:solidFill>
          <a:ln>
            <a:solidFill>
              <a:schemeClr val="bg1"/>
            </a:solidFill>
          </a:ln>
        </p:spPr>
      </p:sp>
      <p:sp>
        <p:nvSpPr>
          <p:cNvPr id="6" name="Text 4"/>
          <p:cNvSpPr txBox="1"/>
          <p:nvPr/>
        </p:nvSpPr>
        <p:spPr>
          <a:xfrm>
            <a:off x="794824" y="919915"/>
            <a:ext cx="8733693" cy="1943686"/>
          </a:xfrm>
          <a:prstGeom prst="rect">
            <a:avLst/>
          </a:prstGeom>
          <a:solidFill>
            <a:schemeClr val="bg1"/>
          </a:solidFill>
          <a:ln/>
        </p:spPr>
        <p:txBody>
          <a:bodyPr wrap="square" lIns="0" tIns="0" rIns="0" bIns="0" rtlCol="0" anchor="ctr"/>
          <a:lstStyle/>
          <a:p>
            <a:pPr marL="0" indent="0">
              <a:lnSpc>
                <a:spcPct val="105000"/>
              </a:lnSpc>
              <a:buNone/>
            </a:pPr>
            <a:r>
              <a:rPr lang="en-US" sz="4600" b="1" dirty="0">
                <a:latin typeface="Cambria"/>
                <a:ea typeface="Cambria"/>
                <a:cs typeface="Cambria" pitchFamily="34" charset="-120"/>
              </a:rPr>
              <a:t>RAG-Based Academic</a:t>
            </a:r>
            <a:endParaRPr lang="en-US" sz="4600">
              <a:latin typeface="Cambria"/>
              <a:ea typeface="Cambria"/>
              <a:cs typeface="Calibri"/>
            </a:endParaRPr>
          </a:p>
          <a:p>
            <a:pPr marL="0" indent="0">
              <a:lnSpc>
                <a:spcPct val="105000"/>
              </a:lnSpc>
              <a:buNone/>
            </a:pPr>
            <a:r>
              <a:rPr lang="en-US" sz="4600" b="1" dirty="0">
                <a:latin typeface="Cambria"/>
                <a:ea typeface="Cambria"/>
                <a:cs typeface="Cambria" pitchFamily="34" charset="-120"/>
              </a:rPr>
              <a:t>Research Assistant</a:t>
            </a:r>
            <a:endParaRPr lang="en-US" sz="4600">
              <a:latin typeface="Cambria"/>
              <a:ea typeface="Cambria"/>
              <a:cs typeface="Calibri"/>
            </a:endParaRPr>
          </a:p>
        </p:txBody>
      </p:sp>
      <p:sp>
        <p:nvSpPr>
          <p:cNvPr id="7" name="Text 5"/>
          <p:cNvSpPr txBox="1"/>
          <p:nvPr/>
        </p:nvSpPr>
        <p:spPr>
          <a:xfrm>
            <a:off x="771378" y="2749988"/>
            <a:ext cx="8778240" cy="914400"/>
          </a:xfrm>
          <a:prstGeom prst="rect">
            <a:avLst/>
          </a:prstGeom>
          <a:noFill/>
          <a:ln/>
        </p:spPr>
        <p:txBody>
          <a:bodyPr wrap="square" lIns="0" tIns="0" rIns="0" bIns="0" rtlCol="0" anchor="ctr"/>
          <a:lstStyle/>
          <a:p>
            <a:pPr marL="0" indent="0">
              <a:buNone/>
            </a:pPr>
            <a:r>
              <a:rPr lang="en-US" sz="1500" i="1" dirty="0">
                <a:latin typeface="Calibri"/>
                <a:ea typeface="Calibri"/>
                <a:cs typeface="Calibri"/>
              </a:rPr>
              <a:t>A Comparative Study of Retrieval-Augmented Generation Configurations for Question Answering over Academic Research Papers</a:t>
            </a:r>
            <a:endParaRPr lang="en-US" sz="1500">
              <a:latin typeface="Calibri"/>
              <a:ea typeface="Calibri"/>
              <a:cs typeface="Calibri"/>
            </a:endParaRPr>
          </a:p>
        </p:txBody>
      </p:sp>
      <p:sp>
        <p:nvSpPr>
          <p:cNvPr id="8" name="Shape 6"/>
          <p:cNvSpPr/>
          <p:nvPr/>
        </p:nvSpPr>
        <p:spPr>
          <a:xfrm>
            <a:off x="822960" y="3789151"/>
            <a:ext cx="2011680" cy="0"/>
          </a:xfrm>
          <a:prstGeom prst="line">
            <a:avLst/>
          </a:prstGeom>
          <a:noFill/>
          <a:ln w="25400">
            <a:solidFill>
              <a:schemeClr val="tx1"/>
            </a:solidFill>
            <a:prstDash val="solid"/>
          </a:ln>
        </p:spPr>
      </p:sp>
      <p:sp>
        <p:nvSpPr>
          <p:cNvPr id="10" name="Team Heading"/>
          <p:cNvSpPr txBox="1"/>
          <p:nvPr/>
        </p:nvSpPr>
        <p:spPr>
          <a:xfrm>
            <a:off x="822960" y="3977747"/>
            <a:ext cx="6000000" cy="228600"/>
          </a:xfrm>
          <a:prstGeom prst="rect">
            <a:avLst/>
          </a:prstGeom>
          <a:noFill/>
          <a:ln/>
        </p:spPr>
        <p:txBody>
          <a:bodyPr wrap="square" lIns="0" tIns="0" rIns="0" bIns="0" rtlCol="0" anchor="ctr"/>
          <a:lstStyle/>
          <a:p>
            <a:pPr marL="0" indent="0">
              <a:buNone/>
            </a:pPr>
            <a:r>
              <a:rPr lang="en-US" sz="1100" b="1" kern="0" spc="150" dirty="0">
                <a:latin typeface="Calibri"/>
                <a:ea typeface="Calibri"/>
                <a:cs typeface="Calibri"/>
              </a:rPr>
              <a:t>TEAM DETAILS · TEAM 31</a:t>
            </a:r>
            <a:endParaRPr lang="en-US" sz="1100">
              <a:latin typeface="Calibri"/>
              <a:ea typeface="Calibri"/>
              <a:cs typeface="Calibri"/>
            </a:endParaRPr>
          </a:p>
        </p:txBody>
      </p:sp>
      <p:graphicFrame>
        <p:nvGraphicFramePr>
          <p:cNvPr id="9" name="Team Table"/>
          <p:cNvGraphicFramePr>
            <a:graphicFrameLocks noGrp="1"/>
          </p:cNvGraphicFramePr>
          <p:nvPr>
            <p:extLst>
              <p:ext uri="{D42A27DB-BD31-4B8C-83A1-F6EECF244321}">
                <p14:modId xmlns:p14="http://schemas.microsoft.com/office/powerpoint/2010/main" val="3209994632"/>
              </p:ext>
            </p:extLst>
          </p:nvPr>
        </p:nvGraphicFramePr>
        <p:xfrm>
          <a:off x="772933" y="4377144"/>
          <a:ext cx="7983659" cy="1833605"/>
        </p:xfrm>
        <a:graphic>
          <a:graphicData uri="http://schemas.openxmlformats.org/drawingml/2006/table">
            <a:tbl>
              <a:tblPr firstRow="1"/>
              <a:tblGrid>
                <a:gridCol w="623181">
                  <a:extLst>
                    <a:ext uri="{9D8B030D-6E8A-4147-A177-3AD203B41FA5}">
                      <a16:colId xmlns:a16="http://schemas.microsoft.com/office/drawing/2014/main" val="20000"/>
                    </a:ext>
                  </a:extLst>
                </a:gridCol>
                <a:gridCol w="3805394">
                  <a:extLst>
                    <a:ext uri="{9D8B030D-6E8A-4147-A177-3AD203B41FA5}">
                      <a16:colId xmlns:a16="http://schemas.microsoft.com/office/drawing/2014/main" val="20001"/>
                    </a:ext>
                  </a:extLst>
                </a:gridCol>
                <a:gridCol w="3555084">
                  <a:extLst>
                    <a:ext uri="{9D8B030D-6E8A-4147-A177-3AD203B41FA5}">
                      <a16:colId xmlns:a16="http://schemas.microsoft.com/office/drawing/2014/main" val="20002"/>
                    </a:ext>
                  </a:extLst>
                </a:gridCol>
              </a:tblGrid>
              <a:tr h="366721">
                <a:tc>
                  <a:txBody>
                    <a:bodyPr/>
                    <a:lstStyle/>
                    <a:p>
                      <a:pPr marL="0" indent="0" algn="ctr">
                        <a:buNone/>
                      </a:pPr>
                      <a:r>
                        <a:rPr lang="en-US" sz="900" b="1" dirty="0">
                          <a:solidFill>
                            <a:schemeClr val="bg1"/>
                          </a:solidFill>
                          <a:latin typeface="Calibri"/>
                          <a:ea typeface="Calibri"/>
                          <a:cs typeface="Calibri"/>
                        </a:rPr>
                        <a:t>Sl no.</a:t>
                      </a:r>
                      <a:endParaRPr lang="en-US" sz="900">
                        <a:solidFill>
                          <a:schemeClr val="bg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tx1"/>
                    </a:solidFill>
                  </a:tcPr>
                </a:tc>
                <a:tc>
                  <a:txBody>
                    <a:bodyPr/>
                    <a:lstStyle/>
                    <a:p>
                      <a:pPr marL="0" indent="0" algn="ctr">
                        <a:buNone/>
                      </a:pPr>
                      <a:r>
                        <a:rPr lang="en-US" sz="900" b="1" kern="1200" dirty="0">
                          <a:solidFill>
                            <a:schemeClr val="bg1"/>
                          </a:solidFill>
                          <a:latin typeface="Calibri"/>
                          <a:ea typeface="Calibri"/>
                          <a:cs typeface="Calibri"/>
                        </a:rPr>
                        <a:t>Name</a:t>
                      </a:r>
                    </a:p>
                  </a:txBody>
                  <a:tcPr marL="45720" marR="45720" marT="9144" marB="914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pPr marL="0" indent="0" algn="ctr">
                        <a:buNone/>
                      </a:pPr>
                      <a:r>
                        <a:rPr lang="en-US" sz="900" b="1" dirty="0">
                          <a:solidFill>
                            <a:schemeClr val="bg1"/>
                          </a:solidFill>
                          <a:latin typeface="Calibri"/>
                          <a:ea typeface="Calibri"/>
                          <a:cs typeface="Calibri"/>
                        </a:rPr>
                        <a:t>USN</a:t>
                      </a:r>
                      <a:endParaRPr lang="en-US" sz="900">
                        <a:solidFill>
                          <a:schemeClr val="bg1"/>
                        </a:solidFill>
                        <a:latin typeface="Calibri"/>
                        <a:ea typeface="Calibri"/>
                        <a:cs typeface="Calibri"/>
                      </a:endParaRPr>
                    </a:p>
                  </a:txBody>
                  <a:tcPr marL="45720" marR="45720" marT="9144" marB="9144" anchor="ctr">
                    <a:lnL w="12700" cap="flat" cmpd="sng" algn="ctr">
                      <a:solidFill>
                        <a:schemeClr val="tx1"/>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66721">
                <a:tc>
                  <a:txBody>
                    <a:bodyPr/>
                    <a:lstStyle/>
                    <a:p>
                      <a:pPr marL="0" indent="0" algn="ctr">
                        <a:buNone/>
                      </a:pPr>
                      <a:r>
                        <a:rPr lang="en-US" sz="900" dirty="0">
                          <a:solidFill>
                            <a:schemeClr val="tx1"/>
                          </a:solidFill>
                          <a:latin typeface="Calibri"/>
                          <a:ea typeface="Calibri"/>
                          <a:cs typeface="Calibri"/>
                        </a:rPr>
                        <a:t>1</a:t>
                      </a: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l">
                        <a:buNone/>
                      </a:pPr>
                      <a:r>
                        <a:rPr lang="en-US" sz="900" dirty="0">
                          <a:solidFill>
                            <a:schemeClr val="tx1"/>
                          </a:solidFill>
                          <a:latin typeface="Calibri"/>
                          <a:ea typeface="Calibri"/>
                          <a:cs typeface="Calibri"/>
                        </a:rPr>
                        <a:t>Prajwal P Chabbi</a:t>
                      </a: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ctr">
                        <a:buNone/>
                      </a:pPr>
                      <a:r>
                        <a:rPr lang="en-US" sz="900" dirty="0">
                          <a:solidFill>
                            <a:schemeClr val="tx1"/>
                          </a:solidFill>
                          <a:latin typeface="Calibri"/>
                          <a:ea typeface="Calibri"/>
                          <a:cs typeface="Calibri"/>
                        </a:rPr>
                        <a:t>01FE23BCS194</a:t>
                      </a: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6721">
                <a:tc>
                  <a:txBody>
                    <a:bodyPr/>
                    <a:lstStyle/>
                    <a:p>
                      <a:pPr marL="0" indent="0" algn="ctr">
                        <a:buNone/>
                      </a:pPr>
                      <a:r>
                        <a:rPr lang="en-US" sz="900" dirty="0">
                          <a:solidFill>
                            <a:schemeClr val="tx1"/>
                          </a:solidFill>
                          <a:latin typeface="Calibri"/>
                          <a:ea typeface="Calibri"/>
                          <a:cs typeface="Calibri"/>
                        </a:rPr>
                        <a:t>2</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l">
                        <a:buNone/>
                      </a:pPr>
                      <a:r>
                        <a:rPr lang="en-US" sz="900" dirty="0">
                          <a:solidFill>
                            <a:schemeClr val="tx1"/>
                          </a:solidFill>
                          <a:latin typeface="Calibri"/>
                          <a:ea typeface="Calibri"/>
                          <a:cs typeface="Calibri"/>
                        </a:rPr>
                        <a:t>Sujay Bk</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ctr">
                        <a:buNone/>
                      </a:pPr>
                      <a:r>
                        <a:rPr lang="en-US" sz="900" dirty="0">
                          <a:solidFill>
                            <a:schemeClr val="tx1"/>
                          </a:solidFill>
                          <a:latin typeface="Calibri"/>
                          <a:ea typeface="Calibri"/>
                          <a:cs typeface="Calibri"/>
                        </a:rPr>
                        <a:t>01FE23BCS056</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6721">
                <a:tc>
                  <a:txBody>
                    <a:bodyPr/>
                    <a:lstStyle/>
                    <a:p>
                      <a:pPr marL="0" indent="0" algn="ctr">
                        <a:buNone/>
                      </a:pPr>
                      <a:r>
                        <a:rPr lang="en-US" sz="900" dirty="0">
                          <a:solidFill>
                            <a:schemeClr val="tx1"/>
                          </a:solidFill>
                          <a:latin typeface="Calibri"/>
                          <a:ea typeface="Calibri"/>
                          <a:cs typeface="Calibri"/>
                        </a:rPr>
                        <a:t>3</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l">
                        <a:buNone/>
                      </a:pPr>
                      <a:r>
                        <a:rPr lang="en-US" sz="900" dirty="0">
                          <a:solidFill>
                            <a:schemeClr val="tx1"/>
                          </a:solidFill>
                          <a:latin typeface="Calibri"/>
                          <a:ea typeface="Calibri"/>
                          <a:cs typeface="Calibri"/>
                        </a:rPr>
                        <a:t>Mokshagna D</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ctr">
                        <a:buNone/>
                      </a:pPr>
                      <a:r>
                        <a:rPr lang="en-US" sz="900" dirty="0">
                          <a:solidFill>
                            <a:schemeClr val="tx1"/>
                          </a:solidFill>
                          <a:latin typeface="Calibri"/>
                          <a:ea typeface="Calibri"/>
                          <a:cs typeface="Calibri"/>
                        </a:rPr>
                        <a:t>01FE23BCS078</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6721">
                <a:tc>
                  <a:txBody>
                    <a:bodyPr/>
                    <a:lstStyle/>
                    <a:p>
                      <a:pPr marL="0" indent="0" algn="ctr">
                        <a:buNone/>
                      </a:pPr>
                      <a:r>
                        <a:rPr lang="en-US" sz="900" dirty="0">
                          <a:solidFill>
                            <a:schemeClr val="tx1"/>
                          </a:solidFill>
                          <a:latin typeface="Calibri"/>
                          <a:ea typeface="Calibri"/>
                          <a:cs typeface="Calibri"/>
                        </a:rPr>
                        <a:t>4</a:t>
                      </a: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l">
                        <a:buNone/>
                      </a:pPr>
                      <a:r>
                        <a:rPr lang="en-US" sz="900" dirty="0">
                          <a:solidFill>
                            <a:schemeClr val="tx1"/>
                          </a:solidFill>
                          <a:latin typeface="Calibri"/>
                          <a:ea typeface="Calibri"/>
                          <a:cs typeface="Calibri"/>
                        </a:rPr>
                        <a:t>Snehvardhan Moldi</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tc>
                  <a:txBody>
                    <a:bodyPr/>
                    <a:lstStyle/>
                    <a:p>
                      <a:pPr marL="0" indent="0" algn="ctr">
                        <a:buNone/>
                      </a:pPr>
                      <a:r>
                        <a:rPr lang="en-US" sz="900" dirty="0">
                          <a:solidFill>
                            <a:schemeClr val="tx1"/>
                          </a:solidFill>
                          <a:latin typeface="Calibri"/>
                          <a:ea typeface="Calibri"/>
                          <a:cs typeface="Calibri"/>
                        </a:rPr>
                        <a:t>01FE23BCS066</a:t>
                      </a:r>
                      <a:endParaRPr lang="en-US" sz="900">
                        <a:solidFill>
                          <a:schemeClr val="tx1"/>
                        </a:solidFill>
                        <a:latin typeface="Calibri"/>
                        <a:ea typeface="Calibri"/>
                        <a:cs typeface="Calibri"/>
                      </a:endParaRPr>
                    </a:p>
                  </a:txBody>
                  <a:tcPr marL="45720" marR="45720" marT="9144" marB="9144" anchor="ctr">
                    <a:lnL w="6350" cap="flat" cmpd="sng" algn="ctr">
                      <a:solidFill>
                        <a:srgbClr val="2A4A73"/>
                      </a:solidFill>
                      <a:prstDash val="solid"/>
                      <a:round/>
                      <a:headEnd type="none" w="med" len="med"/>
                      <a:tailEnd type="none" w="med" len="med"/>
                    </a:lnL>
                    <a:lnR w="6350" cap="flat" cmpd="sng" algn="ctr">
                      <a:solidFill>
                        <a:srgbClr val="2A4A73"/>
                      </a:solidFill>
                      <a:prstDash val="solid"/>
                      <a:round/>
                      <a:headEnd type="none" w="med" len="med"/>
                      <a:tailEnd type="none" w="med" len="med"/>
                    </a:lnR>
                    <a:lnT w="6350" cap="flat" cmpd="sng" algn="ctr">
                      <a:solidFill>
                        <a:srgbClr val="2A4A73"/>
                      </a:solidFill>
                      <a:prstDash val="solid"/>
                      <a:round/>
                      <a:headEnd type="none" w="med" len="med"/>
                      <a:tailEnd type="none" w="med" len="med"/>
                    </a:lnT>
                    <a:lnB w="6350" cap="flat" cmpd="sng" algn="ctr">
                      <a:solidFill>
                        <a:srgbClr val="2A4A7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pic>
        <p:nvPicPr>
          <p:cNvPr id="16" name="Picture 15">
            <a:extLst>
              <a:ext uri="{FF2B5EF4-FFF2-40B4-BE49-F238E27FC236}">
                <a16:creationId xmlns:a16="http://schemas.microsoft.com/office/drawing/2014/main" id="{6560F895-1553-C5E0-C29C-8F04056BFA67}"/>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MOTIVATION</a:t>
            </a:r>
            <a:endParaRPr lang="en-US" sz="1200" dirty="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Why this project matters</a:t>
            </a:r>
            <a:endParaRPr lang="en-US" sz="3200">
              <a:latin typeface="Cambria"/>
              <a:ea typeface="Cambria"/>
              <a:cs typeface="Calibri"/>
            </a:endParaRPr>
          </a:p>
        </p:txBody>
      </p:sp>
      <p:sp>
        <p:nvSpPr>
          <p:cNvPr id="4" name="Text 2"/>
          <p:cNvSpPr txBox="1"/>
          <p:nvPr/>
        </p:nvSpPr>
        <p:spPr>
          <a:xfrm>
            <a:off x="548640" y="1737360"/>
            <a:ext cx="6035040" cy="2011680"/>
          </a:xfrm>
          <a:prstGeom prst="rect">
            <a:avLst/>
          </a:prstGeom>
          <a:noFill/>
          <a:ln/>
        </p:spPr>
        <p:txBody>
          <a:bodyPr wrap="square" lIns="0" tIns="0" rIns="0" bIns="0" rtlCol="0" anchor="ctr"/>
          <a:lstStyle/>
          <a:p>
            <a:pPr marL="0" indent="0">
              <a:lnSpc>
                <a:spcPct val="125000"/>
              </a:lnSpc>
              <a:buNone/>
            </a:pPr>
            <a:r>
              <a:rPr lang="en-US" sz="1500" dirty="0">
                <a:latin typeface="Calibri"/>
                <a:ea typeface="Calibri"/>
                <a:cs typeface="Calibri"/>
              </a:rPr>
              <a:t>Researchers often need to read many papers to find specific information, compare methods, and understand prior work. Manually searching large paper collections is slow and makes it hard to pinpoint the most relevant material.</a:t>
            </a:r>
            <a:endParaRPr lang="en-US" sz="1500">
              <a:latin typeface="Calibri"/>
              <a:ea typeface="Calibri"/>
              <a:cs typeface="Calibri"/>
            </a:endParaRPr>
          </a:p>
        </p:txBody>
      </p:sp>
      <p:sp>
        <p:nvSpPr>
          <p:cNvPr id="5" name="Text 3"/>
          <p:cNvSpPr txBox="1"/>
          <p:nvPr/>
        </p:nvSpPr>
        <p:spPr>
          <a:xfrm>
            <a:off x="548640" y="3840480"/>
            <a:ext cx="6035040" cy="1463040"/>
          </a:xfrm>
          <a:prstGeom prst="rect">
            <a:avLst/>
          </a:prstGeom>
          <a:noFill/>
          <a:ln/>
        </p:spPr>
        <p:txBody>
          <a:bodyPr wrap="square" lIns="0" tIns="0" rIns="0" bIns="0" rtlCol="0" anchor="ctr"/>
          <a:lstStyle/>
          <a:p>
            <a:pPr marL="0" indent="0">
              <a:lnSpc>
                <a:spcPct val="125000"/>
              </a:lnSpc>
              <a:buNone/>
            </a:pPr>
            <a:r>
              <a:rPr lang="en-US" sz="1500" dirty="0">
                <a:latin typeface="Calibri"/>
                <a:ea typeface="Calibri"/>
                <a:cs typeface="Calibri"/>
              </a:rPr>
              <a:t>A RAG-based system retrieves relevant sections from papers and uses an LLM to generate grounded answers — but chunking, retrieval, reranking, and generation choices all affect answer quality.</a:t>
            </a:r>
            <a:endParaRPr lang="en-US" sz="1500">
              <a:latin typeface="Calibri"/>
              <a:ea typeface="Calibri"/>
              <a:cs typeface="Calibri"/>
            </a:endParaRPr>
          </a:p>
        </p:txBody>
      </p:sp>
      <p:sp>
        <p:nvSpPr>
          <p:cNvPr id="6" name="Shape 4"/>
          <p:cNvSpPr/>
          <p:nvPr/>
        </p:nvSpPr>
        <p:spPr>
          <a:xfrm>
            <a:off x="7040880" y="1737360"/>
            <a:ext cx="4480560" cy="3566160"/>
          </a:xfrm>
          <a:prstGeom prst="roundRect">
            <a:avLst>
              <a:gd name="adj" fmla="val 3077"/>
            </a:avLst>
          </a:prstGeom>
          <a:solidFill>
            <a:schemeClr val="tx1"/>
          </a:solidFill>
          <a:ln/>
        </p:spPr>
      </p:sp>
      <p:sp>
        <p:nvSpPr>
          <p:cNvPr id="7" name="Text 5"/>
          <p:cNvSpPr txBox="1"/>
          <p:nvPr/>
        </p:nvSpPr>
        <p:spPr>
          <a:xfrm>
            <a:off x="7406640" y="2011680"/>
            <a:ext cx="3657600" cy="32004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GOAL</a:t>
            </a:r>
            <a:endParaRPr lang="en-US" sz="1200" dirty="0"/>
          </a:p>
        </p:txBody>
      </p:sp>
      <p:sp>
        <p:nvSpPr>
          <p:cNvPr id="8" name="Text 6"/>
          <p:cNvSpPr txBox="1"/>
          <p:nvPr/>
        </p:nvSpPr>
        <p:spPr>
          <a:xfrm>
            <a:off x="7406640" y="2423160"/>
            <a:ext cx="3749040" cy="2651760"/>
          </a:xfrm>
          <a:prstGeom prst="rect">
            <a:avLst/>
          </a:prstGeom>
          <a:noFill/>
          <a:ln/>
        </p:spPr>
        <p:txBody>
          <a:bodyPr wrap="square" lIns="0" tIns="0" rIns="0" bIns="0" rtlCol="0" anchor="ctr"/>
          <a:lstStyle/>
          <a:p>
            <a:pPr marL="0" indent="0">
              <a:lnSpc>
                <a:spcPct val="130000"/>
              </a:lnSpc>
              <a:buNone/>
            </a:pPr>
            <a:r>
              <a:rPr lang="en-US" sz="1800" dirty="0">
                <a:solidFill>
                  <a:srgbClr val="FFFFFF"/>
                </a:solidFill>
                <a:latin typeface="Cambria" pitchFamily="34" charset="0"/>
                <a:ea typeface="Cambria" pitchFamily="34" charset="-122"/>
                <a:cs typeface="Cambria" pitchFamily="34" charset="-120"/>
              </a:rPr>
              <a:t>Reduce the time and effort needed to search and understand information across large collections of research papers using a RAG-based QA system.</a:t>
            </a:r>
            <a:endParaRPr lang="en-US" sz="1800" dirty="0"/>
          </a:p>
        </p:txBody>
      </p:sp>
      <p:sp>
        <p:nvSpPr>
          <p:cNvPr id="9" name="Text 7"/>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02</a:t>
            </a:r>
            <a:endParaRPr lang="en-US" sz="1000" dirty="0"/>
          </a:p>
        </p:txBody>
      </p:sp>
      <p:pic>
        <p:nvPicPr>
          <p:cNvPr id="15" name="Picture 14" descr="A red and black text on a black background&#10;&#10;AI-generated content may be incorrect.">
            <a:extLst>
              <a:ext uri="{FF2B5EF4-FFF2-40B4-BE49-F238E27FC236}">
                <a16:creationId xmlns:a16="http://schemas.microsoft.com/office/drawing/2014/main" id="{8152E1AD-D606-42D6-B9F8-49ECED38A3C3}"/>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LITERATURE SURVEY  ·  1 OF 2</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Foundational RAG research</a:t>
            </a:r>
            <a:endParaRPr lang="en-US" sz="3200">
              <a:latin typeface="Cambria"/>
              <a:ea typeface="Cambria"/>
              <a:cs typeface="Calibri"/>
            </a:endParaRPr>
          </a:p>
        </p:txBody>
      </p:sp>
      <p:sp>
        <p:nvSpPr>
          <p:cNvPr id="4" name="Shape 2"/>
          <p:cNvSpPr/>
          <p:nvPr/>
        </p:nvSpPr>
        <p:spPr>
          <a:xfrm>
            <a:off x="548640" y="1965960"/>
            <a:ext cx="3429000" cy="3200400"/>
          </a:xfrm>
          <a:prstGeom prst="roundRect">
            <a:avLst>
              <a:gd name="adj" fmla="val 2286"/>
            </a:avLst>
          </a:prstGeom>
          <a:solidFill>
            <a:srgbClr val="FFFFFF"/>
          </a:solidFill>
          <a:ln w="12700">
            <a:solidFill>
              <a:srgbClr val="DCE3E8"/>
            </a:solidFill>
            <a:prstDash val="solid"/>
          </a:ln>
        </p:spPr>
      </p:sp>
      <p:sp>
        <p:nvSpPr>
          <p:cNvPr id="5" name="Shape 3"/>
          <p:cNvSpPr/>
          <p:nvPr/>
        </p:nvSpPr>
        <p:spPr>
          <a:xfrm>
            <a:off x="777240" y="2194560"/>
            <a:ext cx="457200" cy="457200"/>
          </a:xfrm>
          <a:prstGeom prst="ellipse">
            <a:avLst/>
          </a:prstGeom>
          <a:solidFill>
            <a:srgbClr val="1C7293"/>
          </a:solidFill>
          <a:ln/>
        </p:spPr>
      </p:sp>
      <p:sp>
        <p:nvSpPr>
          <p:cNvPr id="6" name="Text 4"/>
          <p:cNvSpPr txBox="1"/>
          <p:nvPr/>
        </p:nvSpPr>
        <p:spPr>
          <a:xfrm>
            <a:off x="777240" y="21945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417320" y="2167128"/>
            <a:ext cx="2331720" cy="502920"/>
          </a:xfrm>
          <a:prstGeom prst="rect">
            <a:avLst/>
          </a:prstGeom>
          <a:noFill/>
          <a:ln/>
        </p:spPr>
        <p:txBody>
          <a:bodyPr wrap="square" lIns="0" tIns="0" rIns="0" bIns="0" rtlCol="0" anchor="ctr"/>
          <a:lstStyle/>
          <a:p>
            <a:pPr marL="0" indent="0">
              <a:lnSpc>
                <a:spcPct val="105000"/>
              </a:lnSpc>
              <a:buNone/>
            </a:pPr>
            <a:r>
              <a:rPr lang="en-US" sz="1300" b="1" dirty="0">
                <a:latin typeface="Cambria"/>
                <a:ea typeface="Cambria"/>
                <a:cs typeface="Cambria" pitchFamily="34" charset="-120"/>
              </a:rPr>
              <a:t>Lewis et al. (2020)</a:t>
            </a:r>
            <a:endParaRPr lang="en-US" sz="1300">
              <a:latin typeface="Cambria"/>
              <a:ea typeface="Cambria"/>
              <a:cs typeface="Calibri"/>
            </a:endParaRPr>
          </a:p>
          <a:p>
            <a:pPr marL="0" indent="0">
              <a:lnSpc>
                <a:spcPct val="105000"/>
              </a:lnSpc>
              <a:buNone/>
            </a:pPr>
            <a:r>
              <a:rPr lang="en-US" sz="1300" b="1" dirty="0">
                <a:latin typeface="Cambria"/>
                <a:ea typeface="Cambria"/>
                <a:cs typeface="Cambria" pitchFamily="34" charset="-120"/>
              </a:rPr>
              <a:t>Retrieval-Augmented Generation for Knowledge-Intensive NLP Tasks</a:t>
            </a:r>
            <a:endParaRPr lang="en-US" sz="1300">
              <a:latin typeface="Cambria"/>
              <a:ea typeface="Cambria"/>
              <a:cs typeface="Calibri"/>
            </a:endParaRPr>
          </a:p>
        </p:txBody>
      </p:sp>
      <p:sp>
        <p:nvSpPr>
          <p:cNvPr id="8" name="Text 6"/>
          <p:cNvSpPr txBox="1"/>
          <p:nvPr/>
        </p:nvSpPr>
        <p:spPr>
          <a:xfrm>
            <a:off x="822960" y="2834640"/>
            <a:ext cx="2880360" cy="2148840"/>
          </a:xfrm>
          <a:prstGeom prst="rect">
            <a:avLst/>
          </a:prstGeom>
          <a:noFill/>
          <a:ln/>
        </p:spPr>
        <p:txBody>
          <a:bodyPr wrap="square" lIns="0" tIns="0" rIns="0" bIns="0" rtlCol="0" anchor="t"/>
          <a:lstStyle/>
          <a:p>
            <a:pPr marL="0" indent="0">
              <a:lnSpc>
                <a:spcPct val="120000"/>
              </a:lnSpc>
              <a:buNone/>
            </a:pPr>
            <a:r>
              <a:rPr lang="en-US" sz="1100" b="1" dirty="0">
                <a:latin typeface="Calibri"/>
                <a:ea typeface="Calibri"/>
                <a:cs typeface="Calibri"/>
              </a:rPr>
              <a:t>What: </a:t>
            </a:r>
            <a:r>
              <a:rPr lang="en-US" sz="1100" dirty="0">
                <a:latin typeface="Calibri"/>
                <a:ea typeface="Calibri"/>
                <a:cs typeface="Calibri"/>
              </a:rPr>
              <a:t>Introduced the RAG approach.
</a:t>
            </a:r>
            <a:r>
              <a:rPr lang="en-US" sz="1100" b="1" dirty="0">
                <a:latin typeface="Calibri"/>
                <a:ea typeface="Calibri"/>
                <a:cs typeface="Calibri"/>
              </a:rPr>
              <a:t>How: </a:t>
            </a:r>
            <a:r>
              <a:rPr lang="en-US" sz="1100" dirty="0">
                <a:latin typeface="Calibri"/>
                <a:ea typeface="Calibri"/>
                <a:cs typeface="Calibri"/>
              </a:rPr>
              <a:t>Retrieves relevant info from an external knowledge source and uses an LLM to generate an answer.
</a:t>
            </a:r>
            <a:r>
              <a:rPr lang="en-US" sz="1100" b="1" dirty="0">
                <a:latin typeface="Calibri"/>
                <a:ea typeface="Calibri"/>
                <a:cs typeface="Calibri"/>
              </a:rPr>
              <a:t>Limitation: </a:t>
            </a:r>
            <a:r>
              <a:rPr lang="en-US" sz="1100" dirty="0">
                <a:latin typeface="Calibri"/>
                <a:ea typeface="Calibri"/>
                <a:cs typeface="Calibri"/>
              </a:rPr>
              <a:t>Focuses on general knowledge tasks — not academic paper QA or PDF processing strategies.</a:t>
            </a:r>
            <a:endParaRPr lang="en-US" sz="1100">
              <a:latin typeface="Calibri"/>
              <a:ea typeface="Calibri"/>
              <a:cs typeface="Calibri"/>
            </a:endParaRPr>
          </a:p>
        </p:txBody>
      </p:sp>
      <p:sp>
        <p:nvSpPr>
          <p:cNvPr id="9" name="Shape 7"/>
          <p:cNvSpPr/>
          <p:nvPr/>
        </p:nvSpPr>
        <p:spPr>
          <a:xfrm>
            <a:off x="4297680" y="1965960"/>
            <a:ext cx="3429000" cy="3200400"/>
          </a:xfrm>
          <a:prstGeom prst="roundRect">
            <a:avLst>
              <a:gd name="adj" fmla="val 2286"/>
            </a:avLst>
          </a:prstGeom>
          <a:solidFill>
            <a:srgbClr val="FFFFFF"/>
          </a:solidFill>
          <a:ln w="12700">
            <a:solidFill>
              <a:srgbClr val="DCE3E8"/>
            </a:solidFill>
            <a:prstDash val="solid"/>
          </a:ln>
        </p:spPr>
      </p:sp>
      <p:sp>
        <p:nvSpPr>
          <p:cNvPr id="10" name="Shape 8"/>
          <p:cNvSpPr/>
          <p:nvPr/>
        </p:nvSpPr>
        <p:spPr>
          <a:xfrm>
            <a:off x="4526280" y="2194560"/>
            <a:ext cx="457200" cy="457200"/>
          </a:xfrm>
          <a:prstGeom prst="ellipse">
            <a:avLst/>
          </a:prstGeom>
          <a:solidFill>
            <a:srgbClr val="1C7293"/>
          </a:solidFill>
          <a:ln/>
        </p:spPr>
      </p:sp>
      <p:sp>
        <p:nvSpPr>
          <p:cNvPr id="11" name="Text 9"/>
          <p:cNvSpPr txBox="1"/>
          <p:nvPr/>
        </p:nvSpPr>
        <p:spPr>
          <a:xfrm>
            <a:off x="4526280" y="21945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166360" y="2167128"/>
            <a:ext cx="2331720" cy="502920"/>
          </a:xfrm>
          <a:prstGeom prst="rect">
            <a:avLst/>
          </a:prstGeom>
          <a:noFill/>
          <a:ln/>
        </p:spPr>
        <p:txBody>
          <a:bodyPr wrap="square" lIns="0" tIns="0" rIns="0" bIns="0" rtlCol="0" anchor="ctr"/>
          <a:lstStyle/>
          <a:p>
            <a:pPr marL="0" indent="0">
              <a:lnSpc>
                <a:spcPct val="105000"/>
              </a:lnSpc>
              <a:buNone/>
            </a:pPr>
            <a:r>
              <a:rPr lang="en-US" sz="1300" b="1" dirty="0">
                <a:latin typeface="Cambria"/>
                <a:ea typeface="Cambria"/>
                <a:cs typeface="Cambria" pitchFamily="34" charset="-120"/>
              </a:rPr>
              <a:t>Lála et al. (2023)</a:t>
            </a:r>
            <a:endParaRPr lang="en-US" sz="1300">
              <a:latin typeface="Cambria"/>
              <a:ea typeface="Cambria"/>
              <a:cs typeface="Calibri"/>
            </a:endParaRPr>
          </a:p>
          <a:p>
            <a:pPr marL="0" indent="0">
              <a:lnSpc>
                <a:spcPct val="105000"/>
              </a:lnSpc>
              <a:buNone/>
            </a:pPr>
            <a:r>
              <a:rPr lang="en-US" sz="1300" b="1" dirty="0">
                <a:latin typeface="Cambria"/>
                <a:ea typeface="Cambria"/>
                <a:cs typeface="Cambria" pitchFamily="34" charset="-120"/>
              </a:rPr>
              <a:t>PaperQA: Retrieval-Augmented Generative Agent for Scientific Research</a:t>
            </a:r>
            <a:endParaRPr lang="en-US" sz="1300">
              <a:latin typeface="Cambria"/>
              <a:ea typeface="Cambria"/>
              <a:cs typeface="Calibri"/>
            </a:endParaRPr>
          </a:p>
        </p:txBody>
      </p:sp>
      <p:sp>
        <p:nvSpPr>
          <p:cNvPr id="13" name="Text 11"/>
          <p:cNvSpPr txBox="1"/>
          <p:nvPr/>
        </p:nvSpPr>
        <p:spPr>
          <a:xfrm>
            <a:off x="4572000" y="2834640"/>
            <a:ext cx="2880360" cy="2148840"/>
          </a:xfrm>
          <a:prstGeom prst="rect">
            <a:avLst/>
          </a:prstGeom>
          <a:noFill/>
          <a:ln/>
        </p:spPr>
        <p:txBody>
          <a:bodyPr wrap="square" lIns="0" tIns="0" rIns="0" bIns="0" rtlCol="0" anchor="t"/>
          <a:lstStyle/>
          <a:p>
            <a:pPr marL="0" indent="0">
              <a:lnSpc>
                <a:spcPct val="120000"/>
              </a:lnSpc>
              <a:buNone/>
            </a:pPr>
            <a:r>
              <a:rPr lang="en-US" sz="1100" b="1" dirty="0">
                <a:latin typeface="Calibri"/>
                <a:ea typeface="Calibri"/>
                <a:cs typeface="Calibri"/>
              </a:rPr>
              <a:t>What: </a:t>
            </a:r>
            <a:r>
              <a:rPr lang="en-US" sz="1100" dirty="0">
                <a:latin typeface="Calibri"/>
                <a:ea typeface="Calibri"/>
                <a:cs typeface="Calibri"/>
              </a:rPr>
              <a:t>A system for answering questions using scientific literature.
</a:t>
            </a:r>
            <a:r>
              <a:rPr lang="en-US" sz="1100" b="1" dirty="0">
                <a:latin typeface="Calibri"/>
                <a:ea typeface="Calibri"/>
                <a:cs typeface="Calibri"/>
              </a:rPr>
              <a:t>How: </a:t>
            </a:r>
            <a:r>
              <a:rPr lang="en-US" sz="1100" dirty="0">
                <a:latin typeface="Calibri"/>
                <a:ea typeface="Calibri"/>
                <a:cs typeface="Calibri"/>
              </a:rPr>
              <a:t>Retrieves relevant info from scientific papers and generates evidence-supported answers.
</a:t>
            </a:r>
            <a:r>
              <a:rPr lang="en-US" sz="1100" b="1" dirty="0">
                <a:latin typeface="Calibri"/>
                <a:ea typeface="Calibri"/>
                <a:cs typeface="Calibri"/>
              </a:rPr>
              <a:t>Limitation: </a:t>
            </a:r>
            <a:r>
              <a:rPr lang="en-US" sz="1100" dirty="0">
                <a:latin typeface="Calibri"/>
                <a:ea typeface="Calibri"/>
                <a:cs typeface="Calibri"/>
              </a:rPr>
              <a:t>Focuses on building the assistant, not on systematically comparing chunking/retrieval/reranking/generation combinations.</a:t>
            </a:r>
            <a:endParaRPr lang="en-US" sz="1100">
              <a:latin typeface="Calibri"/>
              <a:ea typeface="Calibri"/>
              <a:cs typeface="Calibri"/>
            </a:endParaRPr>
          </a:p>
        </p:txBody>
      </p:sp>
      <p:sp>
        <p:nvSpPr>
          <p:cNvPr id="14" name="Shape 12"/>
          <p:cNvSpPr/>
          <p:nvPr/>
        </p:nvSpPr>
        <p:spPr>
          <a:xfrm>
            <a:off x="8046720" y="1965960"/>
            <a:ext cx="3429000" cy="3200400"/>
          </a:xfrm>
          <a:prstGeom prst="roundRect">
            <a:avLst>
              <a:gd name="adj" fmla="val 2286"/>
            </a:avLst>
          </a:prstGeom>
          <a:solidFill>
            <a:srgbClr val="FFFFFF"/>
          </a:solidFill>
          <a:ln w="12700">
            <a:solidFill>
              <a:srgbClr val="DCE3E8"/>
            </a:solidFill>
            <a:prstDash val="solid"/>
          </a:ln>
        </p:spPr>
      </p:sp>
      <p:sp>
        <p:nvSpPr>
          <p:cNvPr id="15" name="Shape 13"/>
          <p:cNvSpPr/>
          <p:nvPr/>
        </p:nvSpPr>
        <p:spPr>
          <a:xfrm>
            <a:off x="8275320" y="2194560"/>
            <a:ext cx="457200" cy="457200"/>
          </a:xfrm>
          <a:prstGeom prst="ellipse">
            <a:avLst/>
          </a:prstGeom>
          <a:solidFill>
            <a:srgbClr val="1C7293"/>
          </a:solidFill>
          <a:ln/>
        </p:spPr>
      </p:sp>
      <p:sp>
        <p:nvSpPr>
          <p:cNvPr id="16" name="Text 14"/>
          <p:cNvSpPr txBox="1"/>
          <p:nvPr/>
        </p:nvSpPr>
        <p:spPr>
          <a:xfrm>
            <a:off x="8275320" y="21945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chemeClr val="bg1"/>
                </a:solidFill>
                <a:latin typeface="Calibri"/>
                <a:ea typeface="Calibri"/>
                <a:cs typeface="Calibri"/>
              </a:rPr>
              <a:t>3</a:t>
            </a:r>
            <a:endParaRPr lang="en-US" sz="1800">
              <a:solidFill>
                <a:schemeClr val="bg1"/>
              </a:solidFill>
              <a:latin typeface="Calibri"/>
              <a:ea typeface="Calibri"/>
              <a:cs typeface="Calibri"/>
            </a:endParaRPr>
          </a:p>
        </p:txBody>
      </p:sp>
      <p:sp>
        <p:nvSpPr>
          <p:cNvPr id="17" name="Text 15"/>
          <p:cNvSpPr txBox="1"/>
          <p:nvPr/>
        </p:nvSpPr>
        <p:spPr>
          <a:xfrm>
            <a:off x="8915400" y="2167128"/>
            <a:ext cx="2331720" cy="502920"/>
          </a:xfrm>
          <a:prstGeom prst="rect">
            <a:avLst/>
          </a:prstGeom>
          <a:noFill/>
          <a:ln/>
        </p:spPr>
        <p:txBody>
          <a:bodyPr wrap="square" lIns="0" tIns="0" rIns="0" bIns="0" rtlCol="0" anchor="ctr"/>
          <a:lstStyle/>
          <a:p>
            <a:pPr marL="0" indent="0">
              <a:lnSpc>
                <a:spcPct val="105000"/>
              </a:lnSpc>
              <a:buNone/>
            </a:pPr>
            <a:r>
              <a:rPr lang="en-US" sz="1300" b="1" dirty="0">
                <a:latin typeface="Cambria"/>
                <a:ea typeface="Cambria"/>
                <a:cs typeface="Cambria" pitchFamily="34" charset="-120"/>
              </a:rPr>
              <a:t>Asai et al. (2024)</a:t>
            </a:r>
            <a:endParaRPr lang="en-US" sz="1300">
              <a:latin typeface="Cambria"/>
              <a:ea typeface="Cambria"/>
              <a:cs typeface="Calibri"/>
            </a:endParaRPr>
          </a:p>
          <a:p>
            <a:pPr marL="0" indent="0">
              <a:lnSpc>
                <a:spcPct val="105000"/>
              </a:lnSpc>
              <a:buNone/>
            </a:pPr>
            <a:r>
              <a:rPr lang="en-US" sz="1300" b="1" dirty="0">
                <a:latin typeface="Cambria"/>
                <a:ea typeface="Cambria"/>
                <a:cs typeface="Cambria" pitchFamily="34" charset="-120"/>
              </a:rPr>
              <a:t>Self-RAG: Learning to Retrieve, Generate, and Critique through Self-Reflection</a:t>
            </a:r>
            <a:endParaRPr lang="en-US" sz="1300">
              <a:latin typeface="Cambria"/>
              <a:ea typeface="Cambria"/>
              <a:cs typeface="Calibri"/>
            </a:endParaRPr>
          </a:p>
        </p:txBody>
      </p:sp>
      <p:sp>
        <p:nvSpPr>
          <p:cNvPr id="18" name="Text 16"/>
          <p:cNvSpPr txBox="1"/>
          <p:nvPr/>
        </p:nvSpPr>
        <p:spPr>
          <a:xfrm>
            <a:off x="8321040" y="2834640"/>
            <a:ext cx="2880360" cy="2148840"/>
          </a:xfrm>
          <a:prstGeom prst="rect">
            <a:avLst/>
          </a:prstGeom>
          <a:noFill/>
          <a:ln/>
        </p:spPr>
        <p:txBody>
          <a:bodyPr wrap="square" lIns="0" tIns="0" rIns="0" bIns="0" rtlCol="0" anchor="t"/>
          <a:lstStyle/>
          <a:p>
            <a:pPr marL="0" indent="0">
              <a:lnSpc>
                <a:spcPct val="120000"/>
              </a:lnSpc>
              <a:buNone/>
            </a:pPr>
            <a:r>
              <a:rPr lang="en-US" sz="1100" b="1" dirty="0">
                <a:latin typeface="Calibri"/>
                <a:ea typeface="Calibri"/>
                <a:cs typeface="Calibri"/>
              </a:rPr>
              <a:t>What: </a:t>
            </a:r>
            <a:r>
              <a:rPr lang="en-US" sz="1100" dirty="0">
                <a:latin typeface="Calibri"/>
                <a:ea typeface="Calibri"/>
                <a:cs typeface="Calibri"/>
              </a:rPr>
              <a:t>Improves RAG via self-reflection.
</a:t>
            </a:r>
            <a:r>
              <a:rPr lang="en-US" sz="1100" b="1" dirty="0">
                <a:latin typeface="Calibri"/>
                <a:ea typeface="Calibri"/>
                <a:cs typeface="Calibri"/>
              </a:rPr>
              <a:t>How: </a:t>
            </a:r>
            <a:r>
              <a:rPr lang="en-US" sz="1100" dirty="0">
                <a:latin typeface="Calibri"/>
                <a:ea typeface="Calibri"/>
                <a:cs typeface="Calibri"/>
              </a:rPr>
              <a:t>Decides when retrieval is needed and evaluates its own generated output.
</a:t>
            </a:r>
            <a:r>
              <a:rPr lang="en-US" sz="1100" b="1" dirty="0">
                <a:latin typeface="Calibri"/>
                <a:ea typeface="Calibri"/>
                <a:cs typeface="Calibri"/>
              </a:rPr>
              <a:t>Limitation: </a:t>
            </a:r>
            <a:r>
              <a:rPr lang="en-US" sz="1100" dirty="0">
                <a:latin typeface="Calibri"/>
                <a:ea typeface="Calibri"/>
                <a:cs typeface="Calibri"/>
              </a:rPr>
              <a:t>Focuses on adaptive retrieval and self-reflection, not on comparing RAG configurations for academic papers.</a:t>
            </a:r>
            <a:endParaRPr lang="en-US" sz="1100">
              <a:latin typeface="Calibri"/>
              <a:ea typeface="Calibri"/>
              <a:cs typeface="Calibri"/>
            </a:endParaRPr>
          </a:p>
        </p:txBody>
      </p:sp>
      <p:sp>
        <p:nvSpPr>
          <p:cNvPr id="19" name="Text 17"/>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03</a:t>
            </a:r>
            <a:endParaRPr lang="en-US" sz="1000" dirty="0"/>
          </a:p>
        </p:txBody>
      </p:sp>
      <p:pic>
        <p:nvPicPr>
          <p:cNvPr id="21" name="Picture 20" descr="A red and black text on a black background&#10;&#10;AI-generated content may be incorrect.">
            <a:extLst>
              <a:ext uri="{FF2B5EF4-FFF2-40B4-BE49-F238E27FC236}">
                <a16:creationId xmlns:a16="http://schemas.microsoft.com/office/drawing/2014/main" id="{DE2B9759-BF56-C44F-EDBD-5DD1548A960D}"/>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LITERATURE SURVEY  ·  2 OF 2</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Benchmarking &amp; chunking research</a:t>
            </a:r>
            <a:endParaRPr lang="en-US" sz="3200">
              <a:latin typeface="Cambria"/>
              <a:ea typeface="Cambria"/>
              <a:cs typeface="Calibri"/>
            </a:endParaRPr>
          </a:p>
        </p:txBody>
      </p:sp>
      <p:sp>
        <p:nvSpPr>
          <p:cNvPr id="4" name="Shape 2"/>
          <p:cNvSpPr/>
          <p:nvPr/>
        </p:nvSpPr>
        <p:spPr>
          <a:xfrm>
            <a:off x="548640" y="1965960"/>
            <a:ext cx="3429000" cy="3200400"/>
          </a:xfrm>
          <a:prstGeom prst="roundRect">
            <a:avLst>
              <a:gd name="adj" fmla="val 2286"/>
            </a:avLst>
          </a:prstGeom>
          <a:solidFill>
            <a:srgbClr val="FFFFFF"/>
          </a:solidFill>
          <a:ln w="12700">
            <a:solidFill>
              <a:srgbClr val="DCE3E8"/>
            </a:solidFill>
            <a:prstDash val="solid"/>
          </a:ln>
        </p:spPr>
      </p:sp>
      <p:sp>
        <p:nvSpPr>
          <p:cNvPr id="5" name="Shape 3"/>
          <p:cNvSpPr/>
          <p:nvPr/>
        </p:nvSpPr>
        <p:spPr>
          <a:xfrm>
            <a:off x="777240" y="2194560"/>
            <a:ext cx="457200" cy="457200"/>
          </a:xfrm>
          <a:prstGeom prst="ellipse">
            <a:avLst/>
          </a:prstGeom>
          <a:solidFill>
            <a:srgbClr val="1C7293"/>
          </a:solidFill>
          <a:ln/>
        </p:spPr>
      </p:sp>
      <p:sp>
        <p:nvSpPr>
          <p:cNvPr id="6" name="Text 4"/>
          <p:cNvSpPr txBox="1"/>
          <p:nvPr/>
        </p:nvSpPr>
        <p:spPr>
          <a:xfrm>
            <a:off x="777240" y="21945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7" name="Text 5"/>
          <p:cNvSpPr txBox="1"/>
          <p:nvPr/>
        </p:nvSpPr>
        <p:spPr>
          <a:xfrm>
            <a:off x="1417320" y="2167128"/>
            <a:ext cx="2331720" cy="502920"/>
          </a:xfrm>
          <a:prstGeom prst="rect">
            <a:avLst/>
          </a:prstGeom>
          <a:noFill/>
          <a:ln/>
        </p:spPr>
        <p:txBody>
          <a:bodyPr wrap="square" lIns="0" tIns="0" rIns="0" bIns="0" rtlCol="0" anchor="ctr"/>
          <a:lstStyle/>
          <a:p>
            <a:pPr marL="0" indent="0">
              <a:lnSpc>
                <a:spcPct val="105000"/>
              </a:lnSpc>
              <a:buNone/>
            </a:pPr>
            <a:r>
              <a:rPr lang="en-US" sz="1300" b="1" dirty="0">
                <a:latin typeface="Cambria"/>
                <a:ea typeface="Cambria"/>
                <a:cs typeface="Cambria" pitchFamily="34" charset="-120"/>
              </a:rPr>
              <a:t>Rau et al. (2024)</a:t>
            </a:r>
            <a:endParaRPr lang="en-US" sz="1300">
              <a:latin typeface="Cambria"/>
              <a:ea typeface="Cambria"/>
              <a:cs typeface="Calibri"/>
            </a:endParaRPr>
          </a:p>
          <a:p>
            <a:pPr marL="0" indent="0">
              <a:lnSpc>
                <a:spcPct val="105000"/>
              </a:lnSpc>
              <a:buNone/>
            </a:pPr>
            <a:r>
              <a:rPr lang="en-US" sz="1300" b="1" dirty="0">
                <a:latin typeface="Cambria"/>
                <a:ea typeface="Cambria"/>
                <a:cs typeface="Cambria" pitchFamily="34" charset="-120"/>
              </a:rPr>
              <a:t>BERGEN: A Benchmarking Library for Retrieval-Augmented Generation</a:t>
            </a:r>
            <a:endParaRPr lang="en-US" sz="1300">
              <a:latin typeface="Cambria"/>
              <a:ea typeface="Cambria"/>
              <a:cs typeface="Calibri"/>
            </a:endParaRPr>
          </a:p>
        </p:txBody>
      </p:sp>
      <p:sp>
        <p:nvSpPr>
          <p:cNvPr id="8" name="Text 6"/>
          <p:cNvSpPr txBox="1"/>
          <p:nvPr/>
        </p:nvSpPr>
        <p:spPr>
          <a:xfrm>
            <a:off x="822960" y="2919307"/>
            <a:ext cx="2880360" cy="2148840"/>
          </a:xfrm>
          <a:prstGeom prst="rect">
            <a:avLst/>
          </a:prstGeom>
          <a:noFill/>
          <a:ln/>
        </p:spPr>
        <p:txBody>
          <a:bodyPr wrap="square" lIns="0" tIns="0" rIns="0" bIns="0" rtlCol="0" anchor="t"/>
          <a:lstStyle/>
          <a:p>
            <a:pPr marL="0" indent="0">
              <a:lnSpc>
                <a:spcPct val="120000"/>
              </a:lnSpc>
              <a:buNone/>
            </a:pPr>
            <a:r>
              <a:rPr lang="en-US" sz="1100" b="1" dirty="0">
                <a:latin typeface="Calibri"/>
                <a:ea typeface="Calibri"/>
                <a:cs typeface="Calibri"/>
              </a:rPr>
              <a:t>What: </a:t>
            </a:r>
            <a:r>
              <a:rPr lang="en-US" sz="1100" dirty="0">
                <a:latin typeface="Calibri"/>
                <a:ea typeface="Calibri"/>
                <a:cs typeface="Calibri"/>
              </a:rPr>
              <a:t>A framework for comparing RAG systems.
</a:t>
            </a:r>
            <a:r>
              <a:rPr lang="en-US" sz="1100" b="1" dirty="0">
                <a:latin typeface="Calibri"/>
                <a:ea typeface="Calibri"/>
                <a:cs typeface="Calibri"/>
              </a:rPr>
              <a:t>How: </a:t>
            </a:r>
            <a:r>
              <a:rPr lang="en-US" sz="1100" dirty="0">
                <a:latin typeface="Calibri"/>
                <a:ea typeface="Calibri"/>
                <a:cs typeface="Calibri"/>
              </a:rPr>
              <a:t>Evaluates different retrievers, rerankers, generators, datasets, and configurations.
</a:t>
            </a:r>
            <a:r>
              <a:rPr lang="en-US" sz="1100" b="1" dirty="0">
                <a:latin typeface="Calibri"/>
                <a:ea typeface="Calibri"/>
                <a:cs typeface="Calibri"/>
              </a:rPr>
              <a:t>Limitation: </a:t>
            </a:r>
            <a:r>
              <a:rPr lang="en-US" sz="1100" dirty="0">
                <a:latin typeface="Calibri"/>
                <a:ea typeface="Calibri"/>
                <a:cs typeface="Calibri"/>
              </a:rPr>
              <a:t>Focuses on general QA benchmarks rather than a dedicated academic research-paper dataset.</a:t>
            </a:r>
            <a:endParaRPr lang="en-US" sz="1100">
              <a:latin typeface="Calibri"/>
              <a:ea typeface="Calibri"/>
              <a:cs typeface="Calibri"/>
            </a:endParaRPr>
          </a:p>
        </p:txBody>
      </p:sp>
      <p:sp>
        <p:nvSpPr>
          <p:cNvPr id="9" name="Shape 7"/>
          <p:cNvSpPr/>
          <p:nvPr/>
        </p:nvSpPr>
        <p:spPr>
          <a:xfrm>
            <a:off x="4297680" y="1965960"/>
            <a:ext cx="3429000" cy="3200400"/>
          </a:xfrm>
          <a:prstGeom prst="roundRect">
            <a:avLst>
              <a:gd name="adj" fmla="val 2286"/>
            </a:avLst>
          </a:prstGeom>
          <a:solidFill>
            <a:srgbClr val="FFFFFF"/>
          </a:solidFill>
          <a:ln w="12700">
            <a:solidFill>
              <a:srgbClr val="DCE3E8"/>
            </a:solidFill>
            <a:prstDash val="solid"/>
          </a:ln>
        </p:spPr>
      </p:sp>
      <p:sp>
        <p:nvSpPr>
          <p:cNvPr id="10" name="Shape 8"/>
          <p:cNvSpPr/>
          <p:nvPr/>
        </p:nvSpPr>
        <p:spPr>
          <a:xfrm>
            <a:off x="4526280" y="2194560"/>
            <a:ext cx="457200" cy="457200"/>
          </a:xfrm>
          <a:prstGeom prst="ellipse">
            <a:avLst/>
          </a:prstGeom>
          <a:solidFill>
            <a:srgbClr val="1C7293"/>
          </a:solidFill>
          <a:ln/>
        </p:spPr>
      </p:sp>
      <p:sp>
        <p:nvSpPr>
          <p:cNvPr id="11" name="Text 9"/>
          <p:cNvSpPr txBox="1"/>
          <p:nvPr/>
        </p:nvSpPr>
        <p:spPr>
          <a:xfrm>
            <a:off x="4526280" y="21945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2" name="Text 10"/>
          <p:cNvSpPr txBox="1"/>
          <p:nvPr/>
        </p:nvSpPr>
        <p:spPr>
          <a:xfrm>
            <a:off x="5166360" y="2167128"/>
            <a:ext cx="2331720" cy="502920"/>
          </a:xfrm>
          <a:prstGeom prst="rect">
            <a:avLst/>
          </a:prstGeom>
          <a:noFill/>
          <a:ln/>
        </p:spPr>
        <p:txBody>
          <a:bodyPr wrap="square" lIns="0" tIns="0" rIns="0" bIns="0" rtlCol="0" anchor="ctr"/>
          <a:lstStyle/>
          <a:p>
            <a:pPr marL="0" indent="0">
              <a:lnSpc>
                <a:spcPct val="105000"/>
              </a:lnSpc>
              <a:buNone/>
            </a:pPr>
            <a:r>
              <a:rPr lang="en-US" sz="1300" b="1" dirty="0">
                <a:latin typeface="Cambria"/>
                <a:ea typeface="Cambria"/>
                <a:cs typeface="Cambria" pitchFamily="34" charset="-120"/>
              </a:rPr>
              <a:t>Lu et al. (2026)</a:t>
            </a:r>
            <a:endParaRPr lang="en-US" sz="1300">
              <a:latin typeface="Cambria"/>
              <a:ea typeface="Cambria"/>
              <a:cs typeface="Calibri"/>
            </a:endParaRPr>
          </a:p>
          <a:p>
            <a:pPr marL="0" indent="0">
              <a:lnSpc>
                <a:spcPct val="105000"/>
              </a:lnSpc>
              <a:buNone/>
            </a:pPr>
            <a:r>
              <a:rPr lang="en-US" sz="1300" b="1" dirty="0">
                <a:latin typeface="Cambria"/>
                <a:ea typeface="Cambria"/>
                <a:cs typeface="Cambria" pitchFamily="34" charset="-120"/>
              </a:rPr>
              <a:t>HiChunk: Evaluating and Enhancing RAG with Hierarchical Chunking</a:t>
            </a:r>
            <a:endParaRPr lang="en-US" sz="1300">
              <a:latin typeface="Cambria"/>
              <a:ea typeface="Cambria"/>
              <a:cs typeface="Calibri"/>
            </a:endParaRPr>
          </a:p>
        </p:txBody>
      </p:sp>
      <p:sp>
        <p:nvSpPr>
          <p:cNvPr id="13" name="Text 11"/>
          <p:cNvSpPr txBox="1"/>
          <p:nvPr/>
        </p:nvSpPr>
        <p:spPr>
          <a:xfrm>
            <a:off x="4572000" y="2834640"/>
            <a:ext cx="2880360" cy="2148840"/>
          </a:xfrm>
          <a:prstGeom prst="rect">
            <a:avLst/>
          </a:prstGeom>
          <a:noFill/>
          <a:ln/>
        </p:spPr>
        <p:txBody>
          <a:bodyPr wrap="square" lIns="0" tIns="0" rIns="0" bIns="0" rtlCol="0" anchor="t"/>
          <a:lstStyle/>
          <a:p>
            <a:pPr marL="0" indent="0">
              <a:lnSpc>
                <a:spcPct val="120000"/>
              </a:lnSpc>
              <a:buNone/>
            </a:pPr>
            <a:r>
              <a:rPr lang="en-US" sz="1100" b="1" dirty="0">
                <a:latin typeface="Calibri"/>
                <a:ea typeface="Calibri"/>
                <a:cs typeface="Calibri"/>
              </a:rPr>
              <a:t>What: </a:t>
            </a:r>
            <a:r>
              <a:rPr lang="en-US" sz="1100" dirty="0">
                <a:latin typeface="Calibri"/>
                <a:ea typeface="Calibri"/>
                <a:cs typeface="Calibri"/>
              </a:rPr>
              <a:t>Studies how chunking methods affect RAG performance.
</a:t>
            </a:r>
            <a:r>
              <a:rPr lang="en-US" sz="1100" b="1" dirty="0">
                <a:latin typeface="Calibri"/>
                <a:ea typeface="Calibri"/>
                <a:cs typeface="Calibri"/>
              </a:rPr>
              <a:t>How: </a:t>
            </a:r>
            <a:r>
              <a:rPr lang="en-US" sz="1100" dirty="0">
                <a:latin typeface="Calibri"/>
                <a:ea typeface="Calibri"/>
                <a:cs typeface="Calibri"/>
              </a:rPr>
              <a:t>Compares chunking approaches and evaluates effects on retrieval and answer quality.
</a:t>
            </a:r>
            <a:r>
              <a:rPr lang="en-US" sz="1100" b="1" dirty="0">
                <a:latin typeface="Calibri"/>
                <a:ea typeface="Calibri"/>
                <a:cs typeface="Calibri"/>
              </a:rPr>
              <a:t>Limitation: </a:t>
            </a:r>
            <a:r>
              <a:rPr lang="en-US" sz="1100" dirty="0">
                <a:latin typeface="Calibri"/>
                <a:ea typeface="Calibri"/>
                <a:cs typeface="Calibri"/>
              </a:rPr>
              <a:t>Focuses on chunking alone, not the full combination of chunking + retrieval + reranking + generation.</a:t>
            </a:r>
            <a:endParaRPr lang="en-US" sz="1100">
              <a:latin typeface="Calibri"/>
              <a:ea typeface="Calibri"/>
              <a:cs typeface="Calibri"/>
            </a:endParaRPr>
          </a:p>
        </p:txBody>
      </p:sp>
      <p:sp>
        <p:nvSpPr>
          <p:cNvPr id="17" name="Text 15"/>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04</a:t>
            </a:r>
            <a:endParaRPr lang="en-US" sz="1000" dirty="0"/>
          </a:p>
        </p:txBody>
      </p:sp>
      <p:pic>
        <p:nvPicPr>
          <p:cNvPr id="19" name="Picture 18" descr="A red and black text on a black background&#10;&#10;AI-generated content may be incorrect.">
            <a:extLst>
              <a:ext uri="{FF2B5EF4-FFF2-40B4-BE49-F238E27FC236}">
                <a16:creationId xmlns:a16="http://schemas.microsoft.com/office/drawing/2014/main" id="{9F743726-0D19-5AF8-D279-166FC143E76E}"/>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RESEARCH GAP</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What's missing in prior work</a:t>
            </a:r>
            <a:endParaRPr lang="en-US" sz="3200">
              <a:latin typeface="Cambria"/>
              <a:ea typeface="Cambria"/>
            </a:endParaRPr>
          </a:p>
        </p:txBody>
      </p:sp>
      <p:sp>
        <p:nvSpPr>
          <p:cNvPr id="4" name="Text 2"/>
          <p:cNvSpPr txBox="1"/>
          <p:nvPr/>
        </p:nvSpPr>
        <p:spPr>
          <a:xfrm>
            <a:off x="548640" y="1828800"/>
            <a:ext cx="10789920" cy="914400"/>
          </a:xfrm>
          <a:prstGeom prst="rect">
            <a:avLst/>
          </a:prstGeom>
          <a:noFill/>
          <a:ln/>
        </p:spPr>
        <p:txBody>
          <a:bodyPr wrap="square" lIns="0" tIns="0" rIns="0" bIns="0" rtlCol="0" anchor="ctr"/>
          <a:lstStyle/>
          <a:p>
            <a:pPr marL="0" indent="0">
              <a:lnSpc>
                <a:spcPct val="130000"/>
              </a:lnSpc>
              <a:buNone/>
            </a:pPr>
            <a:r>
              <a:rPr lang="en-US" sz="1600" dirty="0">
                <a:latin typeface="Calibri"/>
                <a:ea typeface="Calibri"/>
                <a:cs typeface="Calibri"/>
              </a:rPr>
              <a:t>Existing studies demonstrate RAG for scientific literature and evaluate individual components — retrieval, reranking, chunking — in isolation.</a:t>
            </a:r>
            <a:endParaRPr lang="en-US" sz="1600">
              <a:latin typeface="Calibri"/>
              <a:ea typeface="Calibri"/>
              <a:cs typeface="Calibri"/>
            </a:endParaRPr>
          </a:p>
        </p:txBody>
      </p:sp>
      <p:sp>
        <p:nvSpPr>
          <p:cNvPr id="5" name="Shape 3"/>
          <p:cNvSpPr/>
          <p:nvPr/>
        </p:nvSpPr>
        <p:spPr>
          <a:xfrm>
            <a:off x="548640" y="2880360"/>
            <a:ext cx="10789920" cy="1828800"/>
          </a:xfrm>
          <a:prstGeom prst="roundRect">
            <a:avLst>
              <a:gd name="adj" fmla="val 5000"/>
            </a:avLst>
          </a:prstGeom>
          <a:solidFill>
            <a:schemeClr val="bg1"/>
          </a:solidFill>
          <a:ln w="12700">
            <a:solidFill>
              <a:schemeClr val="bg1"/>
            </a:solidFill>
            <a:prstDash val="solid"/>
          </a:ln>
        </p:spPr>
      </p:sp>
      <p:sp>
        <p:nvSpPr>
          <p:cNvPr id="6" name="Text 4"/>
          <p:cNvSpPr txBox="1"/>
          <p:nvPr/>
        </p:nvSpPr>
        <p:spPr>
          <a:xfrm>
            <a:off x="914400" y="3108960"/>
            <a:ext cx="10058400" cy="1371600"/>
          </a:xfrm>
          <a:prstGeom prst="rect">
            <a:avLst/>
          </a:prstGeom>
          <a:noFill/>
          <a:ln/>
        </p:spPr>
        <p:txBody>
          <a:bodyPr wrap="square" lIns="0" tIns="0" rIns="0" bIns="0" rtlCol="0" anchor="ctr"/>
          <a:lstStyle/>
          <a:p>
            <a:pPr marL="0" indent="0">
              <a:lnSpc>
                <a:spcPct val="130000"/>
              </a:lnSpc>
              <a:buNone/>
            </a:pPr>
            <a:r>
              <a:rPr lang="en-US" sz="1700" dirty="0">
                <a:latin typeface="Cambria"/>
                <a:ea typeface="Cambria"/>
                <a:cs typeface="Cambria" pitchFamily="34" charset="-120"/>
              </a:rPr>
              <a:t>There is still no controlled comparison of different combinations of these components for question answering over the same collection of academic research papers. This study identifies which combination yields the most accurate, relevant, and reliable answers.</a:t>
            </a:r>
            <a:endParaRPr lang="en-US" sz="1700">
              <a:latin typeface="Calibri"/>
              <a:ea typeface="Calibri"/>
              <a:cs typeface="Calibri"/>
            </a:endParaRPr>
          </a:p>
        </p:txBody>
      </p:sp>
      <p:sp>
        <p:nvSpPr>
          <p:cNvPr id="8" name="Text 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05</a:t>
            </a:r>
            <a:endParaRPr lang="en-US" sz="1000" dirty="0"/>
          </a:p>
        </p:txBody>
      </p:sp>
      <p:pic>
        <p:nvPicPr>
          <p:cNvPr id="10" name="Picture 9" descr="A red and black text on a black background&#10;&#10;AI-generated content may be incorrect.">
            <a:extLst>
              <a:ext uri="{FF2B5EF4-FFF2-40B4-BE49-F238E27FC236}">
                <a16:creationId xmlns:a16="http://schemas.microsoft.com/office/drawing/2014/main" id="{2E5C2FB1-E2C4-078D-1350-DAD6D292E0A1}"/>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PROBLEM STATEMENT &amp; AIM</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What we are solving, and why</a:t>
            </a:r>
            <a:endParaRPr lang="en-US" sz="3200">
              <a:latin typeface="Cambria"/>
              <a:ea typeface="Cambria"/>
              <a:cs typeface="Calibri"/>
            </a:endParaRPr>
          </a:p>
        </p:txBody>
      </p:sp>
      <p:sp>
        <p:nvSpPr>
          <p:cNvPr id="4" name="Shape 2"/>
          <p:cNvSpPr/>
          <p:nvPr/>
        </p:nvSpPr>
        <p:spPr>
          <a:xfrm>
            <a:off x="548640" y="1737360"/>
            <a:ext cx="5349240" cy="4114800"/>
          </a:xfrm>
          <a:prstGeom prst="roundRect">
            <a:avLst>
              <a:gd name="adj" fmla="val 2222"/>
            </a:avLst>
          </a:prstGeom>
          <a:solidFill>
            <a:srgbClr val="FFFFFF"/>
          </a:solidFill>
          <a:ln w="12700">
            <a:solidFill>
              <a:srgbClr val="DCE3E8"/>
            </a:solidFill>
            <a:prstDash val="solid"/>
          </a:ln>
        </p:spPr>
      </p:sp>
      <p:sp>
        <p:nvSpPr>
          <p:cNvPr id="6" name="Text 4"/>
          <p:cNvSpPr txBox="1"/>
          <p:nvPr/>
        </p:nvSpPr>
        <p:spPr>
          <a:xfrm>
            <a:off x="868680" y="2082235"/>
            <a:ext cx="502920" cy="502920"/>
          </a:xfrm>
          <a:prstGeom prst="rect">
            <a:avLst/>
          </a:prstGeom>
          <a:solidFill>
            <a:schemeClr val="tx1"/>
          </a:solid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txBox="1"/>
          <p:nvPr/>
        </p:nvSpPr>
        <p:spPr>
          <a:xfrm>
            <a:off x="1554480" y="2084832"/>
            <a:ext cx="4114800" cy="365760"/>
          </a:xfrm>
          <a:prstGeom prst="rect">
            <a:avLst/>
          </a:prstGeom>
          <a:noFill/>
          <a:ln/>
        </p:spPr>
        <p:txBody>
          <a:bodyPr wrap="square" lIns="0" tIns="0" rIns="0" bIns="0" rtlCol="0" anchor="ctr"/>
          <a:lstStyle/>
          <a:p>
            <a:pPr marL="0" indent="0">
              <a:buNone/>
            </a:pPr>
            <a:r>
              <a:rPr lang="en-US" sz="1200" b="1" kern="0" spc="150" dirty="0">
                <a:latin typeface="Calibri"/>
                <a:ea typeface="Calibri"/>
                <a:cs typeface="Calibri"/>
              </a:rPr>
              <a:t>PROBLEM STATEMENT</a:t>
            </a:r>
            <a:endParaRPr lang="en-US" sz="1200">
              <a:latin typeface="Calibri"/>
              <a:ea typeface="Calibri"/>
              <a:cs typeface="Calibri"/>
            </a:endParaRPr>
          </a:p>
        </p:txBody>
      </p:sp>
      <p:sp>
        <p:nvSpPr>
          <p:cNvPr id="8" name="Text 6"/>
          <p:cNvSpPr txBox="1"/>
          <p:nvPr/>
        </p:nvSpPr>
        <p:spPr>
          <a:xfrm>
            <a:off x="868680" y="2697480"/>
            <a:ext cx="4754880" cy="2926080"/>
          </a:xfrm>
          <a:prstGeom prst="rect">
            <a:avLst/>
          </a:prstGeom>
          <a:noFill/>
          <a:ln/>
        </p:spPr>
        <p:txBody>
          <a:bodyPr wrap="square" lIns="0" tIns="0" rIns="0" bIns="0" rtlCol="0" anchor="ctr"/>
          <a:lstStyle/>
          <a:p>
            <a:pPr marL="0" indent="0">
              <a:lnSpc>
                <a:spcPct val="130000"/>
              </a:lnSpc>
              <a:buNone/>
            </a:pPr>
            <a:r>
              <a:rPr lang="en-US" sz="1450" dirty="0">
                <a:latin typeface="Calibri"/>
                <a:ea typeface="Calibri"/>
                <a:cs typeface="Calibri"/>
              </a:rPr>
              <a:t>To develop a RAG-based academic research assistant that retrieves relevant information from research papers and provides accurate, reliable, source-supported answers — addressing the difficulty of finding and verifying information across large document collections.</a:t>
            </a:r>
          </a:p>
        </p:txBody>
      </p:sp>
      <p:sp>
        <p:nvSpPr>
          <p:cNvPr id="9" name="Shape 7"/>
          <p:cNvSpPr/>
          <p:nvPr/>
        </p:nvSpPr>
        <p:spPr>
          <a:xfrm>
            <a:off x="6263640" y="1737360"/>
            <a:ext cx="5349240" cy="4114800"/>
          </a:xfrm>
          <a:prstGeom prst="roundRect">
            <a:avLst>
              <a:gd name="adj" fmla="val 2222"/>
            </a:avLst>
          </a:prstGeom>
          <a:solidFill>
            <a:schemeClr val="bg1"/>
          </a:solidFill>
          <a:ln/>
        </p:spPr>
      </p:sp>
      <p:sp>
        <p:nvSpPr>
          <p:cNvPr id="11" name="Text 9"/>
          <p:cNvSpPr txBox="1"/>
          <p:nvPr/>
        </p:nvSpPr>
        <p:spPr>
          <a:xfrm>
            <a:off x="6583680" y="2018735"/>
            <a:ext cx="502920" cy="502920"/>
          </a:xfrm>
          <a:prstGeom prst="rect">
            <a:avLst/>
          </a:prstGeom>
          <a:solidFill>
            <a:schemeClr val="tx1"/>
          </a:solidFill>
          <a:ln/>
        </p:spPr>
        <p:txBody>
          <a:bodyPr wrap="square" lIns="0" tIns="0" rIns="0" bIns="0" rtlCol="0" anchor="ctr"/>
          <a:lstStyle/>
          <a:p>
            <a:pPr marL="0" indent="0" algn="ctr">
              <a:buNone/>
            </a:pPr>
            <a:r>
              <a:rPr lang="en-US" sz="2200" b="1" dirty="0">
                <a:solidFill>
                  <a:schemeClr val="bg1"/>
                </a:solidFill>
                <a:latin typeface="Calibri"/>
                <a:ea typeface="Calibri"/>
                <a:cs typeface="Calibri"/>
              </a:rPr>
              <a:t>◎</a:t>
            </a:r>
            <a:endParaRPr lang="en-US" sz="2200">
              <a:solidFill>
                <a:schemeClr val="bg1"/>
              </a:solidFill>
              <a:latin typeface="Calibri"/>
              <a:ea typeface="Calibri"/>
              <a:cs typeface="Calibri"/>
            </a:endParaRPr>
          </a:p>
        </p:txBody>
      </p:sp>
      <p:sp>
        <p:nvSpPr>
          <p:cNvPr id="12" name="Text 10"/>
          <p:cNvSpPr txBox="1"/>
          <p:nvPr/>
        </p:nvSpPr>
        <p:spPr>
          <a:xfrm>
            <a:off x="7269480" y="2084832"/>
            <a:ext cx="4114800" cy="365760"/>
          </a:xfrm>
          <a:prstGeom prst="rect">
            <a:avLst/>
          </a:prstGeom>
          <a:noFill/>
          <a:ln/>
        </p:spPr>
        <p:txBody>
          <a:bodyPr wrap="square" lIns="0" tIns="0" rIns="0" bIns="0" rtlCol="0" anchor="ctr"/>
          <a:lstStyle/>
          <a:p>
            <a:pPr marL="0" indent="0">
              <a:buNone/>
            </a:pPr>
            <a:r>
              <a:rPr lang="en-US" sz="1200" b="1" kern="0" spc="150" dirty="0">
                <a:latin typeface="Calibri"/>
                <a:ea typeface="Calibri"/>
                <a:cs typeface="Calibri"/>
              </a:rPr>
              <a:t>AIM</a:t>
            </a:r>
            <a:endParaRPr lang="en-US" sz="1200">
              <a:latin typeface="Calibri"/>
              <a:ea typeface="Calibri"/>
              <a:cs typeface="Calibri"/>
            </a:endParaRPr>
          </a:p>
        </p:txBody>
      </p:sp>
      <p:sp>
        <p:nvSpPr>
          <p:cNvPr id="13" name="Text 11"/>
          <p:cNvSpPr txBox="1"/>
          <p:nvPr/>
        </p:nvSpPr>
        <p:spPr>
          <a:xfrm>
            <a:off x="6583680" y="2697480"/>
            <a:ext cx="4754880" cy="2926080"/>
          </a:xfrm>
          <a:prstGeom prst="rect">
            <a:avLst/>
          </a:prstGeom>
          <a:noFill/>
          <a:ln/>
        </p:spPr>
        <p:txBody>
          <a:bodyPr wrap="square" lIns="0" tIns="0" rIns="0" bIns="0" rtlCol="0" anchor="ctr"/>
          <a:lstStyle/>
          <a:p>
            <a:pPr marL="0" indent="0">
              <a:lnSpc>
                <a:spcPct val="130000"/>
              </a:lnSpc>
              <a:buNone/>
            </a:pPr>
            <a:r>
              <a:rPr lang="en-US" sz="1450" dirty="0">
                <a:latin typeface="Calibri"/>
                <a:ea typeface="Calibri"/>
                <a:cs typeface="Calibri"/>
              </a:rPr>
              <a:t>To develop and evaluate a RAG-based academic research assistant that compares chunking, retrieval, reranking, and generation methods to identify a configuration that gives accurate and reliable answers from research papers.</a:t>
            </a:r>
            <a:endParaRPr lang="en-US" sz="1450">
              <a:latin typeface="Calibri"/>
              <a:ea typeface="Calibri"/>
              <a:cs typeface="Calibri"/>
            </a:endParaRPr>
          </a:p>
        </p:txBody>
      </p:sp>
      <p:sp>
        <p:nvSpPr>
          <p:cNvPr id="14" name="Text 1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06</a:t>
            </a:r>
            <a:endParaRPr lang="en-US" sz="1000" dirty="0"/>
          </a:p>
        </p:txBody>
      </p:sp>
      <p:pic>
        <p:nvPicPr>
          <p:cNvPr id="16" name="Picture 15" descr="A red and black text on a black background&#10;&#10;AI-generated content may be incorrect.">
            <a:extLst>
              <a:ext uri="{FF2B5EF4-FFF2-40B4-BE49-F238E27FC236}">
                <a16:creationId xmlns:a16="http://schemas.microsoft.com/office/drawing/2014/main" id="{40F94E32-CEB6-2FF5-E346-5857D85FD029}"/>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OBJECTIVES</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Six objectives driving the project</a:t>
            </a:r>
            <a:endParaRPr lang="en-US" sz="3200">
              <a:latin typeface="Cambria"/>
              <a:ea typeface="Cambria"/>
              <a:cs typeface="Calibri"/>
            </a:endParaRPr>
          </a:p>
        </p:txBody>
      </p:sp>
      <p:sp>
        <p:nvSpPr>
          <p:cNvPr id="4" name="Shape 2"/>
          <p:cNvSpPr/>
          <p:nvPr/>
        </p:nvSpPr>
        <p:spPr>
          <a:xfrm>
            <a:off x="548640" y="1783080"/>
            <a:ext cx="5349240" cy="1234440"/>
          </a:xfrm>
          <a:prstGeom prst="roundRect">
            <a:avLst>
              <a:gd name="adj" fmla="val 5926"/>
            </a:avLst>
          </a:prstGeom>
          <a:solidFill>
            <a:srgbClr val="FFFFFF"/>
          </a:solidFill>
          <a:ln w="12700">
            <a:solidFill>
              <a:srgbClr val="DCE3E8"/>
            </a:solidFill>
            <a:prstDash val="solid"/>
          </a:ln>
        </p:spPr>
      </p:sp>
      <p:sp>
        <p:nvSpPr>
          <p:cNvPr id="5" name="Shape 3"/>
          <p:cNvSpPr/>
          <p:nvPr/>
        </p:nvSpPr>
        <p:spPr>
          <a:xfrm>
            <a:off x="749808" y="2171700"/>
            <a:ext cx="457200" cy="457200"/>
          </a:xfrm>
          <a:prstGeom prst="ellipse">
            <a:avLst/>
          </a:prstGeom>
          <a:solidFill>
            <a:srgbClr val="1C7293"/>
          </a:solidFill>
          <a:ln/>
        </p:spPr>
      </p:sp>
      <p:sp>
        <p:nvSpPr>
          <p:cNvPr id="6" name="Text 4"/>
          <p:cNvSpPr txBox="1"/>
          <p:nvPr/>
        </p:nvSpPr>
        <p:spPr>
          <a:xfrm>
            <a:off x="749808" y="217170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189280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Develop a RAG-based system for uploading and querying academic research papers.</a:t>
            </a:r>
            <a:endParaRPr lang="en-US" sz="1250">
              <a:latin typeface="Calibri"/>
              <a:ea typeface="Calibri"/>
              <a:cs typeface="Calibri"/>
            </a:endParaRPr>
          </a:p>
        </p:txBody>
      </p:sp>
      <p:sp>
        <p:nvSpPr>
          <p:cNvPr id="8" name="Shape 6"/>
          <p:cNvSpPr/>
          <p:nvPr/>
        </p:nvSpPr>
        <p:spPr>
          <a:xfrm>
            <a:off x="6217920" y="1783080"/>
            <a:ext cx="5349240" cy="1234440"/>
          </a:xfrm>
          <a:prstGeom prst="roundRect">
            <a:avLst>
              <a:gd name="adj" fmla="val 5926"/>
            </a:avLst>
          </a:prstGeom>
          <a:solidFill>
            <a:srgbClr val="FFFFFF"/>
          </a:solidFill>
          <a:ln w="12700">
            <a:solidFill>
              <a:srgbClr val="DCE3E8"/>
            </a:solidFill>
            <a:prstDash val="solid"/>
          </a:ln>
        </p:spPr>
      </p:sp>
      <p:sp>
        <p:nvSpPr>
          <p:cNvPr id="9" name="Shape 7"/>
          <p:cNvSpPr/>
          <p:nvPr/>
        </p:nvSpPr>
        <p:spPr>
          <a:xfrm>
            <a:off x="6419088" y="2171700"/>
            <a:ext cx="457200" cy="457200"/>
          </a:xfrm>
          <a:prstGeom prst="ellipse">
            <a:avLst/>
          </a:prstGeom>
          <a:solidFill>
            <a:srgbClr val="0B3358"/>
          </a:solidFill>
          <a:ln/>
        </p:spPr>
      </p:sp>
      <p:sp>
        <p:nvSpPr>
          <p:cNvPr id="10" name="Text 8"/>
          <p:cNvSpPr txBox="1"/>
          <p:nvPr/>
        </p:nvSpPr>
        <p:spPr>
          <a:xfrm>
            <a:off x="6419088" y="217170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7040880" y="189280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Compare document chunking methods for extracting useful information.</a:t>
            </a:r>
            <a:endParaRPr lang="en-US" sz="1250">
              <a:latin typeface="Calibri"/>
              <a:ea typeface="Calibri"/>
              <a:cs typeface="Calibri"/>
            </a:endParaRPr>
          </a:p>
        </p:txBody>
      </p:sp>
      <p:sp>
        <p:nvSpPr>
          <p:cNvPr id="12" name="Shape 10"/>
          <p:cNvSpPr/>
          <p:nvPr/>
        </p:nvSpPr>
        <p:spPr>
          <a:xfrm>
            <a:off x="548640" y="3291840"/>
            <a:ext cx="5349240" cy="1234440"/>
          </a:xfrm>
          <a:prstGeom prst="roundRect">
            <a:avLst>
              <a:gd name="adj" fmla="val 5926"/>
            </a:avLst>
          </a:prstGeom>
          <a:solidFill>
            <a:srgbClr val="FFFFFF"/>
          </a:solidFill>
          <a:ln w="12700">
            <a:solidFill>
              <a:srgbClr val="DCE3E8"/>
            </a:solidFill>
            <a:prstDash val="solid"/>
          </a:ln>
        </p:spPr>
      </p:sp>
      <p:sp>
        <p:nvSpPr>
          <p:cNvPr id="13" name="Shape 11"/>
          <p:cNvSpPr/>
          <p:nvPr/>
        </p:nvSpPr>
        <p:spPr>
          <a:xfrm>
            <a:off x="749808" y="3680460"/>
            <a:ext cx="457200" cy="457200"/>
          </a:xfrm>
          <a:prstGeom prst="ellipse">
            <a:avLst/>
          </a:prstGeom>
          <a:solidFill>
            <a:srgbClr val="1C7293"/>
          </a:solidFill>
          <a:ln/>
        </p:spPr>
      </p:sp>
      <p:sp>
        <p:nvSpPr>
          <p:cNvPr id="14" name="Text 12"/>
          <p:cNvSpPr txBox="1"/>
          <p:nvPr/>
        </p:nvSpPr>
        <p:spPr>
          <a:xfrm>
            <a:off x="749808" y="36804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340156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Evaluate retrieval methods for finding relevant information in the corpus.</a:t>
            </a:r>
            <a:endParaRPr lang="en-US" sz="1250">
              <a:latin typeface="Calibri"/>
              <a:ea typeface="Calibri"/>
              <a:cs typeface="Calibri"/>
            </a:endParaRPr>
          </a:p>
        </p:txBody>
      </p:sp>
      <p:sp>
        <p:nvSpPr>
          <p:cNvPr id="16" name="Shape 14"/>
          <p:cNvSpPr/>
          <p:nvPr/>
        </p:nvSpPr>
        <p:spPr>
          <a:xfrm>
            <a:off x="6217920" y="3291840"/>
            <a:ext cx="5349240" cy="1234440"/>
          </a:xfrm>
          <a:prstGeom prst="roundRect">
            <a:avLst>
              <a:gd name="adj" fmla="val 5926"/>
            </a:avLst>
          </a:prstGeom>
          <a:solidFill>
            <a:srgbClr val="FFFFFF"/>
          </a:solidFill>
          <a:ln w="12700">
            <a:solidFill>
              <a:srgbClr val="DCE3E8"/>
            </a:solidFill>
            <a:prstDash val="solid"/>
          </a:ln>
        </p:spPr>
      </p:sp>
      <p:sp>
        <p:nvSpPr>
          <p:cNvPr id="17" name="Shape 15"/>
          <p:cNvSpPr/>
          <p:nvPr/>
        </p:nvSpPr>
        <p:spPr>
          <a:xfrm>
            <a:off x="6419088" y="3680460"/>
            <a:ext cx="457200" cy="457200"/>
          </a:xfrm>
          <a:prstGeom prst="ellipse">
            <a:avLst/>
          </a:prstGeom>
          <a:solidFill>
            <a:srgbClr val="0B3358"/>
          </a:solidFill>
          <a:ln/>
        </p:spPr>
      </p:sp>
      <p:sp>
        <p:nvSpPr>
          <p:cNvPr id="18" name="Text 16"/>
          <p:cNvSpPr txBox="1"/>
          <p:nvPr/>
        </p:nvSpPr>
        <p:spPr>
          <a:xfrm>
            <a:off x="6419088" y="368046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txBox="1"/>
          <p:nvPr/>
        </p:nvSpPr>
        <p:spPr>
          <a:xfrm>
            <a:off x="7040880" y="340156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Study the effect of reranking methods on retrieval relevance.</a:t>
            </a:r>
            <a:endParaRPr lang="en-US" sz="1250">
              <a:latin typeface="Calibri"/>
              <a:ea typeface="Calibri"/>
              <a:cs typeface="Calibri"/>
            </a:endParaRPr>
          </a:p>
        </p:txBody>
      </p:sp>
      <p:sp>
        <p:nvSpPr>
          <p:cNvPr id="20" name="Shape 18"/>
          <p:cNvSpPr/>
          <p:nvPr/>
        </p:nvSpPr>
        <p:spPr>
          <a:xfrm>
            <a:off x="548640" y="4800600"/>
            <a:ext cx="5349240" cy="1234440"/>
          </a:xfrm>
          <a:prstGeom prst="roundRect">
            <a:avLst>
              <a:gd name="adj" fmla="val 5926"/>
            </a:avLst>
          </a:prstGeom>
          <a:solidFill>
            <a:srgbClr val="FFFFFF"/>
          </a:solidFill>
          <a:ln w="12700">
            <a:solidFill>
              <a:srgbClr val="DCE3E8"/>
            </a:solidFill>
            <a:prstDash val="solid"/>
          </a:ln>
        </p:spPr>
      </p:sp>
      <p:sp>
        <p:nvSpPr>
          <p:cNvPr id="21" name="Shape 19"/>
          <p:cNvSpPr/>
          <p:nvPr/>
        </p:nvSpPr>
        <p:spPr>
          <a:xfrm>
            <a:off x="749808" y="5189220"/>
            <a:ext cx="457200" cy="457200"/>
          </a:xfrm>
          <a:prstGeom prst="ellipse">
            <a:avLst/>
          </a:prstGeom>
          <a:solidFill>
            <a:srgbClr val="1C7293"/>
          </a:solidFill>
          <a:ln/>
        </p:spPr>
      </p:sp>
      <p:sp>
        <p:nvSpPr>
          <p:cNvPr id="22" name="Text 20"/>
          <p:cNvSpPr txBox="1"/>
          <p:nvPr/>
        </p:nvSpPr>
        <p:spPr>
          <a:xfrm>
            <a:off x="749808" y="518922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3" name="Text 21"/>
          <p:cNvSpPr txBox="1"/>
          <p:nvPr/>
        </p:nvSpPr>
        <p:spPr>
          <a:xfrm>
            <a:off x="1371600" y="491032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Compare RAG configurations on answer accuracy, relevance, and reliability.</a:t>
            </a:r>
            <a:endParaRPr lang="en-US" sz="1250">
              <a:latin typeface="Calibri"/>
              <a:ea typeface="Calibri"/>
              <a:cs typeface="Calibri"/>
            </a:endParaRPr>
          </a:p>
        </p:txBody>
      </p:sp>
      <p:sp>
        <p:nvSpPr>
          <p:cNvPr id="24" name="Shape 22"/>
          <p:cNvSpPr/>
          <p:nvPr/>
        </p:nvSpPr>
        <p:spPr>
          <a:xfrm>
            <a:off x="6217920" y="4800600"/>
            <a:ext cx="5349240" cy="1234440"/>
          </a:xfrm>
          <a:prstGeom prst="roundRect">
            <a:avLst>
              <a:gd name="adj" fmla="val 5926"/>
            </a:avLst>
          </a:prstGeom>
          <a:solidFill>
            <a:srgbClr val="FFFFFF"/>
          </a:solidFill>
          <a:ln w="12700">
            <a:solidFill>
              <a:srgbClr val="DCE3E8"/>
            </a:solidFill>
            <a:prstDash val="solid"/>
          </a:ln>
        </p:spPr>
      </p:sp>
      <p:sp>
        <p:nvSpPr>
          <p:cNvPr id="25" name="Shape 23"/>
          <p:cNvSpPr/>
          <p:nvPr/>
        </p:nvSpPr>
        <p:spPr>
          <a:xfrm>
            <a:off x="6419088" y="5189220"/>
            <a:ext cx="457200" cy="457200"/>
          </a:xfrm>
          <a:prstGeom prst="ellipse">
            <a:avLst/>
          </a:prstGeom>
          <a:solidFill>
            <a:srgbClr val="0B3358"/>
          </a:solidFill>
          <a:ln/>
        </p:spPr>
      </p:sp>
      <p:sp>
        <p:nvSpPr>
          <p:cNvPr id="26" name="Text 24"/>
          <p:cNvSpPr txBox="1"/>
          <p:nvPr/>
        </p:nvSpPr>
        <p:spPr>
          <a:xfrm>
            <a:off x="6419088" y="5189220"/>
            <a:ext cx="457200" cy="457200"/>
          </a:xfrm>
          <a:prstGeom prst="rect">
            <a:avLst/>
          </a:prstGeom>
          <a:solidFill>
            <a:schemeClr val="tx1"/>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7" name="Text 25"/>
          <p:cNvSpPr txBox="1"/>
          <p:nvPr/>
        </p:nvSpPr>
        <p:spPr>
          <a:xfrm>
            <a:off x="7040880" y="4910328"/>
            <a:ext cx="4297680" cy="1014984"/>
          </a:xfrm>
          <a:prstGeom prst="rect">
            <a:avLst/>
          </a:prstGeom>
          <a:noFill/>
          <a:ln/>
        </p:spPr>
        <p:txBody>
          <a:bodyPr wrap="square" lIns="0" tIns="0" rIns="0" bIns="0" rtlCol="0" anchor="ctr"/>
          <a:lstStyle/>
          <a:p>
            <a:pPr marL="0" indent="0">
              <a:lnSpc>
                <a:spcPct val="115000"/>
              </a:lnSpc>
              <a:buNone/>
            </a:pPr>
            <a:r>
              <a:rPr lang="en-US" sz="1250" dirty="0">
                <a:latin typeface="Calibri"/>
                <a:ea typeface="Calibri"/>
                <a:cs typeface="Calibri"/>
              </a:rPr>
              <a:t>Provide answers supported by citations from the source papers.</a:t>
            </a:r>
            <a:endParaRPr lang="en-US" sz="1250">
              <a:latin typeface="Calibri"/>
              <a:ea typeface="Calibri"/>
              <a:cs typeface="Calibri"/>
            </a:endParaRPr>
          </a:p>
        </p:txBody>
      </p:sp>
      <p:sp>
        <p:nvSpPr>
          <p:cNvPr id="28" name="Text 26"/>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07</a:t>
            </a:r>
            <a:endParaRPr lang="en-US" sz="1000" dirty="0"/>
          </a:p>
        </p:txBody>
      </p:sp>
      <p:pic>
        <p:nvPicPr>
          <p:cNvPr id="30" name="Picture 29" descr="A red and black text on a black background&#10;&#10;AI-generated content may be incorrect.">
            <a:extLst>
              <a:ext uri="{FF2B5EF4-FFF2-40B4-BE49-F238E27FC236}">
                <a16:creationId xmlns:a16="http://schemas.microsoft.com/office/drawing/2014/main" id="{3B631CAE-CB92-7E69-DD76-10623605AA48}"/>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PROPOSED SYSTEM</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End-to-end RAG pipeline</a:t>
            </a:r>
            <a:endParaRPr lang="en-US" sz="3200">
              <a:latin typeface="Cambria"/>
              <a:ea typeface="Cambria"/>
              <a:cs typeface="Calibri"/>
            </a:endParaRPr>
          </a:p>
        </p:txBody>
      </p:sp>
      <p:sp>
        <p:nvSpPr>
          <p:cNvPr id="4" name="Shape 2"/>
          <p:cNvSpPr/>
          <p:nvPr/>
        </p:nvSpPr>
        <p:spPr>
          <a:xfrm>
            <a:off x="548640" y="2103120"/>
            <a:ext cx="1207008" cy="1005840"/>
          </a:xfrm>
          <a:prstGeom prst="roundRect">
            <a:avLst>
              <a:gd name="adj" fmla="val 7273"/>
            </a:avLst>
          </a:prstGeom>
          <a:solidFill>
            <a:schemeClr val="tx1"/>
          </a:solidFill>
          <a:ln/>
        </p:spPr>
      </p:sp>
      <p:sp>
        <p:nvSpPr>
          <p:cNvPr id="5" name="Text 3"/>
          <p:cNvSpPr txBox="1"/>
          <p:nvPr/>
        </p:nvSpPr>
        <p:spPr>
          <a:xfrm>
            <a:off x="594360" y="2103120"/>
            <a:ext cx="1115568" cy="1005840"/>
          </a:xfrm>
          <a:prstGeom prst="rect">
            <a:avLst/>
          </a:prstGeom>
          <a:solidFill>
            <a:schemeClr val="tx1"/>
          </a:solid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Academic</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Papers</a:t>
            </a:r>
            <a:endParaRPr lang="en-US" sz="1050" dirty="0"/>
          </a:p>
        </p:txBody>
      </p:sp>
      <p:sp>
        <p:nvSpPr>
          <p:cNvPr id="6" name="Text 4"/>
          <p:cNvSpPr txBox="1"/>
          <p:nvPr/>
        </p:nvSpPr>
        <p:spPr>
          <a:xfrm>
            <a:off x="1755648"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1917627" y="2103120"/>
            <a:ext cx="1207008" cy="1005840"/>
          </a:xfrm>
          <a:prstGeom prst="roundRect">
            <a:avLst>
              <a:gd name="adj" fmla="val 7273"/>
            </a:avLst>
          </a:prstGeom>
          <a:solidFill>
            <a:schemeClr val="bg1"/>
          </a:solidFill>
          <a:ln/>
        </p:spPr>
      </p:sp>
      <p:sp>
        <p:nvSpPr>
          <p:cNvPr id="8" name="Text 6"/>
          <p:cNvSpPr txBox="1"/>
          <p:nvPr/>
        </p:nvSpPr>
        <p:spPr>
          <a:xfrm>
            <a:off x="1963347" y="2103120"/>
            <a:ext cx="1115568" cy="1005840"/>
          </a:xfrm>
          <a:prstGeom prst="rect">
            <a:avLst/>
          </a:prstGeom>
          <a:solidFill>
            <a:schemeClr val="bg1"/>
          </a:solidFill>
          <a:ln/>
        </p:spPr>
        <p:txBody>
          <a:bodyPr wrap="square" lIns="0" tIns="0" rIns="0" bIns="0" rtlCol="0" anchor="ctr"/>
          <a:lstStyle/>
          <a:p>
            <a:pPr marL="0" indent="0" algn="ctr">
              <a:lnSpc>
                <a:spcPct val="105000"/>
              </a:lnSpc>
              <a:buNone/>
            </a:pPr>
            <a:r>
              <a:rPr lang="en-US" sz="1050" b="1" dirty="0">
                <a:latin typeface="Calibri"/>
                <a:ea typeface="Calibri"/>
                <a:cs typeface="Calibri"/>
              </a:rPr>
              <a:t>PDF</a:t>
            </a:r>
            <a:endParaRPr lang="en-US" sz="1050">
              <a:latin typeface="Calibri"/>
              <a:ea typeface="Calibri"/>
              <a:cs typeface="Calibri"/>
            </a:endParaRPr>
          </a:p>
          <a:p>
            <a:pPr marL="0" indent="0" algn="ctr">
              <a:lnSpc>
                <a:spcPct val="105000"/>
              </a:lnSpc>
              <a:buNone/>
            </a:pPr>
            <a:r>
              <a:rPr lang="en-US" sz="1050" b="1" dirty="0">
                <a:latin typeface="Calibri"/>
                <a:ea typeface="Calibri"/>
                <a:cs typeface="Calibri"/>
              </a:rPr>
              <a:t>Processing</a:t>
            </a:r>
            <a:endParaRPr lang="en-US" sz="1050">
              <a:latin typeface="Calibri"/>
              <a:ea typeface="Calibri"/>
              <a:cs typeface="Calibri"/>
            </a:endParaRPr>
          </a:p>
        </p:txBody>
      </p:sp>
      <p:sp>
        <p:nvSpPr>
          <p:cNvPr id="9" name="Text 7"/>
          <p:cNvSpPr txBox="1"/>
          <p:nvPr/>
        </p:nvSpPr>
        <p:spPr>
          <a:xfrm>
            <a:off x="3124635"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286615" y="2103120"/>
            <a:ext cx="1207008" cy="1005840"/>
          </a:xfrm>
          <a:prstGeom prst="roundRect">
            <a:avLst>
              <a:gd name="adj" fmla="val 7273"/>
            </a:avLst>
          </a:prstGeom>
          <a:solidFill>
            <a:schemeClr val="bg1"/>
          </a:solidFill>
          <a:ln/>
        </p:spPr>
      </p:sp>
      <p:sp>
        <p:nvSpPr>
          <p:cNvPr id="11" name="Text 9"/>
          <p:cNvSpPr txBox="1"/>
          <p:nvPr/>
        </p:nvSpPr>
        <p:spPr>
          <a:xfrm>
            <a:off x="3332335" y="2110176"/>
            <a:ext cx="1115568" cy="1005840"/>
          </a:xfrm>
          <a:prstGeom prst="rect">
            <a:avLst/>
          </a:prstGeom>
          <a:solidFill>
            <a:schemeClr val="bg1"/>
          </a:solidFill>
          <a:ln/>
        </p:spPr>
        <p:txBody>
          <a:bodyPr wrap="square" lIns="0" tIns="0" rIns="0" bIns="0" rtlCol="0" anchor="ctr"/>
          <a:lstStyle/>
          <a:p>
            <a:pPr marL="0" indent="0" algn="ctr">
              <a:lnSpc>
                <a:spcPct val="105000"/>
              </a:lnSpc>
              <a:buNone/>
            </a:pPr>
            <a:r>
              <a:rPr lang="en-US" sz="1050" b="1" dirty="0">
                <a:latin typeface="Calibri"/>
                <a:ea typeface="Calibri"/>
                <a:cs typeface="Calibri"/>
              </a:rPr>
              <a:t>Chunking</a:t>
            </a:r>
            <a:endParaRPr lang="en-US" sz="1050">
              <a:latin typeface="Calibri"/>
              <a:ea typeface="Calibri"/>
              <a:cs typeface="Calibri"/>
            </a:endParaRPr>
          </a:p>
        </p:txBody>
      </p:sp>
      <p:sp>
        <p:nvSpPr>
          <p:cNvPr id="12" name="Text 10"/>
          <p:cNvSpPr txBox="1"/>
          <p:nvPr/>
        </p:nvSpPr>
        <p:spPr>
          <a:xfrm>
            <a:off x="4493623"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4655602" y="2103120"/>
            <a:ext cx="1207008" cy="1005840"/>
          </a:xfrm>
          <a:prstGeom prst="roundRect">
            <a:avLst>
              <a:gd name="adj" fmla="val 7273"/>
            </a:avLst>
          </a:prstGeom>
          <a:solidFill>
            <a:schemeClr val="bg1"/>
          </a:solidFill>
          <a:ln/>
        </p:spPr>
      </p:sp>
      <p:sp>
        <p:nvSpPr>
          <p:cNvPr id="14" name="Text 12"/>
          <p:cNvSpPr txBox="1"/>
          <p:nvPr/>
        </p:nvSpPr>
        <p:spPr>
          <a:xfrm>
            <a:off x="4701322" y="2110176"/>
            <a:ext cx="1115568" cy="1005840"/>
          </a:xfrm>
          <a:prstGeom prst="rect">
            <a:avLst/>
          </a:prstGeom>
          <a:noFill/>
          <a:ln/>
        </p:spPr>
        <p:txBody>
          <a:bodyPr wrap="square" lIns="0" tIns="0" rIns="0" bIns="0" rtlCol="0" anchor="ctr"/>
          <a:lstStyle/>
          <a:p>
            <a:pPr marL="0" indent="0" algn="ctr">
              <a:lnSpc>
                <a:spcPct val="105000"/>
              </a:lnSpc>
              <a:buNone/>
            </a:pPr>
            <a:r>
              <a:rPr lang="en-US" sz="1050" b="1" dirty="0">
                <a:latin typeface="Calibri"/>
                <a:ea typeface="Calibri"/>
                <a:cs typeface="Calibri"/>
              </a:rPr>
              <a:t>Embedding /</a:t>
            </a:r>
            <a:endParaRPr lang="en-US" sz="1050">
              <a:latin typeface="Calibri"/>
              <a:ea typeface="Calibri"/>
              <a:cs typeface="Calibri"/>
            </a:endParaRPr>
          </a:p>
          <a:p>
            <a:pPr marL="0" indent="0" algn="ctr">
              <a:lnSpc>
                <a:spcPct val="105000"/>
              </a:lnSpc>
              <a:buNone/>
            </a:pPr>
            <a:r>
              <a:rPr lang="en-US" sz="1050" b="1" dirty="0">
                <a:latin typeface="Calibri"/>
                <a:ea typeface="Calibri"/>
                <a:cs typeface="Calibri"/>
              </a:rPr>
              <a:t>Indexing</a:t>
            </a:r>
            <a:endParaRPr lang="en-US" sz="1050">
              <a:latin typeface="Calibri"/>
              <a:ea typeface="Calibri"/>
              <a:cs typeface="Calibri"/>
            </a:endParaRPr>
          </a:p>
        </p:txBody>
      </p:sp>
      <p:sp>
        <p:nvSpPr>
          <p:cNvPr id="15" name="Text 13"/>
          <p:cNvSpPr txBox="1"/>
          <p:nvPr/>
        </p:nvSpPr>
        <p:spPr>
          <a:xfrm>
            <a:off x="5862610"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6024590" y="2103120"/>
            <a:ext cx="1207008" cy="1005840"/>
          </a:xfrm>
          <a:prstGeom prst="roundRect">
            <a:avLst>
              <a:gd name="adj" fmla="val 7273"/>
            </a:avLst>
          </a:prstGeom>
          <a:solidFill>
            <a:schemeClr val="bg1"/>
          </a:solidFill>
          <a:ln/>
        </p:spPr>
      </p:sp>
      <p:sp>
        <p:nvSpPr>
          <p:cNvPr id="17" name="Text 15"/>
          <p:cNvSpPr txBox="1"/>
          <p:nvPr/>
        </p:nvSpPr>
        <p:spPr>
          <a:xfrm>
            <a:off x="6027977" y="2110175"/>
            <a:ext cx="1115568" cy="1005840"/>
          </a:xfrm>
          <a:prstGeom prst="rect">
            <a:avLst/>
          </a:prstGeom>
          <a:noFill/>
          <a:ln/>
        </p:spPr>
        <p:txBody>
          <a:bodyPr wrap="square" lIns="0" tIns="0" rIns="0" bIns="0" rtlCol="0" anchor="ctr"/>
          <a:lstStyle/>
          <a:p>
            <a:pPr marL="0" indent="0" algn="ctr">
              <a:lnSpc>
                <a:spcPct val="105000"/>
              </a:lnSpc>
              <a:buNone/>
            </a:pPr>
            <a:r>
              <a:rPr lang="en-US" sz="1050" b="1" dirty="0">
                <a:latin typeface="Calibri"/>
                <a:ea typeface="Calibri"/>
                <a:cs typeface="Calibri"/>
              </a:rPr>
              <a:t>Retrieval</a:t>
            </a:r>
            <a:endParaRPr lang="en-US" sz="1050">
              <a:latin typeface="Calibri"/>
              <a:ea typeface="Calibri"/>
              <a:cs typeface="Calibri"/>
            </a:endParaRPr>
          </a:p>
        </p:txBody>
      </p:sp>
      <p:sp>
        <p:nvSpPr>
          <p:cNvPr id="18" name="Text 16"/>
          <p:cNvSpPr txBox="1"/>
          <p:nvPr/>
        </p:nvSpPr>
        <p:spPr>
          <a:xfrm>
            <a:off x="7231598"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7393577" y="2103120"/>
            <a:ext cx="1207008" cy="1005840"/>
          </a:xfrm>
          <a:prstGeom prst="roundRect">
            <a:avLst>
              <a:gd name="adj" fmla="val 7273"/>
            </a:avLst>
          </a:prstGeom>
          <a:solidFill>
            <a:schemeClr val="bg1"/>
          </a:solidFill>
          <a:ln/>
        </p:spPr>
      </p:sp>
      <p:sp>
        <p:nvSpPr>
          <p:cNvPr id="20" name="Text 18"/>
          <p:cNvSpPr txBox="1"/>
          <p:nvPr/>
        </p:nvSpPr>
        <p:spPr>
          <a:xfrm>
            <a:off x="7439297" y="2110175"/>
            <a:ext cx="1115568" cy="1005840"/>
          </a:xfrm>
          <a:prstGeom prst="rect">
            <a:avLst/>
          </a:prstGeom>
          <a:noFill/>
          <a:ln/>
        </p:spPr>
        <p:txBody>
          <a:bodyPr wrap="square" lIns="0" tIns="0" rIns="0" bIns="0" rtlCol="0" anchor="ctr"/>
          <a:lstStyle/>
          <a:p>
            <a:pPr marL="0" indent="0" algn="ctr">
              <a:lnSpc>
                <a:spcPct val="105000"/>
              </a:lnSpc>
              <a:buNone/>
            </a:pPr>
            <a:r>
              <a:rPr lang="en-US" sz="1050" b="1" dirty="0">
                <a:latin typeface="Calibri"/>
                <a:ea typeface="Calibri"/>
                <a:cs typeface="Calibri"/>
              </a:rPr>
              <a:t>Reranking</a:t>
            </a:r>
            <a:endParaRPr lang="en-US" sz="1050">
              <a:latin typeface="Calibri"/>
              <a:ea typeface="Calibri"/>
              <a:cs typeface="Calibri"/>
            </a:endParaRPr>
          </a:p>
        </p:txBody>
      </p:sp>
      <p:sp>
        <p:nvSpPr>
          <p:cNvPr id="21" name="Text 19"/>
          <p:cNvSpPr txBox="1"/>
          <p:nvPr/>
        </p:nvSpPr>
        <p:spPr>
          <a:xfrm>
            <a:off x="8600585"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8762565" y="2103120"/>
            <a:ext cx="1207008" cy="1005840"/>
          </a:xfrm>
          <a:prstGeom prst="roundRect">
            <a:avLst>
              <a:gd name="adj" fmla="val 7273"/>
            </a:avLst>
          </a:prstGeom>
          <a:solidFill>
            <a:schemeClr val="bg1"/>
          </a:solidFill>
          <a:ln/>
        </p:spPr>
      </p:sp>
      <p:sp>
        <p:nvSpPr>
          <p:cNvPr id="23" name="Text 21"/>
          <p:cNvSpPr txBox="1"/>
          <p:nvPr/>
        </p:nvSpPr>
        <p:spPr>
          <a:xfrm>
            <a:off x="8808285" y="2110176"/>
            <a:ext cx="1115568" cy="1005840"/>
          </a:xfrm>
          <a:prstGeom prst="rect">
            <a:avLst/>
          </a:prstGeom>
          <a:noFill/>
          <a:ln/>
        </p:spPr>
        <p:txBody>
          <a:bodyPr wrap="square" lIns="0" tIns="0" rIns="0" bIns="0" rtlCol="0" anchor="ctr"/>
          <a:lstStyle/>
          <a:p>
            <a:pPr marL="0" indent="0" algn="ctr">
              <a:lnSpc>
                <a:spcPct val="105000"/>
              </a:lnSpc>
              <a:buNone/>
            </a:pPr>
            <a:r>
              <a:rPr lang="en-US" sz="1050" b="1" dirty="0">
                <a:latin typeface="Calibri"/>
                <a:ea typeface="Calibri"/>
                <a:cs typeface="Calibri"/>
              </a:rPr>
              <a:t>LLM</a:t>
            </a:r>
            <a:endParaRPr lang="en-US" sz="1050">
              <a:latin typeface="Calibri"/>
              <a:ea typeface="Calibri"/>
              <a:cs typeface="Calibri"/>
            </a:endParaRPr>
          </a:p>
          <a:p>
            <a:pPr marL="0" indent="0" algn="ctr">
              <a:lnSpc>
                <a:spcPct val="105000"/>
              </a:lnSpc>
              <a:buNone/>
            </a:pPr>
            <a:r>
              <a:rPr lang="en-US" sz="1050" b="1" dirty="0">
                <a:latin typeface="Calibri"/>
                <a:ea typeface="Calibri"/>
                <a:cs typeface="Calibri"/>
              </a:rPr>
              <a:t>Generation</a:t>
            </a:r>
            <a:endParaRPr lang="en-US" sz="1050">
              <a:latin typeface="Calibri"/>
              <a:ea typeface="Calibri"/>
              <a:cs typeface="Calibri"/>
            </a:endParaRPr>
          </a:p>
        </p:txBody>
      </p:sp>
      <p:sp>
        <p:nvSpPr>
          <p:cNvPr id="24" name="Text 22"/>
          <p:cNvSpPr txBox="1"/>
          <p:nvPr/>
        </p:nvSpPr>
        <p:spPr>
          <a:xfrm>
            <a:off x="9969573" y="2103120"/>
            <a:ext cx="161979" cy="1005840"/>
          </a:xfrm>
          <a:prstGeom prst="rect">
            <a:avLst/>
          </a:prstGeom>
          <a:noFill/>
          <a:ln/>
        </p:spPr>
        <p:txBody>
          <a:bodyPr wrap="square" lIns="0" tIns="0" rIns="0" bIns="0" rtlCol="0" anchor="ctr"/>
          <a:lstStyle/>
          <a:p>
            <a:pPr marL="0" indent="0" algn="ctr">
              <a:buNone/>
            </a:pPr>
            <a:r>
              <a:rPr lang="en-US" sz="1800" b="1" dirty="0">
                <a:solidFill>
                  <a:srgbClr val="E8A33D"/>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10131552" y="2103120"/>
            <a:ext cx="1207008" cy="1005840"/>
          </a:xfrm>
          <a:prstGeom prst="roundRect">
            <a:avLst>
              <a:gd name="adj" fmla="val 7273"/>
            </a:avLst>
          </a:prstGeom>
          <a:solidFill>
            <a:schemeClr val="tx1"/>
          </a:solidFill>
          <a:ln/>
        </p:spPr>
      </p:sp>
      <p:sp>
        <p:nvSpPr>
          <p:cNvPr id="26" name="Text 24"/>
          <p:cNvSpPr txBox="1"/>
          <p:nvPr/>
        </p:nvSpPr>
        <p:spPr>
          <a:xfrm>
            <a:off x="10177272" y="2110176"/>
            <a:ext cx="1115568" cy="1005840"/>
          </a:xfrm>
          <a:prstGeom prst="rect">
            <a:avLst/>
          </a:prstGeom>
          <a:solidFill>
            <a:schemeClr val="tx1"/>
          </a:solidFill>
          <a:ln/>
        </p:spPr>
        <p:txBody>
          <a:bodyPr wrap="square" lIns="0" tIns="0" rIns="0" bIns="0" rtlCol="0" anchor="ct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Answer +</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Citations</a:t>
            </a:r>
            <a:endParaRPr lang="en-US" sz="1050" dirty="0"/>
          </a:p>
        </p:txBody>
      </p:sp>
      <p:sp>
        <p:nvSpPr>
          <p:cNvPr id="27" name="Shape 25"/>
          <p:cNvSpPr/>
          <p:nvPr/>
        </p:nvSpPr>
        <p:spPr>
          <a:xfrm>
            <a:off x="548640" y="3520440"/>
            <a:ext cx="10789920" cy="1051560"/>
          </a:xfrm>
          <a:prstGeom prst="roundRect">
            <a:avLst>
              <a:gd name="adj" fmla="val 8696"/>
            </a:avLst>
          </a:prstGeom>
          <a:solidFill>
            <a:srgbClr val="EAF0F3"/>
          </a:solidFill>
          <a:ln w="12700">
            <a:solidFill>
              <a:srgbClr val="DCE3E8"/>
            </a:solidFill>
            <a:prstDash val="solid"/>
          </a:ln>
        </p:spPr>
      </p:sp>
      <p:sp>
        <p:nvSpPr>
          <p:cNvPr id="28" name="Text 26"/>
          <p:cNvSpPr txBox="1"/>
          <p:nvPr/>
        </p:nvSpPr>
        <p:spPr>
          <a:xfrm>
            <a:off x="822960" y="3520440"/>
            <a:ext cx="10241280" cy="1051560"/>
          </a:xfrm>
          <a:prstGeom prst="rect">
            <a:avLst/>
          </a:prstGeom>
          <a:noFill/>
          <a:ln/>
        </p:spPr>
        <p:txBody>
          <a:bodyPr wrap="square" lIns="0" tIns="0" rIns="0" bIns="0" rtlCol="0" anchor="ctr"/>
          <a:lstStyle/>
          <a:p>
            <a:pPr marL="0" indent="0">
              <a:lnSpc>
                <a:spcPct val="125000"/>
              </a:lnSpc>
              <a:buNone/>
            </a:pPr>
            <a:r>
              <a:rPr lang="en-US" sz="1350" b="1" dirty="0">
                <a:latin typeface="Calibri"/>
                <a:ea typeface="Calibri"/>
                <a:cs typeface="Calibri"/>
              </a:rPr>
              <a:t>Design principle:  </a:t>
            </a:r>
            <a:r>
              <a:rPr lang="en-US" sz="1350" dirty="0">
                <a:latin typeface="Calibri"/>
                <a:ea typeface="Calibri"/>
                <a:cs typeface="Calibri"/>
              </a:rPr>
              <a:t>retrieve relevant information from the research papers before generating the answer, rather than depending only on the LLM's existing knowledge.</a:t>
            </a:r>
            <a:endParaRPr lang="en-US" sz="1350">
              <a:latin typeface="Calibri"/>
              <a:ea typeface="Calibri"/>
              <a:cs typeface="Calibri"/>
            </a:endParaRPr>
          </a:p>
        </p:txBody>
      </p:sp>
      <p:sp>
        <p:nvSpPr>
          <p:cNvPr id="30" name="Text 2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08</a:t>
            </a:r>
            <a:endParaRPr lang="en-US" sz="1000" dirty="0"/>
          </a:p>
        </p:txBody>
      </p:sp>
      <p:pic>
        <p:nvPicPr>
          <p:cNvPr id="31" name="Picture 30" descr="A red and black text on a black background&#10;&#10;AI-generated content may be incorrect.">
            <a:extLst>
              <a:ext uri="{FF2B5EF4-FFF2-40B4-BE49-F238E27FC236}">
                <a16:creationId xmlns:a16="http://schemas.microsoft.com/office/drawing/2014/main" id="{BE3CAF22-3302-E3CA-3768-9747F72149B7}"/>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EXPERIMENTAL DESIGN</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Four configurations under comparison</a:t>
            </a:r>
            <a:endParaRPr lang="en-US" sz="3200">
              <a:latin typeface="Cambria"/>
              <a:ea typeface="Cambria"/>
              <a:cs typeface="Calibri"/>
            </a:endParaRPr>
          </a:p>
        </p:txBody>
      </p:sp>
      <p:graphicFrame>
        <p:nvGraphicFramePr>
          <p:cNvPr id="10" name="Table 0"/>
          <p:cNvGraphicFramePr>
            <a:graphicFrameLocks noGrp="1"/>
          </p:cNvGraphicFramePr>
          <p:nvPr>
            <p:extLst>
              <p:ext uri="{D42A27DB-BD31-4B8C-83A1-F6EECF244321}">
                <p14:modId xmlns:p14="http://schemas.microsoft.com/office/powerpoint/2010/main" val="1106950817"/>
              </p:ext>
            </p:extLst>
          </p:nvPr>
        </p:nvGraphicFramePr>
        <p:xfrm>
          <a:off x="548640" y="1828800"/>
          <a:ext cx="10789920" cy="2651760"/>
        </p:xfrm>
        <a:graphic>
          <a:graphicData uri="http://schemas.openxmlformats.org/drawingml/2006/table">
            <a:tbl>
              <a:tblPr/>
              <a:tblGrid>
                <a:gridCol w="14630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tblGrid>
              <a:tr h="530352">
                <a:tc>
                  <a:txBody>
                    <a:bodyPr/>
                    <a:lstStyle/>
                    <a:p>
                      <a:pPr marL="0" indent="0" algn="ctr">
                        <a:buNone/>
                      </a:pPr>
                      <a:r>
                        <a:rPr lang="en-US" sz="1300" b="1" dirty="0">
                          <a:solidFill>
                            <a:schemeClr val="bg1"/>
                          </a:solidFill>
                          <a:latin typeface="Calibri"/>
                          <a:ea typeface="Calibri"/>
                          <a:cs typeface="Calibri"/>
                        </a:rPr>
                        <a:t>Config</a:t>
                      </a:r>
                      <a:endParaRPr lang="en-US" sz="13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latin typeface="Calibri"/>
                          <a:ea typeface="Calibri"/>
                          <a:cs typeface="Calibri"/>
                        </a:rPr>
                        <a:t>Chunking</a:t>
                      </a:r>
                      <a:endParaRPr lang="en-US" sz="13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latin typeface="Calibri"/>
                          <a:ea typeface="Calibri"/>
                          <a:cs typeface="Calibri"/>
                        </a:rPr>
                        <a:t>Retrieval</a:t>
                      </a:r>
                      <a:endParaRPr lang="en-US" sz="13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latin typeface="Calibri"/>
                          <a:ea typeface="Calibri"/>
                          <a:cs typeface="Calibri"/>
                        </a:rPr>
                        <a:t>Reranking</a:t>
                      </a:r>
                      <a:endParaRPr lang="en-US" sz="13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tc>
                  <a:txBody>
                    <a:bodyPr/>
                    <a:lstStyle/>
                    <a:p>
                      <a:pPr marL="0" indent="0" algn="ctr">
                        <a:buNone/>
                      </a:pPr>
                      <a:r>
                        <a:rPr lang="en-US" sz="1300" b="1" dirty="0">
                          <a:solidFill>
                            <a:schemeClr val="bg1"/>
                          </a:solidFill>
                          <a:latin typeface="Calibri"/>
                          <a:ea typeface="Calibri"/>
                          <a:cs typeface="Calibri"/>
                        </a:rPr>
                        <a:t>Generation</a:t>
                      </a:r>
                      <a:endParaRPr lang="en-US" sz="13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30352">
                <a:tc>
                  <a:txBody>
                    <a:bodyPr/>
                    <a:lstStyle/>
                    <a:p>
                      <a:pPr marL="0" indent="0" algn="ctr">
                        <a:buNone/>
                      </a:pPr>
                      <a:r>
                        <a:rPr lang="en-US" sz="1350" b="1" dirty="0">
                          <a:solidFill>
                            <a:schemeClr val="tx1"/>
                          </a:solidFill>
                          <a:latin typeface="Calibri"/>
                          <a:ea typeface="Calibri"/>
                          <a:cs typeface="Calibri"/>
                        </a:rPr>
                        <a:t>1</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Fixed</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BM25</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None</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LLM</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0352">
                <a:tc>
                  <a:txBody>
                    <a:bodyPr/>
                    <a:lstStyle/>
                    <a:p>
                      <a:pPr marL="0" indent="0" algn="ctr">
                        <a:buNone/>
                      </a:pPr>
                      <a:r>
                        <a:rPr lang="en-US" sz="1350" b="1" dirty="0">
                          <a:solidFill>
                            <a:schemeClr val="tx1"/>
                          </a:solidFill>
                          <a:latin typeface="Calibri"/>
                          <a:ea typeface="Calibri"/>
                          <a:cs typeface="Calibri"/>
                        </a:rPr>
                        <a:t>2</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Recursive</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Dense</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None</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LLM</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0352">
                <a:tc>
                  <a:txBody>
                    <a:bodyPr/>
                    <a:lstStyle/>
                    <a:p>
                      <a:pPr marL="0" indent="0" algn="ctr">
                        <a:buNone/>
                      </a:pPr>
                      <a:r>
                        <a:rPr lang="en-US" sz="1350" b="1" dirty="0">
                          <a:solidFill>
                            <a:schemeClr val="tx1"/>
                          </a:solidFill>
                          <a:latin typeface="Calibri"/>
                          <a:ea typeface="Calibri"/>
                          <a:cs typeface="Calibri"/>
                        </a:rPr>
                        <a:t>3</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Recursive</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Hybrid</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Yes</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LLM</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0352">
                <a:tc>
                  <a:txBody>
                    <a:bodyPr/>
                    <a:lstStyle/>
                    <a:p>
                      <a:pPr marL="0" indent="0" algn="ctr">
                        <a:buNone/>
                      </a:pPr>
                      <a:r>
                        <a:rPr lang="en-US" sz="1350" b="1" dirty="0">
                          <a:solidFill>
                            <a:schemeClr val="tx1"/>
                          </a:solidFill>
                          <a:latin typeface="Calibri"/>
                          <a:ea typeface="Calibri"/>
                          <a:cs typeface="Calibri"/>
                        </a:rPr>
                        <a:t>4</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Semantic</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Hybrid</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Yes</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lgn="ctr">
                        <a:buNone/>
                      </a:pPr>
                      <a:r>
                        <a:rPr lang="en-US" sz="1350" dirty="0">
                          <a:solidFill>
                            <a:schemeClr val="tx1"/>
                          </a:solidFill>
                          <a:latin typeface="Calibri"/>
                          <a:ea typeface="Calibri"/>
                          <a:cs typeface="Calibri"/>
                        </a:rPr>
                        <a:t>LLM</a:t>
                      </a:r>
                      <a:endParaRPr lang="en-US" sz="13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09</a:t>
            </a:r>
            <a:endParaRPr lang="en-US" sz="1000" dirty="0"/>
          </a:p>
        </p:txBody>
      </p:sp>
      <p:pic>
        <p:nvPicPr>
          <p:cNvPr id="5" name="Picture 4" descr="A red and black text on a black background&#10;&#10;AI-generated content may be incorrect.">
            <a:extLst>
              <a:ext uri="{FF2B5EF4-FFF2-40B4-BE49-F238E27FC236}">
                <a16:creationId xmlns:a16="http://schemas.microsoft.com/office/drawing/2014/main" id="{AD42E708-56DA-EAC1-8D46-2356DB2A1DAF}"/>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3" name="Text 1"/>
          <p:cNvSpPr txBox="1"/>
          <p:nvPr/>
        </p:nvSpPr>
        <p:spPr>
          <a:xfrm>
            <a:off x="548640" y="367631"/>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What the system should do</a:t>
            </a:r>
            <a:endParaRPr lang="en-US" sz="3200" dirty="0">
              <a:latin typeface="Calibri"/>
              <a:ea typeface="Calibri"/>
              <a:cs typeface="Calibri"/>
            </a:endParaRPr>
          </a:p>
        </p:txBody>
      </p:sp>
      <p:sp>
        <p:nvSpPr>
          <p:cNvPr id="4" name="Shape 2"/>
          <p:cNvSpPr/>
          <p:nvPr/>
        </p:nvSpPr>
        <p:spPr>
          <a:xfrm>
            <a:off x="548640" y="1883664"/>
            <a:ext cx="201168" cy="201168"/>
          </a:xfrm>
          <a:prstGeom prst="roundRect">
            <a:avLst>
              <a:gd name="adj" fmla="val 18182"/>
            </a:avLst>
          </a:prstGeom>
          <a:solidFill>
            <a:schemeClr val="tx1"/>
          </a:solidFill>
          <a:ln/>
        </p:spPr>
      </p:sp>
      <p:sp>
        <p:nvSpPr>
          <p:cNvPr id="5" name="Text 3"/>
          <p:cNvSpPr txBox="1"/>
          <p:nvPr/>
        </p:nvSpPr>
        <p:spPr>
          <a:xfrm>
            <a:off x="868680" y="182880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Allow the user to upload academic research papers</a:t>
            </a:r>
            <a:endParaRPr lang="en-US" sz="1250" dirty="0"/>
          </a:p>
        </p:txBody>
      </p:sp>
      <p:sp>
        <p:nvSpPr>
          <p:cNvPr id="6" name="Shape 4"/>
          <p:cNvSpPr/>
          <p:nvPr/>
        </p:nvSpPr>
        <p:spPr>
          <a:xfrm>
            <a:off x="548640" y="2660904"/>
            <a:ext cx="201168" cy="201168"/>
          </a:xfrm>
          <a:prstGeom prst="roundRect">
            <a:avLst>
              <a:gd name="adj" fmla="val 18182"/>
            </a:avLst>
          </a:prstGeom>
          <a:solidFill>
            <a:schemeClr val="tx1"/>
          </a:solidFill>
          <a:ln/>
        </p:spPr>
      </p:sp>
      <p:sp>
        <p:nvSpPr>
          <p:cNvPr id="7" name="Text 5"/>
          <p:cNvSpPr txBox="1"/>
          <p:nvPr/>
        </p:nvSpPr>
        <p:spPr>
          <a:xfrm>
            <a:off x="868680" y="260604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Extract text from the uploaded papers</a:t>
            </a:r>
            <a:endParaRPr lang="en-US" sz="1250" dirty="0"/>
          </a:p>
        </p:txBody>
      </p:sp>
      <p:sp>
        <p:nvSpPr>
          <p:cNvPr id="8" name="Shape 6"/>
          <p:cNvSpPr/>
          <p:nvPr/>
        </p:nvSpPr>
        <p:spPr>
          <a:xfrm>
            <a:off x="548640" y="3438144"/>
            <a:ext cx="201168" cy="201168"/>
          </a:xfrm>
          <a:prstGeom prst="roundRect">
            <a:avLst>
              <a:gd name="adj" fmla="val 18182"/>
            </a:avLst>
          </a:prstGeom>
          <a:solidFill>
            <a:schemeClr val="tx1"/>
          </a:solidFill>
          <a:ln/>
        </p:spPr>
      </p:sp>
      <p:sp>
        <p:nvSpPr>
          <p:cNvPr id="9" name="Text 7"/>
          <p:cNvSpPr txBox="1"/>
          <p:nvPr/>
        </p:nvSpPr>
        <p:spPr>
          <a:xfrm>
            <a:off x="868680" y="338328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Split papers into chunks using the selected method</a:t>
            </a:r>
            <a:endParaRPr lang="en-US" sz="1250" dirty="0"/>
          </a:p>
        </p:txBody>
      </p:sp>
      <p:sp>
        <p:nvSpPr>
          <p:cNvPr id="10" name="Shape 8"/>
          <p:cNvSpPr/>
          <p:nvPr/>
        </p:nvSpPr>
        <p:spPr>
          <a:xfrm>
            <a:off x="548640" y="4215384"/>
            <a:ext cx="201168" cy="201168"/>
          </a:xfrm>
          <a:prstGeom prst="roundRect">
            <a:avLst>
              <a:gd name="adj" fmla="val 18182"/>
            </a:avLst>
          </a:prstGeom>
          <a:solidFill>
            <a:schemeClr val="tx1"/>
          </a:solidFill>
          <a:ln/>
        </p:spPr>
      </p:sp>
      <p:sp>
        <p:nvSpPr>
          <p:cNvPr id="11" name="Text 9"/>
          <p:cNvSpPr txBox="1"/>
          <p:nvPr/>
        </p:nvSpPr>
        <p:spPr>
          <a:xfrm>
            <a:off x="868680" y="416052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Store / index chunks for retrieval</a:t>
            </a:r>
            <a:endParaRPr lang="en-US" sz="1250" dirty="0"/>
          </a:p>
        </p:txBody>
      </p:sp>
      <p:sp>
        <p:nvSpPr>
          <p:cNvPr id="12" name="Shape 10"/>
          <p:cNvSpPr/>
          <p:nvPr/>
        </p:nvSpPr>
        <p:spPr>
          <a:xfrm>
            <a:off x="548640" y="4992624"/>
            <a:ext cx="201168" cy="201168"/>
          </a:xfrm>
          <a:prstGeom prst="roundRect">
            <a:avLst>
              <a:gd name="adj" fmla="val 18182"/>
            </a:avLst>
          </a:prstGeom>
          <a:solidFill>
            <a:schemeClr val="tx1"/>
          </a:solidFill>
          <a:ln/>
        </p:spPr>
      </p:sp>
      <p:sp>
        <p:nvSpPr>
          <p:cNvPr id="13" name="Text 11"/>
          <p:cNvSpPr txBox="1"/>
          <p:nvPr/>
        </p:nvSpPr>
        <p:spPr>
          <a:xfrm>
            <a:off x="868680" y="493776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Accept questions from the user</a:t>
            </a:r>
            <a:endParaRPr lang="en-US" sz="1250" dirty="0"/>
          </a:p>
        </p:txBody>
      </p:sp>
      <p:sp>
        <p:nvSpPr>
          <p:cNvPr id="14" name="Shape 12"/>
          <p:cNvSpPr/>
          <p:nvPr/>
        </p:nvSpPr>
        <p:spPr>
          <a:xfrm>
            <a:off x="6309360" y="1883664"/>
            <a:ext cx="201168" cy="201168"/>
          </a:xfrm>
          <a:prstGeom prst="roundRect">
            <a:avLst>
              <a:gd name="adj" fmla="val 18182"/>
            </a:avLst>
          </a:prstGeom>
          <a:solidFill>
            <a:schemeClr val="tx1"/>
          </a:solidFill>
          <a:ln/>
        </p:spPr>
      </p:sp>
      <p:sp>
        <p:nvSpPr>
          <p:cNvPr id="15" name="Text 13"/>
          <p:cNvSpPr txBox="1"/>
          <p:nvPr/>
        </p:nvSpPr>
        <p:spPr>
          <a:xfrm>
            <a:off x="6629400" y="182880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Retrieve relevant chunks from the papers</a:t>
            </a:r>
            <a:endParaRPr lang="en-US" sz="1250" dirty="0"/>
          </a:p>
        </p:txBody>
      </p:sp>
      <p:sp>
        <p:nvSpPr>
          <p:cNvPr id="16" name="Shape 14"/>
          <p:cNvSpPr/>
          <p:nvPr/>
        </p:nvSpPr>
        <p:spPr>
          <a:xfrm>
            <a:off x="6309360" y="2660904"/>
            <a:ext cx="201168" cy="201168"/>
          </a:xfrm>
          <a:prstGeom prst="roundRect">
            <a:avLst>
              <a:gd name="adj" fmla="val 18182"/>
            </a:avLst>
          </a:prstGeom>
          <a:solidFill>
            <a:schemeClr val="tx1"/>
          </a:solidFill>
          <a:ln/>
        </p:spPr>
      </p:sp>
      <p:sp>
        <p:nvSpPr>
          <p:cNvPr id="17" name="Text 15"/>
          <p:cNvSpPr txBox="1"/>
          <p:nvPr/>
        </p:nvSpPr>
        <p:spPr>
          <a:xfrm>
            <a:off x="6629400" y="260604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Rerank retrieved chunks when configured</a:t>
            </a:r>
            <a:endParaRPr lang="en-US" sz="1250" dirty="0"/>
          </a:p>
        </p:txBody>
      </p:sp>
      <p:sp>
        <p:nvSpPr>
          <p:cNvPr id="18" name="Shape 16"/>
          <p:cNvSpPr/>
          <p:nvPr/>
        </p:nvSpPr>
        <p:spPr>
          <a:xfrm>
            <a:off x="6309360" y="3438144"/>
            <a:ext cx="201168" cy="201168"/>
          </a:xfrm>
          <a:prstGeom prst="roundRect">
            <a:avLst>
              <a:gd name="adj" fmla="val 18182"/>
            </a:avLst>
          </a:prstGeom>
          <a:solidFill>
            <a:schemeClr val="tx1"/>
          </a:solidFill>
          <a:ln/>
        </p:spPr>
      </p:sp>
      <p:sp>
        <p:nvSpPr>
          <p:cNvPr id="19" name="Text 17"/>
          <p:cNvSpPr txBox="1"/>
          <p:nvPr/>
        </p:nvSpPr>
        <p:spPr>
          <a:xfrm>
            <a:off x="6629400" y="338328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Generate an answer using retrieved context</a:t>
            </a:r>
            <a:endParaRPr lang="en-US" sz="1250" dirty="0"/>
          </a:p>
        </p:txBody>
      </p:sp>
      <p:sp>
        <p:nvSpPr>
          <p:cNvPr id="20" name="Shape 18"/>
          <p:cNvSpPr/>
          <p:nvPr/>
        </p:nvSpPr>
        <p:spPr>
          <a:xfrm>
            <a:off x="6309360" y="4215384"/>
            <a:ext cx="201168" cy="201168"/>
          </a:xfrm>
          <a:prstGeom prst="roundRect">
            <a:avLst>
              <a:gd name="adj" fmla="val 18182"/>
            </a:avLst>
          </a:prstGeom>
          <a:solidFill>
            <a:schemeClr val="tx1"/>
          </a:solidFill>
          <a:ln/>
        </p:spPr>
      </p:sp>
      <p:sp>
        <p:nvSpPr>
          <p:cNvPr id="21" name="Text 19"/>
          <p:cNvSpPr txBox="1"/>
          <p:nvPr/>
        </p:nvSpPr>
        <p:spPr>
          <a:xfrm>
            <a:off x="6629400" y="416052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Display supporting sources / citations</a:t>
            </a:r>
            <a:endParaRPr lang="en-US" sz="1250" dirty="0"/>
          </a:p>
        </p:txBody>
      </p:sp>
      <p:sp>
        <p:nvSpPr>
          <p:cNvPr id="22" name="Shape 20"/>
          <p:cNvSpPr/>
          <p:nvPr/>
        </p:nvSpPr>
        <p:spPr>
          <a:xfrm>
            <a:off x="6309360" y="4992624"/>
            <a:ext cx="201168" cy="201168"/>
          </a:xfrm>
          <a:prstGeom prst="roundRect">
            <a:avLst>
              <a:gd name="adj" fmla="val 18182"/>
            </a:avLst>
          </a:prstGeom>
          <a:solidFill>
            <a:schemeClr val="tx1"/>
          </a:solidFill>
          <a:ln/>
        </p:spPr>
      </p:sp>
      <p:sp>
        <p:nvSpPr>
          <p:cNvPr id="23" name="Text 21"/>
          <p:cNvSpPr txBox="1"/>
          <p:nvPr/>
        </p:nvSpPr>
        <p:spPr>
          <a:xfrm>
            <a:off x="6629400" y="4937760"/>
            <a:ext cx="5029200" cy="777240"/>
          </a:xfrm>
          <a:prstGeom prst="rect">
            <a:avLst/>
          </a:prstGeom>
          <a:noFill/>
          <a:ln/>
        </p:spPr>
        <p:txBody>
          <a:bodyPr wrap="square" lIns="0" tIns="0" rIns="0" bIns="0" rtlCol="0" anchor="t"/>
          <a:lstStyle/>
          <a:p>
            <a:pPr marL="0" indent="0">
              <a:lnSpc>
                <a:spcPct val="115000"/>
              </a:lnSpc>
              <a:buNone/>
            </a:pPr>
            <a:r>
              <a:rPr lang="en-US" sz="1250" dirty="0">
                <a:solidFill>
                  <a:srgbClr val="1A1A1A"/>
                </a:solidFill>
                <a:latin typeface="Calibri" pitchFamily="34" charset="0"/>
                <a:ea typeface="Calibri" pitchFamily="34" charset="-122"/>
                <a:cs typeface="Calibri" pitchFamily="34" charset="-120"/>
              </a:rPr>
              <a:t>Evaluate answers against the reference dataset</a:t>
            </a:r>
            <a:endParaRPr lang="en-US" sz="1250" dirty="0"/>
          </a:p>
        </p:txBody>
      </p:sp>
      <p:sp>
        <p:nvSpPr>
          <p:cNvPr id="24"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pic>
        <p:nvPicPr>
          <p:cNvPr id="26" name="Picture 25" descr="A red and black text on a black background&#10;&#10;AI-generated content may be incorrect.">
            <a:extLst>
              <a:ext uri="{FF2B5EF4-FFF2-40B4-BE49-F238E27FC236}">
                <a16:creationId xmlns:a16="http://schemas.microsoft.com/office/drawing/2014/main" id="{F9A67777-D974-B748-F263-B27D83EAC76B}"/>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3" name="Text 1"/>
          <p:cNvSpPr txBox="1"/>
          <p:nvPr/>
        </p:nvSpPr>
        <p:spPr>
          <a:xfrm>
            <a:off x="548640" y="223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How well the system should perform</a:t>
            </a:r>
            <a:endParaRPr lang="en-US" sz="3200">
              <a:latin typeface="Cambria"/>
              <a:ea typeface="Cambria"/>
              <a:cs typeface="Calibri"/>
            </a:endParaRPr>
          </a:p>
        </p:txBody>
      </p:sp>
      <p:sp>
        <p:nvSpPr>
          <p:cNvPr id="4" name="Shape 2"/>
          <p:cNvSpPr/>
          <p:nvPr/>
        </p:nvSpPr>
        <p:spPr>
          <a:xfrm>
            <a:off x="548640" y="1783080"/>
            <a:ext cx="3429000" cy="1920240"/>
          </a:xfrm>
          <a:prstGeom prst="roundRect">
            <a:avLst>
              <a:gd name="adj" fmla="val 4762"/>
            </a:avLst>
          </a:prstGeom>
          <a:solidFill>
            <a:schemeClr val="tx1"/>
          </a:solidFill>
          <a:ln/>
        </p:spPr>
      </p:sp>
      <p:sp>
        <p:nvSpPr>
          <p:cNvPr id="5" name="Text 3"/>
          <p:cNvSpPr txBox="1"/>
          <p:nvPr/>
        </p:nvSpPr>
        <p:spPr>
          <a:xfrm>
            <a:off x="82296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Accurate</a:t>
            </a:r>
            <a:endParaRPr lang="en-US" sz="1800" dirty="0"/>
          </a:p>
        </p:txBody>
      </p:sp>
      <p:sp>
        <p:nvSpPr>
          <p:cNvPr id="6" name="Text 4"/>
          <p:cNvSpPr txBox="1"/>
          <p:nvPr/>
        </p:nvSpPr>
        <p:spPr>
          <a:xfrm>
            <a:off x="82296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Answers correctly reflect the information in the research papers.</a:t>
            </a:r>
            <a:endParaRPr lang="en-US" sz="1200" dirty="0"/>
          </a:p>
        </p:txBody>
      </p:sp>
      <p:sp>
        <p:nvSpPr>
          <p:cNvPr id="7" name="Shape 5"/>
          <p:cNvSpPr/>
          <p:nvPr/>
        </p:nvSpPr>
        <p:spPr>
          <a:xfrm>
            <a:off x="4297680" y="1783080"/>
            <a:ext cx="3429000" cy="1920240"/>
          </a:xfrm>
          <a:prstGeom prst="roundRect">
            <a:avLst>
              <a:gd name="adj" fmla="val 4762"/>
            </a:avLst>
          </a:prstGeom>
          <a:solidFill>
            <a:schemeClr val="tx1"/>
          </a:solidFill>
          <a:ln/>
        </p:spPr>
      </p:sp>
      <p:sp>
        <p:nvSpPr>
          <p:cNvPr id="8" name="Text 6"/>
          <p:cNvSpPr txBox="1"/>
          <p:nvPr/>
        </p:nvSpPr>
        <p:spPr>
          <a:xfrm>
            <a:off x="457200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Relevant</a:t>
            </a:r>
            <a:endParaRPr lang="en-US" sz="1800" dirty="0"/>
          </a:p>
        </p:txBody>
      </p:sp>
      <p:sp>
        <p:nvSpPr>
          <p:cNvPr id="9" name="Text 7"/>
          <p:cNvSpPr txBox="1"/>
          <p:nvPr/>
        </p:nvSpPr>
        <p:spPr>
          <a:xfrm>
            <a:off x="457200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Retrieved information relates directly to the user's question.</a:t>
            </a:r>
            <a:endParaRPr lang="en-US" sz="1200" dirty="0"/>
          </a:p>
        </p:txBody>
      </p:sp>
      <p:sp>
        <p:nvSpPr>
          <p:cNvPr id="10" name="Shape 8"/>
          <p:cNvSpPr/>
          <p:nvPr/>
        </p:nvSpPr>
        <p:spPr>
          <a:xfrm>
            <a:off x="8046720" y="1783080"/>
            <a:ext cx="3429000" cy="1920240"/>
          </a:xfrm>
          <a:prstGeom prst="roundRect">
            <a:avLst>
              <a:gd name="adj" fmla="val 4762"/>
            </a:avLst>
          </a:prstGeom>
          <a:solidFill>
            <a:schemeClr val="tx1"/>
          </a:solidFill>
          <a:ln/>
        </p:spPr>
      </p:sp>
      <p:sp>
        <p:nvSpPr>
          <p:cNvPr id="11" name="Text 9"/>
          <p:cNvSpPr txBox="1"/>
          <p:nvPr/>
        </p:nvSpPr>
        <p:spPr>
          <a:xfrm>
            <a:off x="8321040" y="201168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Reliable</a:t>
            </a:r>
            <a:endParaRPr lang="en-US" sz="1800" dirty="0"/>
          </a:p>
        </p:txBody>
      </p:sp>
      <p:sp>
        <p:nvSpPr>
          <p:cNvPr id="12" name="Text 10"/>
          <p:cNvSpPr txBox="1"/>
          <p:nvPr/>
        </p:nvSpPr>
        <p:spPr>
          <a:xfrm>
            <a:off x="8321040" y="256032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Reduces unsupported or hallucinated answers.</a:t>
            </a:r>
            <a:endParaRPr lang="en-US" sz="1200" dirty="0"/>
          </a:p>
        </p:txBody>
      </p:sp>
      <p:sp>
        <p:nvSpPr>
          <p:cNvPr id="13" name="Shape 11"/>
          <p:cNvSpPr/>
          <p:nvPr/>
        </p:nvSpPr>
        <p:spPr>
          <a:xfrm>
            <a:off x="548640" y="4023360"/>
            <a:ext cx="3429000" cy="1920240"/>
          </a:xfrm>
          <a:prstGeom prst="roundRect">
            <a:avLst>
              <a:gd name="adj" fmla="val 4762"/>
            </a:avLst>
          </a:prstGeom>
          <a:solidFill>
            <a:schemeClr val="tx1"/>
          </a:solidFill>
          <a:ln/>
        </p:spPr>
      </p:sp>
      <p:sp>
        <p:nvSpPr>
          <p:cNvPr id="14" name="Text 12"/>
          <p:cNvSpPr txBox="1"/>
          <p:nvPr/>
        </p:nvSpPr>
        <p:spPr>
          <a:xfrm>
            <a:off x="82296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Traceable</a:t>
            </a:r>
            <a:endParaRPr lang="en-US" sz="1800" dirty="0"/>
          </a:p>
        </p:txBody>
      </p:sp>
      <p:sp>
        <p:nvSpPr>
          <p:cNvPr id="15" name="Text 13"/>
          <p:cNvSpPr txBox="1"/>
          <p:nvPr/>
        </p:nvSpPr>
        <p:spPr>
          <a:xfrm>
            <a:off x="82296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Every answer is supported by the relevant paper or section.</a:t>
            </a:r>
            <a:endParaRPr lang="en-US" sz="1200" dirty="0"/>
          </a:p>
        </p:txBody>
      </p:sp>
      <p:sp>
        <p:nvSpPr>
          <p:cNvPr id="16" name="Shape 14"/>
          <p:cNvSpPr/>
          <p:nvPr/>
        </p:nvSpPr>
        <p:spPr>
          <a:xfrm>
            <a:off x="4297680" y="4023360"/>
            <a:ext cx="3429000" cy="1920240"/>
          </a:xfrm>
          <a:prstGeom prst="roundRect">
            <a:avLst>
              <a:gd name="adj" fmla="val 4762"/>
            </a:avLst>
          </a:prstGeom>
          <a:solidFill>
            <a:schemeClr val="tx1"/>
          </a:solidFill>
          <a:ln/>
        </p:spPr>
      </p:sp>
      <p:sp>
        <p:nvSpPr>
          <p:cNvPr id="17" name="Text 15"/>
          <p:cNvSpPr txBox="1"/>
          <p:nvPr/>
        </p:nvSpPr>
        <p:spPr>
          <a:xfrm>
            <a:off x="457200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Efficient</a:t>
            </a:r>
            <a:endParaRPr lang="en-US" sz="1800" dirty="0"/>
          </a:p>
        </p:txBody>
      </p:sp>
      <p:sp>
        <p:nvSpPr>
          <p:cNvPr id="18" name="Text 16"/>
          <p:cNvSpPr txBox="1"/>
          <p:nvPr/>
        </p:nvSpPr>
        <p:spPr>
          <a:xfrm>
            <a:off x="457200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Answers are returned within a reasonable amount of time.</a:t>
            </a:r>
            <a:endParaRPr lang="en-US" sz="1200" dirty="0"/>
          </a:p>
        </p:txBody>
      </p:sp>
      <p:sp>
        <p:nvSpPr>
          <p:cNvPr id="19" name="Shape 17"/>
          <p:cNvSpPr/>
          <p:nvPr/>
        </p:nvSpPr>
        <p:spPr>
          <a:xfrm>
            <a:off x="8046720" y="4023360"/>
            <a:ext cx="3429000" cy="1920240"/>
          </a:xfrm>
          <a:prstGeom prst="roundRect">
            <a:avLst>
              <a:gd name="adj" fmla="val 4762"/>
            </a:avLst>
          </a:prstGeom>
          <a:solidFill>
            <a:schemeClr val="tx1"/>
          </a:solidFill>
          <a:ln/>
        </p:spPr>
      </p:sp>
      <p:sp>
        <p:nvSpPr>
          <p:cNvPr id="20" name="Text 18"/>
          <p:cNvSpPr txBox="1"/>
          <p:nvPr/>
        </p:nvSpPr>
        <p:spPr>
          <a:xfrm>
            <a:off x="8321040" y="4251960"/>
            <a:ext cx="28803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Scalable</a:t>
            </a:r>
            <a:endParaRPr lang="en-US" sz="1800" dirty="0"/>
          </a:p>
        </p:txBody>
      </p:sp>
      <p:sp>
        <p:nvSpPr>
          <p:cNvPr id="21" name="Text 19"/>
          <p:cNvSpPr txBox="1"/>
          <p:nvPr/>
        </p:nvSpPr>
        <p:spPr>
          <a:xfrm>
            <a:off x="8321040" y="4800600"/>
            <a:ext cx="2880360" cy="960120"/>
          </a:xfrm>
          <a:prstGeom prst="rect">
            <a:avLst/>
          </a:prstGeom>
          <a:noFill/>
          <a:ln/>
        </p:spPr>
        <p:txBody>
          <a:bodyPr wrap="square" lIns="0" tIns="0" rIns="0" bIns="0" rtlCol="0" anchor="ctr"/>
          <a:lstStyle/>
          <a:p>
            <a:pPr marL="0" indent="0">
              <a:lnSpc>
                <a:spcPct val="120000"/>
              </a:lnSpc>
              <a:buNone/>
            </a:pPr>
            <a:r>
              <a:rPr lang="en-US" sz="1200" dirty="0">
                <a:solidFill>
                  <a:srgbClr val="E6EEF2"/>
                </a:solidFill>
                <a:latin typeface="Calibri" pitchFamily="34" charset="0"/>
                <a:ea typeface="Calibri" pitchFamily="34" charset="-122"/>
                <a:cs typeface="Calibri" pitchFamily="34" charset="-120"/>
              </a:rPr>
              <a:t>The design allows more research papers to be added later.</a:t>
            </a:r>
            <a:endParaRPr lang="en-US" sz="1200" dirty="0"/>
          </a:p>
        </p:txBody>
      </p:sp>
      <p:sp>
        <p:nvSpPr>
          <p:cNvPr id="22" name="Text 20"/>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pic>
        <p:nvPicPr>
          <p:cNvPr id="24" name="Picture 23" descr="A red and black text on a black background&#10;&#10;AI-generated content may be incorrect.">
            <a:extLst>
              <a:ext uri="{FF2B5EF4-FFF2-40B4-BE49-F238E27FC236}">
                <a16:creationId xmlns:a16="http://schemas.microsoft.com/office/drawing/2014/main" id="{E2E13E11-8B4D-3C87-C333-A36DDE0659F1}"/>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ASSUMPTIONS &amp; CONSTRAINTS</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Scope of the study</a:t>
            </a:r>
            <a:endParaRPr lang="en-US" sz="3200">
              <a:latin typeface="Calibri"/>
              <a:ea typeface="Calibri"/>
              <a:cs typeface="Calibri"/>
            </a:endParaRPr>
          </a:p>
        </p:txBody>
      </p:sp>
      <p:sp>
        <p:nvSpPr>
          <p:cNvPr id="4" name="Text 2"/>
          <p:cNvSpPr txBox="1"/>
          <p:nvPr/>
        </p:nvSpPr>
        <p:spPr>
          <a:xfrm>
            <a:off x="548640" y="1737360"/>
            <a:ext cx="5303520" cy="365760"/>
          </a:xfrm>
          <a:prstGeom prst="rect">
            <a:avLst/>
          </a:prstGeom>
          <a:noFill/>
          <a:ln/>
        </p:spPr>
        <p:txBody>
          <a:bodyPr wrap="square" lIns="0" tIns="0" rIns="0" bIns="0" rtlCol="0" anchor="ctr"/>
          <a:lstStyle/>
          <a:p>
            <a:pPr marL="0" indent="0">
              <a:buNone/>
            </a:pPr>
            <a:r>
              <a:rPr lang="en-US" sz="1300" b="1" kern="0" spc="150" dirty="0">
                <a:solidFill>
                  <a:schemeClr val="tx2"/>
                </a:solidFill>
                <a:latin typeface="Calibri"/>
                <a:ea typeface="Calibri"/>
                <a:cs typeface="Calibri"/>
              </a:rPr>
              <a:t>ASSUMPTIONS</a:t>
            </a:r>
            <a:endParaRPr lang="en-US" sz="1300">
              <a:solidFill>
                <a:schemeClr val="tx2"/>
              </a:solidFill>
              <a:latin typeface="Calibri"/>
              <a:ea typeface="Calibri"/>
              <a:cs typeface="Calibri"/>
            </a:endParaRPr>
          </a:p>
        </p:txBody>
      </p:sp>
      <p:sp>
        <p:nvSpPr>
          <p:cNvPr id="5" name="Shape 3"/>
          <p:cNvSpPr/>
          <p:nvPr/>
        </p:nvSpPr>
        <p:spPr>
          <a:xfrm>
            <a:off x="548640" y="2240280"/>
            <a:ext cx="109728" cy="109728"/>
          </a:xfrm>
          <a:prstGeom prst="ellipse">
            <a:avLst/>
          </a:prstGeom>
          <a:solidFill>
            <a:schemeClr val="tx2"/>
          </a:solidFill>
          <a:ln/>
        </p:spPr>
      </p:sp>
      <p:sp>
        <p:nvSpPr>
          <p:cNvPr id="6" name="Text 4"/>
          <p:cNvSpPr txBox="1"/>
          <p:nvPr/>
        </p:nvSpPr>
        <p:spPr>
          <a:xfrm>
            <a:off x="822960" y="219456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Input documents are valid, readable academic research papers.</a:t>
            </a:r>
            <a:endParaRPr lang="en-US" sz="1150" dirty="0"/>
          </a:p>
        </p:txBody>
      </p:sp>
      <p:sp>
        <p:nvSpPr>
          <p:cNvPr id="7" name="Shape 5"/>
          <p:cNvSpPr/>
          <p:nvPr/>
        </p:nvSpPr>
        <p:spPr>
          <a:xfrm>
            <a:off x="548640" y="2807208"/>
            <a:ext cx="109728" cy="109728"/>
          </a:xfrm>
          <a:prstGeom prst="ellipse">
            <a:avLst/>
          </a:prstGeom>
          <a:solidFill>
            <a:schemeClr val="tx2"/>
          </a:solidFill>
          <a:ln/>
        </p:spPr>
      </p:sp>
      <p:sp>
        <p:nvSpPr>
          <p:cNvPr id="8" name="Text 6"/>
          <p:cNvSpPr txBox="1"/>
          <p:nvPr/>
        </p:nvSpPr>
        <p:spPr>
          <a:xfrm>
            <a:off x="822960" y="2761488"/>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Important text can be extracted from the uploaded papers.</a:t>
            </a:r>
            <a:endParaRPr lang="en-US" sz="1150" dirty="0"/>
          </a:p>
        </p:txBody>
      </p:sp>
      <p:sp>
        <p:nvSpPr>
          <p:cNvPr id="9" name="Shape 7"/>
          <p:cNvSpPr/>
          <p:nvPr/>
        </p:nvSpPr>
        <p:spPr>
          <a:xfrm>
            <a:off x="548640" y="3374136"/>
            <a:ext cx="109728" cy="109728"/>
          </a:xfrm>
          <a:prstGeom prst="ellipse">
            <a:avLst/>
          </a:prstGeom>
          <a:solidFill>
            <a:schemeClr val="tx2"/>
          </a:solidFill>
          <a:ln/>
        </p:spPr>
      </p:sp>
      <p:sp>
        <p:nvSpPr>
          <p:cNvPr id="10" name="Text 8"/>
          <p:cNvSpPr txBox="1"/>
          <p:nvPr/>
        </p:nvSpPr>
        <p:spPr>
          <a:xfrm>
            <a:off x="822960" y="3328416"/>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Evaluation questions are relevant to the supplied papers.</a:t>
            </a:r>
            <a:endParaRPr lang="en-US" sz="1150" dirty="0"/>
          </a:p>
        </p:txBody>
      </p:sp>
      <p:sp>
        <p:nvSpPr>
          <p:cNvPr id="11" name="Shape 9"/>
          <p:cNvSpPr/>
          <p:nvPr/>
        </p:nvSpPr>
        <p:spPr>
          <a:xfrm>
            <a:off x="548640" y="3941064"/>
            <a:ext cx="109728" cy="109728"/>
          </a:xfrm>
          <a:prstGeom prst="ellipse">
            <a:avLst/>
          </a:prstGeom>
          <a:solidFill>
            <a:schemeClr val="tx2"/>
          </a:solidFill>
          <a:ln/>
        </p:spPr>
      </p:sp>
      <p:sp>
        <p:nvSpPr>
          <p:cNvPr id="12" name="Text 10"/>
          <p:cNvSpPr txBox="1"/>
          <p:nvPr/>
        </p:nvSpPr>
        <p:spPr>
          <a:xfrm>
            <a:off x="822960" y="3895344"/>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Reference answers can be used to evaluate generated answers.</a:t>
            </a:r>
            <a:endParaRPr lang="en-US" sz="1150" dirty="0"/>
          </a:p>
        </p:txBody>
      </p:sp>
      <p:sp>
        <p:nvSpPr>
          <p:cNvPr id="13" name="Shape 11"/>
          <p:cNvSpPr/>
          <p:nvPr/>
        </p:nvSpPr>
        <p:spPr>
          <a:xfrm>
            <a:off x="548640" y="4507992"/>
            <a:ext cx="109728" cy="109728"/>
          </a:xfrm>
          <a:prstGeom prst="ellipse">
            <a:avLst/>
          </a:prstGeom>
          <a:solidFill>
            <a:schemeClr val="tx2"/>
          </a:solidFill>
          <a:ln/>
        </p:spPr>
      </p:sp>
      <p:sp>
        <p:nvSpPr>
          <p:cNvPr id="14" name="Text 12"/>
          <p:cNvSpPr txBox="1"/>
          <p:nvPr/>
        </p:nvSpPr>
        <p:spPr>
          <a:xfrm>
            <a:off x="822960" y="4462272"/>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The LLM can generate an answer using retrieved context.</a:t>
            </a:r>
            <a:endParaRPr lang="en-US" sz="1150" dirty="0"/>
          </a:p>
        </p:txBody>
      </p:sp>
      <p:sp>
        <p:nvSpPr>
          <p:cNvPr id="15" name="Shape 13"/>
          <p:cNvSpPr/>
          <p:nvPr/>
        </p:nvSpPr>
        <p:spPr>
          <a:xfrm>
            <a:off x="548640" y="5074920"/>
            <a:ext cx="109728" cy="109728"/>
          </a:xfrm>
          <a:prstGeom prst="ellipse">
            <a:avLst/>
          </a:prstGeom>
          <a:solidFill>
            <a:schemeClr val="tx2"/>
          </a:solidFill>
          <a:ln/>
        </p:spPr>
      </p:sp>
      <p:sp>
        <p:nvSpPr>
          <p:cNvPr id="16" name="Text 14"/>
          <p:cNvSpPr txBox="1"/>
          <p:nvPr/>
        </p:nvSpPr>
        <p:spPr>
          <a:xfrm>
            <a:off x="822960" y="502920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Selected evaluation metrics reasonably measure performance.</a:t>
            </a:r>
            <a:endParaRPr lang="en-US" sz="1150" dirty="0"/>
          </a:p>
        </p:txBody>
      </p:sp>
      <p:sp>
        <p:nvSpPr>
          <p:cNvPr id="17" name="Text 15"/>
          <p:cNvSpPr txBox="1"/>
          <p:nvPr/>
        </p:nvSpPr>
        <p:spPr>
          <a:xfrm>
            <a:off x="6309360" y="1737360"/>
            <a:ext cx="5303520" cy="365760"/>
          </a:xfrm>
          <a:prstGeom prst="rect">
            <a:avLst/>
          </a:prstGeom>
          <a:noFill/>
          <a:ln/>
        </p:spPr>
        <p:txBody>
          <a:bodyPr wrap="square" lIns="0" tIns="0" rIns="0" bIns="0" rtlCol="0" anchor="ctr"/>
          <a:lstStyle/>
          <a:p>
            <a:pPr marL="0" indent="0">
              <a:buNone/>
            </a:pPr>
            <a:r>
              <a:rPr lang="en-US" sz="1300" b="1" kern="0" spc="150" dirty="0">
                <a:latin typeface="Calibri"/>
                <a:ea typeface="Calibri"/>
                <a:cs typeface="Calibri"/>
              </a:rPr>
              <a:t>CONSTRAINTS</a:t>
            </a:r>
            <a:endParaRPr lang="en-US" sz="1300">
              <a:latin typeface="Calibri"/>
              <a:ea typeface="Calibri"/>
              <a:cs typeface="Calibri"/>
            </a:endParaRPr>
          </a:p>
        </p:txBody>
      </p:sp>
      <p:sp>
        <p:nvSpPr>
          <p:cNvPr id="18" name="Shape 16"/>
          <p:cNvSpPr/>
          <p:nvPr/>
        </p:nvSpPr>
        <p:spPr>
          <a:xfrm>
            <a:off x="6309360" y="2240280"/>
            <a:ext cx="109728" cy="109728"/>
          </a:xfrm>
          <a:prstGeom prst="ellipse">
            <a:avLst/>
          </a:prstGeom>
          <a:solidFill>
            <a:schemeClr val="tx1"/>
          </a:solidFill>
          <a:ln/>
        </p:spPr>
      </p:sp>
      <p:sp>
        <p:nvSpPr>
          <p:cNvPr id="19" name="Text 17"/>
          <p:cNvSpPr txBox="1"/>
          <p:nvPr/>
        </p:nvSpPr>
        <p:spPr>
          <a:xfrm>
            <a:off x="6583680" y="219456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Computational resources may limit embedding/LLM model size.</a:t>
            </a:r>
            <a:endParaRPr lang="en-US" sz="1150" dirty="0"/>
          </a:p>
        </p:txBody>
      </p:sp>
      <p:sp>
        <p:nvSpPr>
          <p:cNvPr id="20" name="Shape 18"/>
          <p:cNvSpPr/>
          <p:nvPr/>
        </p:nvSpPr>
        <p:spPr>
          <a:xfrm>
            <a:off x="6309360" y="2807208"/>
            <a:ext cx="109728" cy="109728"/>
          </a:xfrm>
          <a:prstGeom prst="ellipse">
            <a:avLst/>
          </a:prstGeom>
          <a:solidFill>
            <a:schemeClr val="tx1"/>
          </a:solidFill>
          <a:ln/>
        </p:spPr>
      </p:sp>
      <p:sp>
        <p:nvSpPr>
          <p:cNvPr id="21" name="Text 19"/>
          <p:cNvSpPr txBox="1"/>
          <p:nvPr/>
        </p:nvSpPr>
        <p:spPr>
          <a:xfrm>
            <a:off x="6583680" y="2761488"/>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Poor PDF formatting or scans may affect text extraction.</a:t>
            </a:r>
            <a:endParaRPr lang="en-US" sz="1150" dirty="0"/>
          </a:p>
        </p:txBody>
      </p:sp>
      <p:sp>
        <p:nvSpPr>
          <p:cNvPr id="22" name="Shape 20"/>
          <p:cNvSpPr/>
          <p:nvPr/>
        </p:nvSpPr>
        <p:spPr>
          <a:xfrm>
            <a:off x="6309360" y="3374136"/>
            <a:ext cx="109728" cy="109728"/>
          </a:xfrm>
          <a:prstGeom prst="ellipse">
            <a:avLst/>
          </a:prstGeom>
          <a:solidFill>
            <a:schemeClr val="tx1"/>
          </a:solidFill>
          <a:ln/>
        </p:spPr>
      </p:sp>
      <p:sp>
        <p:nvSpPr>
          <p:cNvPr id="23" name="Text 21"/>
          <p:cNvSpPr txBox="1"/>
          <p:nvPr/>
        </p:nvSpPr>
        <p:spPr>
          <a:xfrm>
            <a:off x="6583680" y="3328416"/>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Dataset size (papers/questions) available may be limited.</a:t>
            </a:r>
            <a:endParaRPr lang="en-US" sz="1150" dirty="0"/>
          </a:p>
        </p:txBody>
      </p:sp>
      <p:sp>
        <p:nvSpPr>
          <p:cNvPr id="24" name="Shape 22"/>
          <p:cNvSpPr/>
          <p:nvPr/>
        </p:nvSpPr>
        <p:spPr>
          <a:xfrm>
            <a:off x="6309360" y="3941064"/>
            <a:ext cx="109728" cy="109728"/>
          </a:xfrm>
          <a:prstGeom prst="ellipse">
            <a:avLst/>
          </a:prstGeom>
          <a:solidFill>
            <a:schemeClr val="tx1"/>
          </a:solidFill>
          <a:ln/>
        </p:spPr>
      </p:sp>
      <p:sp>
        <p:nvSpPr>
          <p:cNvPr id="25" name="Text 23"/>
          <p:cNvSpPr txBox="1"/>
          <p:nvPr/>
        </p:nvSpPr>
        <p:spPr>
          <a:xfrm>
            <a:off x="6583680" y="3895344"/>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Response quality depends on the selected LLM.</a:t>
            </a:r>
            <a:endParaRPr lang="en-US" sz="1150" dirty="0"/>
          </a:p>
        </p:txBody>
      </p:sp>
      <p:sp>
        <p:nvSpPr>
          <p:cNvPr id="26" name="Shape 24"/>
          <p:cNvSpPr/>
          <p:nvPr/>
        </p:nvSpPr>
        <p:spPr>
          <a:xfrm>
            <a:off x="6309360" y="4507992"/>
            <a:ext cx="109728" cy="109728"/>
          </a:xfrm>
          <a:prstGeom prst="ellipse">
            <a:avLst/>
          </a:prstGeom>
          <a:solidFill>
            <a:schemeClr val="tx1"/>
          </a:solidFill>
          <a:ln/>
        </p:spPr>
      </p:sp>
      <p:sp>
        <p:nvSpPr>
          <p:cNvPr id="27" name="Text 25"/>
          <p:cNvSpPr txBox="1"/>
          <p:nvPr/>
        </p:nvSpPr>
        <p:spPr>
          <a:xfrm>
            <a:off x="6583680" y="4462272"/>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Comparing many configurations increases experiment time.</a:t>
            </a:r>
            <a:endParaRPr lang="en-US" sz="1150" dirty="0"/>
          </a:p>
        </p:txBody>
      </p:sp>
      <p:sp>
        <p:nvSpPr>
          <p:cNvPr id="28" name="Shape 26"/>
          <p:cNvSpPr/>
          <p:nvPr/>
        </p:nvSpPr>
        <p:spPr>
          <a:xfrm>
            <a:off x="6309360" y="5074920"/>
            <a:ext cx="109728" cy="109728"/>
          </a:xfrm>
          <a:prstGeom prst="ellipse">
            <a:avLst/>
          </a:prstGeom>
          <a:solidFill>
            <a:schemeClr val="tx1"/>
          </a:solidFill>
          <a:ln/>
        </p:spPr>
      </p:sp>
      <p:sp>
        <p:nvSpPr>
          <p:cNvPr id="29" name="Text 27"/>
          <p:cNvSpPr txBox="1"/>
          <p:nvPr/>
        </p:nvSpPr>
        <p:spPr>
          <a:xfrm>
            <a:off x="6583680" y="5029200"/>
            <a:ext cx="5029200" cy="530352"/>
          </a:xfrm>
          <a:prstGeom prst="rect">
            <a:avLst/>
          </a:prstGeom>
          <a:noFill/>
          <a:ln/>
        </p:spPr>
        <p:txBody>
          <a:bodyPr wrap="square" lIns="0" tIns="0" rIns="0" bIns="0" rtlCol="0" anchor="t"/>
          <a:lstStyle/>
          <a:p>
            <a:pPr marL="0" indent="0">
              <a:lnSpc>
                <a:spcPct val="110000"/>
              </a:lnSpc>
              <a:buNone/>
            </a:pPr>
            <a:r>
              <a:rPr lang="en-US" sz="1150" dirty="0">
                <a:solidFill>
                  <a:srgbClr val="1A1A1A"/>
                </a:solidFill>
                <a:latin typeface="Calibri" pitchFamily="34" charset="0"/>
                <a:ea typeface="Calibri" pitchFamily="34" charset="-122"/>
                <a:cs typeface="Calibri" pitchFamily="34" charset="-120"/>
              </a:rPr>
              <a:t>Automatic metrics may not fully capture answer quality.</a:t>
            </a:r>
            <a:endParaRPr lang="en-US" sz="1150" dirty="0"/>
          </a:p>
        </p:txBody>
      </p:sp>
      <p:sp>
        <p:nvSpPr>
          <p:cNvPr id="30" name="Text 2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pic>
        <p:nvPicPr>
          <p:cNvPr id="32" name="Picture 31" descr="A red and black text on a black background&#10;&#10;AI-generated content may be incorrect.">
            <a:extLst>
              <a:ext uri="{FF2B5EF4-FFF2-40B4-BE49-F238E27FC236}">
                <a16:creationId xmlns:a16="http://schemas.microsoft.com/office/drawing/2014/main" id="{AE50F772-F36F-29C2-A41C-B7FB79F04FAF}"/>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SDG ALIGNMENT &amp; PROJECT GOALS</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Broader impact and direction</a:t>
            </a:r>
            <a:endParaRPr lang="en-US" sz="3200">
              <a:latin typeface="Cambria"/>
              <a:ea typeface="Cambria"/>
              <a:cs typeface="Calibri"/>
            </a:endParaRPr>
          </a:p>
        </p:txBody>
      </p:sp>
      <p:sp>
        <p:nvSpPr>
          <p:cNvPr id="4" name="Shape 2"/>
          <p:cNvSpPr/>
          <p:nvPr/>
        </p:nvSpPr>
        <p:spPr>
          <a:xfrm>
            <a:off x="548640" y="1783080"/>
            <a:ext cx="4937760" cy="4069080"/>
          </a:xfrm>
          <a:prstGeom prst="roundRect">
            <a:avLst>
              <a:gd name="adj" fmla="val 2247"/>
            </a:avLst>
          </a:prstGeom>
          <a:solidFill>
            <a:schemeClr val="tx1"/>
          </a:solidFill>
          <a:ln w="12700">
            <a:solidFill>
              <a:srgbClr val="1C7293"/>
            </a:solidFill>
            <a:prstDash val="solid"/>
          </a:ln>
        </p:spPr>
      </p:sp>
      <p:sp>
        <p:nvSpPr>
          <p:cNvPr id="5" name="Shape 3"/>
          <p:cNvSpPr/>
          <p:nvPr/>
        </p:nvSpPr>
        <p:spPr>
          <a:xfrm>
            <a:off x="868680" y="2057400"/>
            <a:ext cx="548640" cy="548640"/>
          </a:xfrm>
          <a:prstGeom prst="ellipse">
            <a:avLst/>
          </a:prstGeom>
          <a:solidFill>
            <a:srgbClr val="E8A33D"/>
          </a:solidFill>
          <a:ln/>
        </p:spPr>
      </p:sp>
      <p:sp>
        <p:nvSpPr>
          <p:cNvPr id="6" name="Text 4"/>
          <p:cNvSpPr txBox="1"/>
          <p:nvPr/>
        </p:nvSpPr>
        <p:spPr>
          <a:xfrm>
            <a:off x="868680" y="2057400"/>
            <a:ext cx="548640" cy="548640"/>
          </a:xfrm>
          <a:prstGeom prst="rect">
            <a:avLst/>
          </a:prstGeom>
          <a:solidFill>
            <a:schemeClr val="bg1"/>
          </a:solidFill>
          <a:ln/>
        </p:spPr>
        <p:txBody>
          <a:bodyPr wrap="square" lIns="0" tIns="0" rIns="0" bIns="0" rtlCol="0" anchor="ctr"/>
          <a:lstStyle/>
          <a:p>
            <a:pPr marL="0" indent="0" algn="ctr">
              <a:buNone/>
            </a:pPr>
            <a:r>
              <a:rPr lang="en-US" sz="2400" b="1" dirty="0">
                <a:latin typeface="Calibri"/>
                <a:ea typeface="Calibri"/>
                <a:cs typeface="Calibri"/>
              </a:rPr>
              <a:t>4</a:t>
            </a:r>
            <a:endParaRPr lang="en-US" sz="2400">
              <a:latin typeface="Calibri"/>
              <a:ea typeface="Calibri"/>
              <a:cs typeface="Calibri"/>
            </a:endParaRPr>
          </a:p>
        </p:txBody>
      </p:sp>
      <p:sp>
        <p:nvSpPr>
          <p:cNvPr id="7" name="Text 5"/>
          <p:cNvSpPr txBox="1"/>
          <p:nvPr/>
        </p:nvSpPr>
        <p:spPr>
          <a:xfrm>
            <a:off x="1554480" y="2148840"/>
            <a:ext cx="3749040" cy="365760"/>
          </a:xfrm>
          <a:prstGeom prst="rect">
            <a:avLst/>
          </a:prstGeom>
          <a:noFill/>
          <a:ln/>
        </p:spPr>
        <p:txBody>
          <a:bodyPr wrap="square" lIns="0" tIns="0" rIns="0" bIns="0" rtlCol="0" anchor="ctr"/>
          <a:lstStyle/>
          <a:p>
            <a:pPr marL="0" indent="0">
              <a:buNone/>
            </a:pPr>
            <a:r>
              <a:rPr lang="en-US" sz="1200" b="1" kern="0" spc="100" dirty="0">
                <a:solidFill>
                  <a:schemeClr val="bg1"/>
                </a:solidFill>
                <a:latin typeface="Calibri"/>
                <a:ea typeface="Calibri"/>
                <a:cs typeface="Calibri"/>
              </a:rPr>
              <a:t>SDG 4 · QUALITY EDUCATION</a:t>
            </a:r>
            <a:endParaRPr lang="en-US" sz="1200">
              <a:solidFill>
                <a:schemeClr val="bg1"/>
              </a:solidFill>
              <a:latin typeface="Calibri"/>
              <a:ea typeface="Calibri"/>
              <a:cs typeface="Calibri"/>
            </a:endParaRPr>
          </a:p>
        </p:txBody>
      </p:sp>
      <p:sp>
        <p:nvSpPr>
          <p:cNvPr id="8" name="Text 6"/>
          <p:cNvSpPr txBox="1"/>
          <p:nvPr/>
        </p:nvSpPr>
        <p:spPr>
          <a:xfrm>
            <a:off x="868680" y="2697480"/>
            <a:ext cx="4343400" cy="3017520"/>
          </a:xfrm>
          <a:prstGeom prst="rect">
            <a:avLst/>
          </a:prstGeom>
          <a:noFill/>
          <a:ln/>
        </p:spPr>
        <p:txBody>
          <a:bodyPr wrap="square" lIns="0" tIns="0" rIns="0" bIns="0" rtlCol="0" anchor="ctr"/>
          <a:lstStyle/>
          <a:p>
            <a:pPr marL="0" indent="0">
              <a:lnSpc>
                <a:spcPct val="130000"/>
              </a:lnSpc>
              <a:buNone/>
            </a:pPr>
            <a:r>
              <a:rPr lang="en-US" sz="1300" b="1" dirty="0">
                <a:solidFill>
                  <a:srgbClr val="FFFFFF"/>
                </a:solidFill>
                <a:latin typeface="Calibri" pitchFamily="34" charset="0"/>
                <a:ea typeface="Calibri" pitchFamily="34" charset="-122"/>
                <a:cs typeface="Calibri" pitchFamily="34" charset="-120"/>
              </a:rPr>
              <a:t>Target 4.7 — </a:t>
            </a:r>
            <a:r>
              <a:rPr lang="en-US" sz="1300" dirty="0">
                <a:solidFill>
                  <a:srgbClr val="CADCE0"/>
                </a:solidFill>
                <a:latin typeface="Calibri" pitchFamily="34" charset="0"/>
                <a:ea typeface="Calibri" pitchFamily="34" charset="-122"/>
                <a:cs typeface="Calibri" pitchFamily="34" charset="-120"/>
              </a:rPr>
              <a:t>ensuring learners acquire the knowledge and skills needed for sustainable development.
</a:t>
            </a:r>
            <a:r>
              <a:rPr lang="en-US" sz="1300" b="1" dirty="0">
                <a:solidFill>
                  <a:srgbClr val="FFFFFF"/>
                </a:solidFill>
                <a:latin typeface="Calibri" pitchFamily="34" charset="0"/>
                <a:ea typeface="Calibri" pitchFamily="34" charset="-122"/>
                <a:cs typeface="Calibri" pitchFamily="34" charset="-120"/>
              </a:rPr>
              <a:t>Project link: </a:t>
            </a:r>
            <a:r>
              <a:rPr lang="en-US" sz="1300" dirty="0">
                <a:solidFill>
                  <a:srgbClr val="CADCE0"/>
                </a:solidFill>
                <a:latin typeface="Calibri" pitchFamily="34" charset="0"/>
                <a:ea typeface="Calibri" pitchFamily="34" charset="-122"/>
                <a:cs typeface="Calibri" pitchFamily="34" charset="-120"/>
              </a:rPr>
              <a:t>helps students and researchers access, understand, and work with academic knowledge more efficiently.</a:t>
            </a:r>
            <a:endParaRPr lang="en-US" sz="1300" dirty="0"/>
          </a:p>
        </p:txBody>
      </p:sp>
      <p:sp>
        <p:nvSpPr>
          <p:cNvPr id="9" name="Text 7"/>
          <p:cNvSpPr txBox="1"/>
          <p:nvPr/>
        </p:nvSpPr>
        <p:spPr>
          <a:xfrm>
            <a:off x="5760720" y="1783080"/>
            <a:ext cx="5852160" cy="365760"/>
          </a:xfrm>
          <a:prstGeom prst="rect">
            <a:avLst/>
          </a:prstGeom>
          <a:noFill/>
          <a:ln/>
        </p:spPr>
        <p:txBody>
          <a:bodyPr wrap="square" lIns="0" tIns="0" rIns="0" bIns="0" rtlCol="0" anchor="ctr"/>
          <a:lstStyle/>
          <a:p>
            <a:pPr marL="0" indent="0">
              <a:buNone/>
            </a:pPr>
            <a:r>
              <a:rPr lang="en-US" sz="1200" b="1" kern="0" spc="150" dirty="0">
                <a:latin typeface="Calibri"/>
                <a:ea typeface="Calibri"/>
                <a:cs typeface="Calibri"/>
              </a:rPr>
              <a:t>PROJECT GOALS</a:t>
            </a:r>
            <a:endParaRPr lang="en-US" sz="1200">
              <a:latin typeface="Calibri"/>
              <a:ea typeface="Calibri"/>
              <a:cs typeface="Calibri"/>
            </a:endParaRPr>
          </a:p>
        </p:txBody>
      </p:sp>
      <p:sp>
        <p:nvSpPr>
          <p:cNvPr id="10" name="Shape 8"/>
          <p:cNvSpPr/>
          <p:nvPr/>
        </p:nvSpPr>
        <p:spPr>
          <a:xfrm>
            <a:off x="5760720" y="2295144"/>
            <a:ext cx="109728" cy="109728"/>
          </a:xfrm>
          <a:prstGeom prst="ellipse">
            <a:avLst/>
          </a:prstGeom>
          <a:solidFill>
            <a:schemeClr val="tx1"/>
          </a:solidFill>
          <a:ln/>
        </p:spPr>
      </p:sp>
      <p:sp>
        <p:nvSpPr>
          <p:cNvPr id="11" name="Text 9"/>
          <p:cNvSpPr txBox="1"/>
          <p:nvPr/>
        </p:nvSpPr>
        <p:spPr>
          <a:xfrm>
            <a:off x="6035040" y="2240280"/>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Develop an academic research-paper QA system</a:t>
            </a:r>
            <a:endParaRPr lang="en-US" sz="1300" dirty="0"/>
          </a:p>
        </p:txBody>
      </p:sp>
      <p:sp>
        <p:nvSpPr>
          <p:cNvPr id="12" name="Shape 10"/>
          <p:cNvSpPr/>
          <p:nvPr/>
        </p:nvSpPr>
        <p:spPr>
          <a:xfrm>
            <a:off x="5760720" y="2825496"/>
            <a:ext cx="109728" cy="109728"/>
          </a:xfrm>
          <a:prstGeom prst="ellipse">
            <a:avLst/>
          </a:prstGeom>
          <a:solidFill>
            <a:schemeClr val="tx1"/>
          </a:solidFill>
          <a:ln/>
        </p:spPr>
      </p:sp>
      <p:sp>
        <p:nvSpPr>
          <p:cNvPr id="13" name="Text 11"/>
          <p:cNvSpPr txBox="1"/>
          <p:nvPr/>
        </p:nvSpPr>
        <p:spPr>
          <a:xfrm>
            <a:off x="6035040" y="2770632"/>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Build a configurable RAG pipeline</a:t>
            </a:r>
            <a:endParaRPr lang="en-US" sz="1300" dirty="0"/>
          </a:p>
        </p:txBody>
      </p:sp>
      <p:sp>
        <p:nvSpPr>
          <p:cNvPr id="14" name="Shape 12"/>
          <p:cNvSpPr/>
          <p:nvPr/>
        </p:nvSpPr>
        <p:spPr>
          <a:xfrm>
            <a:off x="5760720" y="3355848"/>
            <a:ext cx="109728" cy="109728"/>
          </a:xfrm>
          <a:prstGeom prst="ellipse">
            <a:avLst/>
          </a:prstGeom>
          <a:solidFill>
            <a:schemeClr val="tx1"/>
          </a:solidFill>
          <a:ln/>
        </p:spPr>
      </p:sp>
      <p:sp>
        <p:nvSpPr>
          <p:cNvPr id="15" name="Text 13"/>
          <p:cNvSpPr txBox="1"/>
          <p:nvPr/>
        </p:nvSpPr>
        <p:spPr>
          <a:xfrm>
            <a:off x="6035040" y="3300984"/>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Compare chunking methods</a:t>
            </a:r>
            <a:endParaRPr lang="en-US" sz="1300" dirty="0"/>
          </a:p>
        </p:txBody>
      </p:sp>
      <p:sp>
        <p:nvSpPr>
          <p:cNvPr id="16" name="Shape 14"/>
          <p:cNvSpPr/>
          <p:nvPr/>
        </p:nvSpPr>
        <p:spPr>
          <a:xfrm>
            <a:off x="5760720" y="3886200"/>
            <a:ext cx="109728" cy="109728"/>
          </a:xfrm>
          <a:prstGeom prst="ellipse">
            <a:avLst/>
          </a:prstGeom>
          <a:solidFill>
            <a:schemeClr val="tx1"/>
          </a:solidFill>
          <a:ln/>
        </p:spPr>
      </p:sp>
      <p:sp>
        <p:nvSpPr>
          <p:cNvPr id="17" name="Text 15"/>
          <p:cNvSpPr txBox="1"/>
          <p:nvPr/>
        </p:nvSpPr>
        <p:spPr>
          <a:xfrm>
            <a:off x="6035040" y="3831336"/>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Compare retrieval methods</a:t>
            </a:r>
            <a:endParaRPr lang="en-US" sz="1300" dirty="0"/>
          </a:p>
        </p:txBody>
      </p:sp>
      <p:sp>
        <p:nvSpPr>
          <p:cNvPr id="18" name="Shape 16"/>
          <p:cNvSpPr/>
          <p:nvPr/>
        </p:nvSpPr>
        <p:spPr>
          <a:xfrm>
            <a:off x="5760720" y="4416552"/>
            <a:ext cx="109728" cy="109728"/>
          </a:xfrm>
          <a:prstGeom prst="ellipse">
            <a:avLst/>
          </a:prstGeom>
          <a:solidFill>
            <a:schemeClr val="tx1"/>
          </a:solidFill>
          <a:ln/>
        </p:spPr>
      </p:sp>
      <p:sp>
        <p:nvSpPr>
          <p:cNvPr id="19" name="Text 17"/>
          <p:cNvSpPr txBox="1"/>
          <p:nvPr/>
        </p:nvSpPr>
        <p:spPr>
          <a:xfrm>
            <a:off x="6035040" y="4361688"/>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Evaluate the effect of reranking</a:t>
            </a:r>
            <a:endParaRPr lang="en-US" sz="1300" dirty="0"/>
          </a:p>
        </p:txBody>
      </p:sp>
      <p:sp>
        <p:nvSpPr>
          <p:cNvPr id="20" name="Shape 18"/>
          <p:cNvSpPr/>
          <p:nvPr/>
        </p:nvSpPr>
        <p:spPr>
          <a:xfrm>
            <a:off x="5760720" y="4946904"/>
            <a:ext cx="109728" cy="109728"/>
          </a:xfrm>
          <a:prstGeom prst="ellipse">
            <a:avLst/>
          </a:prstGeom>
          <a:solidFill>
            <a:schemeClr val="tx1"/>
          </a:solidFill>
          <a:ln/>
        </p:spPr>
      </p:sp>
      <p:sp>
        <p:nvSpPr>
          <p:cNvPr id="21" name="Text 19"/>
          <p:cNvSpPr txBox="1"/>
          <p:nvPr/>
        </p:nvSpPr>
        <p:spPr>
          <a:xfrm>
            <a:off x="6035040" y="4892040"/>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Identify the best-performing configuration</a:t>
            </a:r>
            <a:endParaRPr lang="en-US" sz="1300" dirty="0"/>
          </a:p>
        </p:txBody>
      </p:sp>
      <p:sp>
        <p:nvSpPr>
          <p:cNvPr id="22" name="Shape 20"/>
          <p:cNvSpPr/>
          <p:nvPr/>
        </p:nvSpPr>
        <p:spPr>
          <a:xfrm>
            <a:off x="5760720" y="5477256"/>
            <a:ext cx="109728" cy="109728"/>
          </a:xfrm>
          <a:prstGeom prst="ellipse">
            <a:avLst/>
          </a:prstGeom>
          <a:solidFill>
            <a:schemeClr val="tx1"/>
          </a:solidFill>
          <a:ln/>
        </p:spPr>
      </p:sp>
      <p:sp>
        <p:nvSpPr>
          <p:cNvPr id="23" name="Text 21"/>
          <p:cNvSpPr txBox="1"/>
          <p:nvPr/>
        </p:nvSpPr>
        <p:spPr>
          <a:xfrm>
            <a:off x="6035040" y="5422392"/>
            <a:ext cx="5577840" cy="493776"/>
          </a:xfrm>
          <a:prstGeom prst="rect">
            <a:avLst/>
          </a:prstGeom>
          <a:noFill/>
          <a:ln/>
        </p:spPr>
        <p:txBody>
          <a:bodyPr wrap="square" lIns="0" tIns="0" rIns="0" bIns="0" rtlCol="0" anchor="t"/>
          <a:lstStyle/>
          <a:p>
            <a:pPr marL="0" indent="0">
              <a:buNone/>
            </a:pPr>
            <a:r>
              <a:rPr lang="en-US" sz="1300" dirty="0">
                <a:solidFill>
                  <a:srgbClr val="1A1A1A"/>
                </a:solidFill>
                <a:latin typeface="Calibri" pitchFamily="34" charset="0"/>
                <a:ea typeface="Calibri" pitchFamily="34" charset="-122"/>
                <a:cs typeface="Calibri" pitchFamily="34" charset="-120"/>
              </a:rPr>
              <a:t>Improve reliability through citations</a:t>
            </a:r>
            <a:endParaRPr lang="en-US" sz="1300" dirty="0"/>
          </a:p>
        </p:txBody>
      </p:sp>
      <p:sp>
        <p:nvSpPr>
          <p:cNvPr id="24" name="Text 2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pic>
        <p:nvPicPr>
          <p:cNvPr id="26" name="Picture 25" descr="A red and black text on a black background&#10;&#10;AI-generated content may be incorrect.">
            <a:extLst>
              <a:ext uri="{FF2B5EF4-FFF2-40B4-BE49-F238E27FC236}">
                <a16:creationId xmlns:a16="http://schemas.microsoft.com/office/drawing/2014/main" id="{470C661F-D519-EB02-4063-B24111E2F7F4}"/>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DELIVERABLES</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What the project will produce</a:t>
            </a:r>
            <a:endParaRPr lang="en-US" sz="3200">
              <a:latin typeface="Cambria"/>
              <a:ea typeface="Cambria"/>
              <a:cs typeface="Calibri"/>
            </a:endParaRPr>
          </a:p>
        </p:txBody>
      </p:sp>
      <p:graphicFrame>
        <p:nvGraphicFramePr>
          <p:cNvPr id="15" name="Table 0"/>
          <p:cNvGraphicFramePr>
            <a:graphicFrameLocks noGrp="1"/>
          </p:cNvGraphicFramePr>
          <p:nvPr>
            <p:extLst>
              <p:ext uri="{D42A27DB-BD31-4B8C-83A1-F6EECF244321}">
                <p14:modId xmlns:p14="http://schemas.microsoft.com/office/powerpoint/2010/main" val="776165458"/>
              </p:ext>
            </p:extLst>
          </p:nvPr>
        </p:nvGraphicFramePr>
        <p:xfrm>
          <a:off x="548640" y="1737360"/>
          <a:ext cx="10789920" cy="4571996"/>
        </p:xfrm>
        <a:graphic>
          <a:graphicData uri="http://schemas.openxmlformats.org/drawingml/2006/table">
            <a:tbl>
              <a:tblPr/>
              <a:tblGrid>
                <a:gridCol w="41148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tblGrid>
              <a:tr h="415636">
                <a:tc>
                  <a:txBody>
                    <a:bodyPr/>
                    <a:lstStyle/>
                    <a:p>
                      <a:pPr marL="0" indent="0">
                        <a:buNone/>
                      </a:pPr>
                      <a:r>
                        <a:rPr lang="en-US" sz="1200" b="1" dirty="0">
                          <a:solidFill>
                            <a:schemeClr val="bg1"/>
                          </a:solidFill>
                          <a:latin typeface="Calibri"/>
                          <a:ea typeface="Calibri"/>
                          <a:cs typeface="Calibri"/>
                        </a:rPr>
                        <a:t>Deliverable</a:t>
                      </a:r>
                      <a:endParaRPr lang="en-US" sz="12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latin typeface="Calibri"/>
                          <a:ea typeface="Calibri"/>
                          <a:cs typeface="Calibri"/>
                        </a:rPr>
                        <a:t>Output</a:t>
                      </a:r>
                      <a:endParaRPr lang="en-US" sz="1200">
                        <a:solidFill>
                          <a:schemeClr val="bg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15636">
                <a:tc>
                  <a:txBody>
                    <a:bodyPr/>
                    <a:lstStyle/>
                    <a:p>
                      <a:pPr marL="0" indent="0">
                        <a:buNone/>
                      </a:pPr>
                      <a:r>
                        <a:rPr lang="en-US" sz="1150" b="1" dirty="0">
                          <a:solidFill>
                            <a:schemeClr val="tx1"/>
                          </a:solidFill>
                          <a:latin typeface="Calibri"/>
                          <a:ea typeface="Calibri"/>
                          <a:cs typeface="Calibri"/>
                        </a:rPr>
                        <a:t>Literature Survey</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latin typeface="Calibri"/>
                          <a:ea typeface="Calibri"/>
                          <a:cs typeface="Calibri"/>
                        </a:rPr>
                        <a:t>Reviewed papers and identified gap</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5636">
                <a:tc>
                  <a:txBody>
                    <a:bodyPr/>
                    <a:lstStyle/>
                    <a:p>
                      <a:pPr marL="0" indent="0">
                        <a:buNone/>
                      </a:pPr>
                      <a:r>
                        <a:rPr lang="en-US" sz="1150" b="1" dirty="0">
                          <a:solidFill>
                            <a:schemeClr val="tx1"/>
                          </a:solidFill>
                          <a:latin typeface="Calibri"/>
                          <a:ea typeface="Calibri"/>
                          <a:cs typeface="Calibri"/>
                        </a:rPr>
                        <a:t>Dataset</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a:ea typeface="Calibri"/>
                          <a:cs typeface="Calibri"/>
                        </a:rPr>
                        <a:t>Academic-paper corpus + QA data</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5636">
                <a:tc>
                  <a:txBody>
                    <a:bodyPr/>
                    <a:lstStyle/>
                    <a:p>
                      <a:pPr marL="0" indent="0">
                        <a:buNone/>
                      </a:pPr>
                      <a:r>
                        <a:rPr lang="en-US" sz="1150" b="1" dirty="0">
                          <a:solidFill>
                            <a:schemeClr val="tx1"/>
                          </a:solidFill>
                          <a:latin typeface="Calibri"/>
                          <a:ea typeface="Calibri"/>
                          <a:cs typeface="Calibri"/>
                        </a:rPr>
                        <a:t>Document Processing</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latin typeface="Calibri"/>
                          <a:ea typeface="Calibri"/>
                          <a:cs typeface="Calibri"/>
                        </a:rPr>
                        <a:t>Extracted and chunked papers</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15636">
                <a:tc>
                  <a:txBody>
                    <a:bodyPr/>
                    <a:lstStyle/>
                    <a:p>
                      <a:pPr marL="0" indent="0">
                        <a:buNone/>
                      </a:pPr>
                      <a:r>
                        <a:rPr lang="en-US" sz="1150" b="1" dirty="0">
                          <a:solidFill>
                            <a:schemeClr val="tx1"/>
                          </a:solidFill>
                          <a:latin typeface="Calibri"/>
                          <a:ea typeface="Calibri"/>
                          <a:cs typeface="Calibri"/>
                        </a:rPr>
                        <a:t>RAG Baseline</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a:ea typeface="Calibri"/>
                          <a:cs typeface="Calibri"/>
                        </a:rPr>
                        <a:t>Basic working RAG system</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5636">
                <a:tc>
                  <a:txBody>
                    <a:bodyPr/>
                    <a:lstStyle/>
                    <a:p>
                      <a:pPr marL="0" indent="0">
                        <a:buNone/>
                      </a:pPr>
                      <a:r>
                        <a:rPr lang="en-US" sz="1150" b="1" dirty="0">
                          <a:solidFill>
                            <a:schemeClr val="tx1"/>
                          </a:solidFill>
                          <a:latin typeface="Calibri"/>
                          <a:ea typeface="Calibri"/>
                          <a:cs typeface="Calibri"/>
                        </a:rPr>
                        <a:t>Retrieval Module</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latin typeface="Calibri"/>
                          <a:ea typeface="Calibri"/>
                          <a:cs typeface="Calibri"/>
                        </a:rPr>
                        <a:t>BM25 / dense / hybrid retrieval</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15636">
                <a:tc>
                  <a:txBody>
                    <a:bodyPr/>
                    <a:lstStyle/>
                    <a:p>
                      <a:pPr marL="0" indent="0">
                        <a:buNone/>
                      </a:pPr>
                      <a:r>
                        <a:rPr lang="en-US" sz="1150" b="1" dirty="0">
                          <a:solidFill>
                            <a:schemeClr val="tx1"/>
                          </a:solidFill>
                          <a:latin typeface="Calibri"/>
                          <a:ea typeface="Calibri"/>
                          <a:cs typeface="Calibri"/>
                        </a:rPr>
                        <a:t>Reranking Module</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a:ea typeface="Calibri"/>
                          <a:cs typeface="Calibri"/>
                        </a:rPr>
                        <a:t>Reranking implementation</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15636">
                <a:tc>
                  <a:txBody>
                    <a:bodyPr/>
                    <a:lstStyle/>
                    <a:p>
                      <a:pPr marL="0" indent="0">
                        <a:buNone/>
                      </a:pPr>
                      <a:r>
                        <a:rPr lang="en-US" sz="1150" b="1" dirty="0">
                          <a:solidFill>
                            <a:schemeClr val="tx1"/>
                          </a:solidFill>
                          <a:latin typeface="Calibri"/>
                          <a:ea typeface="Calibri"/>
                          <a:cs typeface="Calibri"/>
                        </a:rPr>
                        <a:t>Generation Module</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latin typeface="Calibri"/>
                          <a:ea typeface="Calibri"/>
                          <a:cs typeface="Calibri"/>
                        </a:rPr>
                        <a:t>LLM-based answer generation</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15636">
                <a:tc>
                  <a:txBody>
                    <a:bodyPr/>
                    <a:lstStyle/>
                    <a:p>
                      <a:pPr marL="0" indent="0">
                        <a:buNone/>
                      </a:pPr>
                      <a:r>
                        <a:rPr lang="en-US" sz="1150" b="1" dirty="0">
                          <a:solidFill>
                            <a:schemeClr val="tx1"/>
                          </a:solidFill>
                          <a:latin typeface="Calibri"/>
                          <a:ea typeface="Calibri"/>
                          <a:cs typeface="Calibri"/>
                        </a:rPr>
                        <a:t>Evaluation Framework</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a:ea typeface="Calibri"/>
                          <a:cs typeface="Calibri"/>
                        </a:rPr>
                        <a:t>Metrics and comparison system</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15636">
                <a:tc>
                  <a:txBody>
                    <a:bodyPr/>
                    <a:lstStyle/>
                    <a:p>
                      <a:pPr marL="0" indent="0">
                        <a:buNone/>
                      </a:pPr>
                      <a:r>
                        <a:rPr lang="en-US" sz="1150" b="1" dirty="0">
                          <a:solidFill>
                            <a:schemeClr val="tx1"/>
                          </a:solidFill>
                          <a:latin typeface="Calibri"/>
                          <a:ea typeface="Calibri"/>
                          <a:cs typeface="Calibri"/>
                        </a:rPr>
                        <a:t>Experimental Results</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latin typeface="Calibri"/>
                          <a:ea typeface="Calibri"/>
                          <a:cs typeface="Calibri"/>
                        </a:rPr>
                        <a:t>Tables and graphs</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15636">
                <a:tc>
                  <a:txBody>
                    <a:bodyPr/>
                    <a:lstStyle/>
                    <a:p>
                      <a:pPr marL="0" indent="0">
                        <a:buNone/>
                      </a:pPr>
                      <a:r>
                        <a:rPr lang="en-US" sz="1150" b="1" dirty="0">
                          <a:solidFill>
                            <a:schemeClr val="tx1"/>
                          </a:solidFill>
                          <a:latin typeface="Calibri"/>
                          <a:ea typeface="Calibri"/>
                          <a:cs typeface="Calibri"/>
                        </a:rPr>
                        <a:t>Final System</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tc>
                  <a:txBody>
                    <a:bodyPr/>
                    <a:lstStyle/>
                    <a:p>
                      <a:pPr marL="0" indent="0">
                        <a:buNone/>
                      </a:pPr>
                      <a:r>
                        <a:rPr lang="en-US" sz="1150" dirty="0">
                          <a:solidFill>
                            <a:schemeClr val="tx1"/>
                          </a:solidFill>
                          <a:latin typeface="Calibri"/>
                          <a:ea typeface="Calibri"/>
                          <a:cs typeface="Calibri"/>
                        </a:rPr>
                        <a:t>Academic Research Assistant</a:t>
                      </a:r>
                      <a:endParaRPr lang="en-US" sz="1150">
                        <a:solidFill>
                          <a:schemeClr val="tx1"/>
                        </a:solidFill>
                        <a:latin typeface="Calibri"/>
                        <a:ea typeface="Calibri"/>
                        <a:cs typeface="Calibri"/>
                      </a:endParaRPr>
                    </a:p>
                  </a:txBody>
                  <a:tcPr anchor="ctr">
                    <a:lnL w="12700" cap="flat" cmpd="sng" algn="ctr">
                      <a:solidFill>
                        <a:srgbClr val="DCE3E8"/>
                      </a:solidFill>
                      <a:prstDash val="solid"/>
                      <a:round/>
                      <a:headEnd type="none" w="med" len="med"/>
                      <a:tailEnd type="none" w="med" len="med"/>
                    </a:lnL>
                    <a:lnR w="12700" cap="flat" cmpd="sng" algn="ctr">
                      <a:solidFill>
                        <a:srgbClr val="DCE3E8"/>
                      </a:solidFill>
                      <a:prstDash val="solid"/>
                      <a:round/>
                      <a:headEnd type="none" w="med" len="med"/>
                      <a:tailEnd type="none" w="med" len="med"/>
                    </a:lnR>
                    <a:lnT w="12700" cap="flat" cmpd="sng" algn="ctr">
                      <a:solidFill>
                        <a:srgbClr val="DCE3E8"/>
                      </a:solidFill>
                      <a:prstDash val="solid"/>
                      <a:round/>
                      <a:headEnd type="none" w="med" len="med"/>
                      <a:tailEnd type="none" w="med" len="med"/>
                    </a:lnT>
                    <a:lnB w="12700" cap="flat" cmpd="sng" algn="ctr">
                      <a:solidFill>
                        <a:srgbClr val="DCE3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5" name="Text 2"/>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pic>
        <p:nvPicPr>
          <p:cNvPr id="6" name="Picture 5" descr="A red and black text on a black background&#10;&#10;AI-generated content may be incorrect.">
            <a:extLst>
              <a:ext uri="{FF2B5EF4-FFF2-40B4-BE49-F238E27FC236}">
                <a16:creationId xmlns:a16="http://schemas.microsoft.com/office/drawing/2014/main" id="{E9B2900C-A079-53F0-F35A-1EB3FCC26B4D}"/>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7315200" cy="365760"/>
          </a:xfrm>
          <a:prstGeom prst="rect">
            <a:avLst/>
          </a:prstGeom>
          <a:noFill/>
          <a:ln/>
        </p:spPr>
        <p:txBody>
          <a:bodyPr wrap="square" lIns="0" tIns="0" rIns="0" bIns="0" rtlCol="0" anchor="ctr"/>
          <a:lstStyle/>
          <a:p>
            <a:pPr marL="0" indent="0">
              <a:buNone/>
            </a:pPr>
            <a:r>
              <a:rPr lang="en-US" sz="1200" b="1" kern="0" spc="200" dirty="0">
                <a:latin typeface="Calibri"/>
                <a:ea typeface="Calibri"/>
                <a:cs typeface="Calibri"/>
              </a:rPr>
              <a:t>REFERENCES</a:t>
            </a:r>
            <a:endParaRPr lang="en-US" sz="1200">
              <a:latin typeface="Calibri"/>
              <a:ea typeface="Calibri"/>
              <a:cs typeface="Calibri"/>
            </a:endParaRPr>
          </a:p>
        </p:txBody>
      </p:sp>
      <p:sp>
        <p:nvSpPr>
          <p:cNvPr id="3" name="Text 1"/>
          <p:cNvSpPr txBox="1"/>
          <p:nvPr/>
        </p:nvSpPr>
        <p:spPr>
          <a:xfrm>
            <a:off x="548640" y="731520"/>
            <a:ext cx="10789920" cy="822960"/>
          </a:xfrm>
          <a:prstGeom prst="rect">
            <a:avLst/>
          </a:prstGeom>
          <a:noFill/>
          <a:ln/>
        </p:spPr>
        <p:txBody>
          <a:bodyPr wrap="square" lIns="0" tIns="0" rIns="0" bIns="0" rtlCol="0" anchor="ctr"/>
          <a:lstStyle/>
          <a:p>
            <a:pPr marL="0" indent="0">
              <a:buNone/>
            </a:pPr>
            <a:r>
              <a:rPr lang="en-US" sz="3200" b="1" dirty="0">
                <a:latin typeface="Cambria"/>
                <a:ea typeface="Cambria"/>
                <a:cs typeface="Cambria" pitchFamily="34" charset="-120"/>
              </a:rPr>
              <a:t>Cited work</a:t>
            </a:r>
            <a:endParaRPr lang="en-US" sz="3200">
              <a:latin typeface="Cambria"/>
              <a:ea typeface="Cambria"/>
              <a:cs typeface="Calibri"/>
            </a:endParaRPr>
          </a:p>
        </p:txBody>
      </p:sp>
      <p:sp>
        <p:nvSpPr>
          <p:cNvPr id="4" name="Shape 2"/>
          <p:cNvSpPr/>
          <p:nvPr/>
        </p:nvSpPr>
        <p:spPr>
          <a:xfrm>
            <a:off x="-22860" y="7353018"/>
            <a:ext cx="384048" cy="384048"/>
          </a:xfrm>
          <a:prstGeom prst="ellipse">
            <a:avLst/>
          </a:prstGeom>
          <a:solidFill>
            <a:srgbClr val="1C7293"/>
          </a:solidFill>
          <a:ln/>
        </p:spPr>
      </p:sp>
      <p:sp>
        <p:nvSpPr>
          <p:cNvPr id="5" name="Text 3"/>
          <p:cNvSpPr txBox="1"/>
          <p:nvPr/>
        </p:nvSpPr>
        <p:spPr>
          <a:xfrm>
            <a:off x="548640" y="1997851"/>
            <a:ext cx="384048" cy="384048"/>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43000" y="1874520"/>
            <a:ext cx="10058400" cy="640080"/>
          </a:xfrm>
          <a:prstGeom prst="rect">
            <a:avLst/>
          </a:prstGeom>
          <a:noFill/>
          <a:ln/>
        </p:spPr>
        <p:txBody>
          <a:bodyPr wrap="square" lIns="0" tIns="0" rIns="0" bIns="0" rtlCol="0" anchor="ctr"/>
          <a:lstStyle/>
          <a:p>
            <a:pPr marL="0" indent="0">
              <a:lnSpc>
                <a:spcPct val="115000"/>
              </a:lnSpc>
              <a:buNone/>
            </a:pPr>
            <a:r>
              <a:rPr lang="en-US" sz="1350" dirty="0">
                <a:latin typeface="Calibri"/>
                <a:ea typeface="Calibri"/>
                <a:cs typeface="Calibri"/>
              </a:rPr>
              <a:t>Lewis, P. et al. — Retrieval-Augmented Generation for Knowledge-Intensive NLP Tasks (2020)</a:t>
            </a:r>
            <a:endParaRPr lang="en-US" sz="1350">
              <a:latin typeface="Calibri"/>
              <a:ea typeface="Calibri"/>
              <a:cs typeface="Calibri"/>
            </a:endParaRPr>
          </a:p>
        </p:txBody>
      </p:sp>
      <p:sp>
        <p:nvSpPr>
          <p:cNvPr id="8" name="Text 6"/>
          <p:cNvSpPr txBox="1"/>
          <p:nvPr/>
        </p:nvSpPr>
        <p:spPr>
          <a:xfrm>
            <a:off x="548640" y="2782147"/>
            <a:ext cx="384048" cy="384048"/>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43000" y="2651760"/>
            <a:ext cx="10058400" cy="640080"/>
          </a:xfrm>
          <a:prstGeom prst="rect">
            <a:avLst/>
          </a:prstGeom>
          <a:noFill/>
          <a:ln/>
        </p:spPr>
        <p:txBody>
          <a:bodyPr wrap="square" lIns="0" tIns="0" rIns="0" bIns="0" rtlCol="0" anchor="ctr"/>
          <a:lstStyle/>
          <a:p>
            <a:pPr marL="0" indent="0">
              <a:lnSpc>
                <a:spcPct val="115000"/>
              </a:lnSpc>
              <a:buNone/>
            </a:pPr>
            <a:r>
              <a:rPr lang="en-US" sz="1350" dirty="0">
                <a:latin typeface="Calibri"/>
                <a:ea typeface="Calibri"/>
                <a:cs typeface="Calibri"/>
              </a:rPr>
              <a:t>Lála, J. et al. — PaperQA: Retrieval-Augmented Generative Agent for Scientific Research (2023)</a:t>
            </a:r>
            <a:endParaRPr lang="en-US" sz="1350">
              <a:latin typeface="Calibri"/>
              <a:ea typeface="Calibri"/>
              <a:cs typeface="Calibri"/>
            </a:endParaRPr>
          </a:p>
        </p:txBody>
      </p:sp>
      <p:sp>
        <p:nvSpPr>
          <p:cNvPr id="11" name="Text 9"/>
          <p:cNvSpPr txBox="1"/>
          <p:nvPr/>
        </p:nvSpPr>
        <p:spPr>
          <a:xfrm>
            <a:off x="548640" y="3559387"/>
            <a:ext cx="384048" cy="384048"/>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43000" y="3429000"/>
            <a:ext cx="10058400" cy="640080"/>
          </a:xfrm>
          <a:prstGeom prst="rect">
            <a:avLst/>
          </a:prstGeom>
          <a:noFill/>
          <a:ln/>
        </p:spPr>
        <p:txBody>
          <a:bodyPr wrap="square" lIns="0" tIns="0" rIns="0" bIns="0" rtlCol="0" anchor="ctr"/>
          <a:lstStyle/>
          <a:p>
            <a:pPr marL="0" indent="0">
              <a:lnSpc>
                <a:spcPct val="115000"/>
              </a:lnSpc>
              <a:buNone/>
            </a:pPr>
            <a:r>
              <a:rPr lang="en-US" sz="1350" dirty="0">
                <a:latin typeface="Calibri"/>
                <a:ea typeface="Calibri"/>
                <a:cs typeface="Calibri"/>
              </a:rPr>
              <a:t>Asai, A. et al. — Self-RAG: Learning to Retrieve, Generate, and Critique through Self-Reflection (2024)</a:t>
            </a:r>
            <a:endParaRPr lang="en-US" sz="1350">
              <a:latin typeface="Calibri"/>
              <a:ea typeface="Calibri"/>
              <a:cs typeface="Calibri"/>
            </a:endParaRPr>
          </a:p>
        </p:txBody>
      </p:sp>
      <p:sp>
        <p:nvSpPr>
          <p:cNvPr id="14" name="Text 12"/>
          <p:cNvSpPr txBox="1"/>
          <p:nvPr/>
        </p:nvSpPr>
        <p:spPr>
          <a:xfrm>
            <a:off x="548640" y="4251960"/>
            <a:ext cx="384048" cy="384048"/>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143000" y="4206240"/>
            <a:ext cx="10058400" cy="640080"/>
          </a:xfrm>
          <a:prstGeom prst="rect">
            <a:avLst/>
          </a:prstGeom>
          <a:noFill/>
          <a:ln/>
        </p:spPr>
        <p:txBody>
          <a:bodyPr wrap="square" lIns="0" tIns="0" rIns="0" bIns="0" rtlCol="0" anchor="ctr"/>
          <a:lstStyle/>
          <a:p>
            <a:pPr marL="0" indent="0">
              <a:lnSpc>
                <a:spcPct val="115000"/>
              </a:lnSpc>
              <a:buNone/>
            </a:pPr>
            <a:r>
              <a:rPr lang="en-US" sz="1350" dirty="0">
                <a:latin typeface="Calibri"/>
                <a:ea typeface="Calibri"/>
                <a:cs typeface="Calibri"/>
              </a:rPr>
              <a:t>Rau, D. et al. — BERGEN: A Benchmarking Library for Retrieval-Augmented Generation (2024)</a:t>
            </a:r>
            <a:endParaRPr lang="en-US" sz="1350">
              <a:latin typeface="Calibri"/>
              <a:ea typeface="Calibri"/>
              <a:cs typeface="Calibri"/>
            </a:endParaRPr>
          </a:p>
        </p:txBody>
      </p:sp>
      <p:sp>
        <p:nvSpPr>
          <p:cNvPr id="17" name="Text 15"/>
          <p:cNvSpPr txBox="1"/>
          <p:nvPr/>
        </p:nvSpPr>
        <p:spPr>
          <a:xfrm>
            <a:off x="548641" y="5113867"/>
            <a:ext cx="384048" cy="384048"/>
          </a:xfrm>
          <a:prstGeom prst="rect">
            <a:avLst/>
          </a:prstGeom>
          <a:solidFill>
            <a:schemeClr val="tx1"/>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43000" y="4983480"/>
            <a:ext cx="10058400" cy="640080"/>
          </a:xfrm>
          <a:prstGeom prst="rect">
            <a:avLst/>
          </a:prstGeom>
          <a:noFill/>
          <a:ln/>
        </p:spPr>
        <p:txBody>
          <a:bodyPr wrap="square" lIns="0" tIns="0" rIns="0" bIns="0" rtlCol="0" anchor="ctr"/>
          <a:lstStyle/>
          <a:p>
            <a:pPr marL="0" indent="0">
              <a:lnSpc>
                <a:spcPct val="115000"/>
              </a:lnSpc>
              <a:buNone/>
            </a:pPr>
            <a:r>
              <a:rPr lang="en-US" sz="1350" dirty="0">
                <a:latin typeface="Calibri"/>
                <a:ea typeface="Calibri"/>
                <a:cs typeface="Calibri"/>
              </a:rPr>
              <a:t>Lu, W. et al. — HiChunk: Evaluating and Enhancing RAG with Hierarchical Chunking (2026)</a:t>
            </a:r>
            <a:endParaRPr lang="en-US" sz="1350">
              <a:latin typeface="Calibri"/>
              <a:ea typeface="Calibri"/>
              <a:cs typeface="Calibri"/>
            </a:endParaRPr>
          </a:p>
        </p:txBody>
      </p:sp>
      <p:sp>
        <p:nvSpPr>
          <p:cNvPr id="20" name="Text 18"/>
          <p:cNvSpPr txBox="1"/>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pic>
        <p:nvPicPr>
          <p:cNvPr id="21" name="Picture 20" descr="A red and black text on a black background&#10;&#10;AI-generated content may be incorrect.">
            <a:extLst>
              <a:ext uri="{FF2B5EF4-FFF2-40B4-BE49-F238E27FC236}">
                <a16:creationId xmlns:a16="http://schemas.microsoft.com/office/drawing/2014/main" id="{0EC02C46-CAEE-E63D-F4B7-A7E7A50BCB79}"/>
              </a:ext>
            </a:extLst>
          </p:cNvPr>
          <p:cNvPicPr>
            <a:picLocks noChangeAspect="1"/>
          </p:cNvPicPr>
          <p:nvPr/>
        </p:nvPicPr>
        <p:blipFill>
          <a:blip r:embed="rId3"/>
          <a:stretch>
            <a:fillRect/>
          </a:stretch>
        </p:blipFill>
        <p:spPr>
          <a:xfrm>
            <a:off x="8674710" y="95983"/>
            <a:ext cx="3394565" cy="7927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952</TotalTime>
  <Words>1319</Words>
  <Application>Microsoft Office PowerPoint</Application>
  <PresentationFormat>Widescreen</PresentationFormat>
  <Paragraphs>243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Mokshagna D</cp:lastModifiedBy>
  <cp:revision>230</cp:revision>
  <dcterms:created xsi:type="dcterms:W3CDTF">2026-08-31T20:05:29Z</dcterms:created>
  <dcterms:modified xsi:type="dcterms:W3CDTF">2026-09-07T09:55:28Z</dcterms:modified>
</cp:coreProperties>
</file>