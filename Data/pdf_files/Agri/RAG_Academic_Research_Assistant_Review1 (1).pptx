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595"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051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358"/>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3358"/>
          </a:solidFill>
          <a:ln/>
        </p:spPr>
      </p:sp>
      <p:sp>
        <p:nvSpPr>
          <p:cNvPr id="3" name="Shape 1"/>
          <p:cNvSpPr/>
          <p:nvPr/>
        </p:nvSpPr>
        <p:spPr>
          <a:xfrm>
            <a:off x="9784080" y="-1188720"/>
            <a:ext cx="3840480" cy="3840480"/>
          </a:xfrm>
          <a:prstGeom prst="ellipse">
            <a:avLst/>
          </a:prstGeom>
          <a:solidFill>
            <a:srgbClr val="1C7293">
              <a:alpha val="30000"/>
            </a:srgbClr>
          </a:solidFill>
          <a:ln/>
        </p:spPr>
      </p:sp>
      <p:sp>
        <p:nvSpPr>
          <p:cNvPr id="4" name="Shape 2"/>
          <p:cNvSpPr/>
          <p:nvPr/>
        </p:nvSpPr>
        <p:spPr>
          <a:xfrm>
            <a:off x="10881360" y="4206240"/>
            <a:ext cx="2377440" cy="2377440"/>
          </a:xfrm>
          <a:prstGeom prst="ellipse">
            <a:avLst/>
          </a:prstGeom>
          <a:solidFill>
            <a:srgbClr val="E8A33D">
              <a:alpha val="40000"/>
            </a:srgbClr>
          </a:solidFill>
          <a:ln/>
        </p:spPr>
      </p:sp>
      <p:sp>
        <p:nvSpPr>
          <p:cNvPr id="5" name="Text 3"/>
          <p:cNvSpPr txBox="1"/>
          <p:nvPr/>
        </p:nvSpPr>
        <p:spPr>
          <a:xfrm>
            <a:off x="777240" y="868680"/>
            <a:ext cx="82296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  SOFTWARE DEVELOPMENT PROJECT</a:t>
            </a:r>
            <a:endParaRPr lang="en-US" sz="1300" dirty="0"/>
          </a:p>
        </p:txBody>
      </p:sp>
      <p:sp>
        <p:nvSpPr>
          <p:cNvPr id="6" name="Text 4"/>
          <p:cNvSpPr txBox="1"/>
          <p:nvPr/>
        </p:nvSpPr>
        <p:spPr>
          <a:xfrm>
            <a:off x="777240" y="1119207"/>
            <a:ext cx="9601200" cy="192024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RAG-Based Academic</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Research Assistant</a:t>
            </a:r>
            <a:endParaRPr lang="en-US" sz="4600" dirty="0"/>
          </a:p>
        </p:txBody>
      </p:sp>
      <p:sp>
        <p:nvSpPr>
          <p:cNvPr id="7" name="Text 5"/>
          <p:cNvSpPr txBox="1"/>
          <p:nvPr/>
        </p:nvSpPr>
        <p:spPr>
          <a:xfrm>
            <a:off x="777240" y="2867219"/>
            <a:ext cx="8778240" cy="914400"/>
          </a:xfrm>
          <a:prstGeom prst="rect">
            <a:avLst/>
          </a:prstGeom>
          <a:noFill/>
          <a:ln/>
        </p:spPr>
        <p:txBody>
          <a:bodyPr wrap="square" lIns="0" tIns="0" rIns="0" bIns="0" rtlCol="0" anchor="ctr"/>
          <a:lstStyle/>
          <a:p>
            <a:pPr marL="0" indent="0">
              <a:buNone/>
            </a:pPr>
            <a:r>
              <a:rPr lang="en-US" sz="1500" i="1" dirty="0">
                <a:solidFill>
                  <a:srgbClr val="CADCE0"/>
                </a:solidFill>
                <a:latin typeface="Calibri" pitchFamily="34" charset="0"/>
                <a:ea typeface="Calibri" pitchFamily="34" charset="-122"/>
                <a:cs typeface="Calibri" pitchFamily="34" charset="-120"/>
              </a:rPr>
              <a:t>A Comparative Study of Retrieval-Augmented Generation Configurations for Question Answering over Academic Research Papers</a:t>
            </a:r>
            <a:endParaRPr lang="en-US" sz="1500" dirty="0"/>
          </a:p>
        </p:txBody>
      </p:sp>
      <p:sp>
        <p:nvSpPr>
          <p:cNvPr id="8" name="Shape 6"/>
          <p:cNvSpPr/>
          <p:nvPr/>
        </p:nvSpPr>
        <p:spPr>
          <a:xfrm>
            <a:off x="822960" y="3789151"/>
            <a:ext cx="2011680" cy="0"/>
          </a:xfrm>
          <a:prstGeom prst="line">
            <a:avLst/>
          </a:prstGeom>
          <a:noFill/>
          <a:ln w="25400">
            <a:solidFill>
              <a:srgbClr val="E8A33D"/>
            </a:solidFill>
            <a:prstDash val="solid"/>
          </a:ln>
        </p:spPr>
      </p:sp>
      <p:sp>
        <p:nvSpPr>
          <p:cNvPr id="10" name="Team Heading"/>
          <p:cNvSpPr txBox="1"/>
          <p:nvPr/>
        </p:nvSpPr>
        <p:spPr>
          <a:xfrm>
            <a:off x="822960" y="3954301"/>
            <a:ext cx="6000000" cy="22860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TEAM DETAILS · TEAM 31</a:t>
            </a:r>
            <a:endParaRPr lang="en-US" sz="1100" dirty="0"/>
          </a:p>
        </p:txBody>
      </p:sp>
      <p:graphicFrame>
        <p:nvGraphicFramePr>
          <p:cNvPr id="9" name="Team Table"/>
          <p:cNvGraphicFramePr>
            <a:graphicFrameLocks noGrp="1"/>
          </p:cNvGraphicFramePr>
          <p:nvPr>
            <p:extLst>
              <p:ext uri="{D42A27DB-BD31-4B8C-83A1-F6EECF244321}">
                <p14:modId xmlns:p14="http://schemas.microsoft.com/office/powerpoint/2010/main" val="145751933"/>
              </p:ext>
            </p:extLst>
          </p:nvPr>
        </p:nvGraphicFramePr>
        <p:xfrm>
          <a:off x="702595" y="4377144"/>
          <a:ext cx="5999999" cy="2035632"/>
        </p:xfrm>
        <a:graphic>
          <a:graphicData uri="http://schemas.openxmlformats.org/drawingml/2006/table">
            <a:tbl>
              <a:tblPr firstRow="1"/>
              <a:tblGrid>
                <a:gridCol w="468343">
                  <a:extLst>
                    <a:ext uri="{9D8B030D-6E8A-4147-A177-3AD203B41FA5}">
                      <a16:colId xmlns:a16="http://schemas.microsoft.com/office/drawing/2014/main" val="20000"/>
                    </a:ext>
                  </a:extLst>
                </a:gridCol>
                <a:gridCol w="2859886">
                  <a:extLst>
                    <a:ext uri="{9D8B030D-6E8A-4147-A177-3AD203B41FA5}">
                      <a16:colId xmlns:a16="http://schemas.microsoft.com/office/drawing/2014/main" val="20001"/>
                    </a:ext>
                  </a:extLst>
                </a:gridCol>
                <a:gridCol w="2671770">
                  <a:extLst>
                    <a:ext uri="{9D8B030D-6E8A-4147-A177-3AD203B41FA5}">
                      <a16:colId xmlns:a16="http://schemas.microsoft.com/office/drawing/2014/main" val="20002"/>
                    </a:ext>
                  </a:extLst>
                </a:gridCol>
              </a:tblGrid>
              <a:tr h="33927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Sl no.</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Name</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USN</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39272">
                <a:tc>
                  <a:txBody>
                    <a:bodyPr/>
                    <a:lstStyle/>
                    <a:p>
                      <a:pPr marL="0" indent="0" algn="ctr">
                        <a:buNone/>
                      </a:pPr>
                      <a:r>
                        <a:rPr lang="en-US" sz="900" dirty="0">
                          <a:solidFill>
                            <a:srgbClr val="E6EEF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Prajwal P Chabbi</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ctr">
                        <a:buNone/>
                      </a:pPr>
                      <a:r>
                        <a:rPr lang="en-US" sz="900" dirty="0">
                          <a:solidFill>
                            <a:srgbClr val="CADCE0"/>
                          </a:solidFill>
                          <a:latin typeface="Calibri" pitchFamily="34" charset="0"/>
                          <a:ea typeface="Calibri" pitchFamily="34" charset="-122"/>
                          <a:cs typeface="Calibri" pitchFamily="34" charset="-120"/>
                        </a:rPr>
                        <a:t>01FE23BCS194</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extLst>
                  <a:ext uri="{0D108BD9-81ED-4DB2-BD59-A6C34878D82A}">
                    <a16:rowId xmlns:a16="http://schemas.microsoft.com/office/drawing/2014/main" val="10001"/>
                  </a:ext>
                </a:extLst>
              </a:tr>
              <a:tr h="339272">
                <a:tc>
                  <a:txBody>
                    <a:bodyPr/>
                    <a:lstStyle/>
                    <a:p>
                      <a:pPr marL="0" indent="0" algn="ctr">
                        <a:buNone/>
                      </a:pPr>
                      <a:r>
                        <a:rPr lang="en-US" sz="900" dirty="0">
                          <a:solidFill>
                            <a:srgbClr val="E6EEF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Sujay Bk</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tc>
                  <a:txBody>
                    <a:bodyPr/>
                    <a:lstStyle/>
                    <a:p>
                      <a:pPr marL="0" indent="0" algn="ctr">
                        <a:buNone/>
                      </a:pPr>
                      <a:r>
                        <a:rPr lang="en-US" sz="900" dirty="0">
                          <a:solidFill>
                            <a:srgbClr val="CADCE0"/>
                          </a:solidFill>
                          <a:latin typeface="Calibri" pitchFamily="34" charset="0"/>
                          <a:ea typeface="Calibri" pitchFamily="34" charset="-122"/>
                          <a:cs typeface="Calibri" pitchFamily="34" charset="-120"/>
                        </a:rPr>
                        <a:t>01FE23BCS056</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extLst>
                  <a:ext uri="{0D108BD9-81ED-4DB2-BD59-A6C34878D82A}">
                    <a16:rowId xmlns:a16="http://schemas.microsoft.com/office/drawing/2014/main" val="10002"/>
                  </a:ext>
                </a:extLst>
              </a:tr>
              <a:tr h="339272">
                <a:tc>
                  <a:txBody>
                    <a:bodyPr/>
                    <a:lstStyle/>
                    <a:p>
                      <a:pPr marL="0" indent="0" algn="ctr">
                        <a:buNone/>
                      </a:pPr>
                      <a:r>
                        <a:rPr lang="en-US" sz="900" dirty="0">
                          <a:solidFill>
                            <a:srgbClr val="E6EEF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Mokshagna D</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ctr">
                        <a:buNone/>
                      </a:pPr>
                      <a:r>
                        <a:rPr lang="en-US" sz="900" dirty="0">
                          <a:solidFill>
                            <a:srgbClr val="CADCE0"/>
                          </a:solidFill>
                          <a:latin typeface="Calibri" pitchFamily="34" charset="0"/>
                          <a:ea typeface="Calibri" pitchFamily="34" charset="-122"/>
                          <a:cs typeface="Calibri" pitchFamily="34" charset="-120"/>
                        </a:rPr>
                        <a:t>01FE23BCS078</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extLst>
                  <a:ext uri="{0D108BD9-81ED-4DB2-BD59-A6C34878D82A}">
                    <a16:rowId xmlns:a16="http://schemas.microsoft.com/office/drawing/2014/main" val="10003"/>
                  </a:ext>
                </a:extLst>
              </a:tr>
              <a:tr h="339272">
                <a:tc>
                  <a:txBody>
                    <a:bodyPr/>
                    <a:lstStyle/>
                    <a:p>
                      <a:pPr marL="0" indent="0" algn="ctr">
                        <a:buNone/>
                      </a:pPr>
                      <a:r>
                        <a:rPr lang="en-US" sz="900" dirty="0">
                          <a:solidFill>
                            <a:srgbClr val="E6EEF2"/>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Pavan Krishna Sai Devarasetty</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tc>
                  <a:txBody>
                    <a:bodyPr/>
                    <a:lstStyle/>
                    <a:p>
                      <a:pPr marL="0" indent="0" algn="ctr">
                        <a:buNone/>
                      </a:pPr>
                      <a:r>
                        <a:rPr lang="en-US" sz="900" dirty="0">
                          <a:solidFill>
                            <a:srgbClr val="CADCE0"/>
                          </a:solidFill>
                          <a:latin typeface="Calibri" pitchFamily="34" charset="0"/>
                          <a:ea typeface="Calibri" pitchFamily="34" charset="-122"/>
                          <a:cs typeface="Calibri" pitchFamily="34" charset="-120"/>
                        </a:rPr>
                        <a:t>01FE23BCS238</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B3358"/>
                    </a:solidFill>
                  </a:tcPr>
                </a:tc>
                <a:extLst>
                  <a:ext uri="{0D108BD9-81ED-4DB2-BD59-A6C34878D82A}">
                    <a16:rowId xmlns:a16="http://schemas.microsoft.com/office/drawing/2014/main" val="10004"/>
                  </a:ext>
                </a:extLst>
              </a:tr>
              <a:tr h="339272">
                <a:tc>
                  <a:txBody>
                    <a:bodyPr/>
                    <a:lstStyle/>
                    <a:p>
                      <a:pPr marL="0" indent="0" algn="ctr">
                        <a:buNone/>
                      </a:pPr>
                      <a:r>
                        <a:rPr lang="en-US" sz="900" dirty="0">
                          <a:solidFill>
                            <a:srgbClr val="E6EEF2"/>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Snehvardhan Moldi</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tc>
                  <a:txBody>
                    <a:bodyPr/>
                    <a:lstStyle/>
                    <a:p>
                      <a:pPr marL="0" indent="0" algn="ctr">
                        <a:buNone/>
                      </a:pPr>
                      <a:r>
                        <a:rPr lang="en-US" sz="900" dirty="0">
                          <a:solidFill>
                            <a:srgbClr val="CADCE0"/>
                          </a:solidFill>
                          <a:latin typeface="Calibri" pitchFamily="34" charset="0"/>
                          <a:ea typeface="Calibri" pitchFamily="34" charset="-122"/>
                          <a:cs typeface="Calibri" pitchFamily="34" charset="-120"/>
                        </a:rPr>
                        <a:t>01FE23BCS066</a:t>
                      </a:r>
                      <a:endParaRPr lang="en-US" sz="900" dirty="0">
                        <a:latin typeface="Calibri" charset="0"/>
                        <a:ea typeface="Calibri" charset="0"/>
                        <a:cs typeface="Calibri" charset="0"/>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rgbClr val="0F3C6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Why this project matters</a:t>
            </a:r>
            <a:endParaRPr lang="en-US" sz="3200" dirty="0"/>
          </a:p>
        </p:txBody>
      </p:sp>
      <p:sp>
        <p:nvSpPr>
          <p:cNvPr id="4" name="Text 2"/>
          <p:cNvSpPr txBox="1"/>
          <p:nvPr/>
        </p:nvSpPr>
        <p:spPr>
          <a:xfrm>
            <a:off x="548640" y="1737360"/>
            <a:ext cx="6035040" cy="2011680"/>
          </a:xfrm>
          <a:prstGeom prst="rect">
            <a:avLst/>
          </a:prstGeom>
          <a:noFill/>
          <a:ln/>
        </p:spPr>
        <p:txBody>
          <a:bodyPr wrap="square" lIns="0" tIns="0" rIns="0" bIns="0" rtlCol="0" anchor="ctr"/>
          <a:lstStyle/>
          <a:p>
            <a:pPr marL="0" indent="0">
              <a:lnSpc>
                <a:spcPct val="125000"/>
              </a:lnSpc>
              <a:buNone/>
            </a:pPr>
            <a:r>
              <a:rPr lang="en-US" sz="1500" dirty="0">
                <a:solidFill>
                  <a:srgbClr val="1A1A1A"/>
                </a:solidFill>
                <a:latin typeface="Calibri" pitchFamily="34" charset="0"/>
                <a:ea typeface="Calibri" pitchFamily="34" charset="-122"/>
                <a:cs typeface="Calibri" pitchFamily="34" charset="-120"/>
              </a:rPr>
              <a:t>Researchers often need to read many papers to find specific information, compare methods, and understand prior work. Manually searching large paper collections is slow and makes it hard to pinpoint the most relevant material.</a:t>
            </a:r>
            <a:endParaRPr lang="en-US" sz="1500" dirty="0"/>
          </a:p>
        </p:txBody>
      </p:sp>
      <p:sp>
        <p:nvSpPr>
          <p:cNvPr id="5" name="Text 3"/>
          <p:cNvSpPr txBox="1"/>
          <p:nvPr/>
        </p:nvSpPr>
        <p:spPr>
          <a:xfrm>
            <a:off x="548640" y="3840480"/>
            <a:ext cx="6035040" cy="1463040"/>
          </a:xfrm>
          <a:prstGeom prst="rect">
            <a:avLst/>
          </a:prstGeom>
          <a:noFill/>
          <a:ln/>
        </p:spPr>
        <p:txBody>
          <a:bodyPr wrap="square" lIns="0" tIns="0" rIns="0" bIns="0" rtlCol="0" anchor="ctr"/>
          <a:lstStyle/>
          <a:p>
            <a:pPr marL="0" indent="0">
              <a:lnSpc>
                <a:spcPct val="125000"/>
              </a:lnSpc>
              <a:buNone/>
            </a:pPr>
            <a:r>
              <a:rPr lang="en-US" sz="1500" dirty="0">
                <a:solidFill>
                  <a:srgbClr val="1A1A1A"/>
                </a:solidFill>
                <a:latin typeface="Calibri" pitchFamily="34" charset="0"/>
                <a:ea typeface="Calibri" pitchFamily="34" charset="-122"/>
                <a:cs typeface="Calibri" pitchFamily="34" charset="-120"/>
              </a:rPr>
              <a:t>A RAG-based system retrieves relevant sections from papers and uses an LLM to generate grounded answers — but chunking, retrieval, reranking, and generation choices all affect answer quality.</a:t>
            </a:r>
            <a:endParaRPr lang="en-US" sz="1500" dirty="0"/>
          </a:p>
        </p:txBody>
      </p:sp>
      <p:sp>
        <p:nvSpPr>
          <p:cNvPr id="6" name="Shape 4"/>
          <p:cNvSpPr/>
          <p:nvPr/>
        </p:nvSpPr>
        <p:spPr>
          <a:xfrm>
            <a:off x="7040880" y="1737360"/>
            <a:ext cx="4480560" cy="3566160"/>
          </a:xfrm>
          <a:prstGeom prst="roundRect">
            <a:avLst>
              <a:gd name="adj" fmla="val 3077"/>
            </a:avLst>
          </a:prstGeom>
          <a:solidFill>
            <a:srgbClr val="0B3358"/>
          </a:solidFill>
          <a:ln/>
        </p:spPr>
      </p:sp>
      <p:sp>
        <p:nvSpPr>
          <p:cNvPr id="7" name="Text 5"/>
          <p:cNvSpPr txBox="1"/>
          <p:nvPr/>
        </p:nvSpPr>
        <p:spPr>
          <a:xfrm>
            <a:off x="7406640" y="2011680"/>
            <a:ext cx="36576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GOAL</a:t>
            </a:r>
            <a:endParaRPr lang="en-US" sz="1200" dirty="0"/>
          </a:p>
        </p:txBody>
      </p:sp>
      <p:sp>
        <p:nvSpPr>
          <p:cNvPr id="8" name="Text 6"/>
          <p:cNvSpPr txBox="1"/>
          <p:nvPr/>
        </p:nvSpPr>
        <p:spPr>
          <a:xfrm>
            <a:off x="7406640" y="2423160"/>
            <a:ext cx="3749040" cy="2651760"/>
          </a:xfrm>
          <a:prstGeom prst="rect">
            <a:avLst/>
          </a:prstGeom>
          <a:noFill/>
          <a:ln/>
        </p:spPr>
        <p:txBody>
          <a:bodyPr wrap="square" lIns="0" tIns="0" rIns="0" bIns="0" rtlCol="0" anchor="ctr"/>
          <a:lstStyle/>
          <a:p>
            <a:pPr marL="0" indent="0">
              <a:lnSpc>
                <a:spcPct val="130000"/>
              </a:lnSpc>
              <a:buNone/>
            </a:pPr>
            <a:r>
              <a:rPr lang="en-US" sz="1800" dirty="0">
                <a:solidFill>
                  <a:srgbClr val="FFFFFF"/>
                </a:solidFill>
                <a:latin typeface="Cambria" pitchFamily="34" charset="0"/>
                <a:ea typeface="Cambria" pitchFamily="34" charset="-122"/>
                <a:cs typeface="Cambria" pitchFamily="34" charset="-120"/>
              </a:rPr>
              <a:t>Reduce the time and effort needed to search and understand information across large collections of research papers using a RAG-based QA system.</a:t>
            </a:r>
            <a:endParaRPr lang="en-US" sz="1800" dirty="0"/>
          </a:p>
        </p:txBody>
      </p:sp>
      <p:sp>
        <p:nvSpPr>
          <p:cNvPr id="9" name="Text 7"/>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LITERATURE SURVEY  ·  1 OF 2</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Foundational RAG research</a:t>
            </a:r>
            <a:endParaRPr lang="en-US" sz="3200" dirty="0"/>
          </a:p>
        </p:txBody>
      </p:sp>
      <p:sp>
        <p:nvSpPr>
          <p:cNvPr id="4" name="Shape 2"/>
          <p:cNvSpPr/>
          <p:nvPr/>
        </p:nvSpPr>
        <p:spPr>
          <a:xfrm>
            <a:off x="548640" y="1965960"/>
            <a:ext cx="3429000" cy="3200400"/>
          </a:xfrm>
          <a:prstGeom prst="roundRect">
            <a:avLst>
              <a:gd name="adj" fmla="val 2286"/>
            </a:avLst>
          </a:prstGeom>
          <a:solidFill>
            <a:srgbClr val="FFFFFF"/>
          </a:solidFill>
          <a:ln w="12700">
            <a:solidFill>
              <a:srgbClr val="DCE3E8"/>
            </a:solidFill>
            <a:prstDash val="solid"/>
          </a:ln>
        </p:spPr>
      </p:sp>
      <p:sp>
        <p:nvSpPr>
          <p:cNvPr id="5" name="Shape 3"/>
          <p:cNvSpPr/>
          <p:nvPr/>
        </p:nvSpPr>
        <p:spPr>
          <a:xfrm>
            <a:off x="777240" y="2194560"/>
            <a:ext cx="457200" cy="457200"/>
          </a:xfrm>
          <a:prstGeom prst="ellipse">
            <a:avLst/>
          </a:prstGeom>
          <a:solidFill>
            <a:srgbClr val="1C7293"/>
          </a:solidFill>
          <a:ln/>
        </p:spPr>
      </p:sp>
      <p:sp>
        <p:nvSpPr>
          <p:cNvPr id="6" name="Text 4"/>
          <p:cNvSpPr txBox="1"/>
          <p:nvPr/>
        </p:nvSpPr>
        <p:spPr>
          <a:xfrm>
            <a:off x="77724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2167128"/>
            <a:ext cx="2331720" cy="502920"/>
          </a:xfrm>
          <a:prstGeom prst="rect">
            <a:avLst/>
          </a:prstGeom>
          <a:noFill/>
          <a:ln/>
        </p:spPr>
        <p:txBody>
          <a:bodyPr wrap="square" lIns="0" tIns="0" rIns="0" bIns="0" rtlCol="0" anchor="ctr"/>
          <a:lstStyle/>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Lewis et al. (2020)</a:t>
            </a:r>
            <a:endParaRPr lang="en-US" sz="1300" dirty="0"/>
          </a:p>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Retrieval-Augmented Generation for Knowledge-Intensive NLP Tasks</a:t>
            </a:r>
            <a:endParaRPr lang="en-US" sz="1300" dirty="0"/>
          </a:p>
        </p:txBody>
      </p:sp>
      <p:sp>
        <p:nvSpPr>
          <p:cNvPr id="8" name="Text 6"/>
          <p:cNvSpPr txBox="1"/>
          <p:nvPr/>
        </p:nvSpPr>
        <p:spPr>
          <a:xfrm>
            <a:off x="822960" y="2834640"/>
            <a:ext cx="2880360" cy="2148840"/>
          </a:xfrm>
          <a:prstGeom prst="rect">
            <a:avLst/>
          </a:prstGeom>
          <a:noFill/>
          <a:ln/>
        </p:spPr>
        <p:txBody>
          <a:bodyPr wrap="square" lIns="0" tIns="0" rIns="0" bIns="0" rtlCol="0" anchor="t"/>
          <a:lstStyle/>
          <a:p>
            <a:pPr marL="0" indent="0">
              <a:lnSpc>
                <a:spcPct val="120000"/>
              </a:lnSpc>
              <a:buNone/>
            </a:pPr>
            <a:r>
              <a:rPr lang="en-US" sz="1100" b="1" dirty="0">
                <a:solidFill>
                  <a:srgbClr val="1C7293"/>
                </a:solidFill>
                <a:latin typeface="Calibri" pitchFamily="34" charset="0"/>
                <a:ea typeface="Calibri" pitchFamily="34" charset="-122"/>
                <a:cs typeface="Calibri" pitchFamily="34" charset="-120"/>
              </a:rPr>
              <a:t>What: </a:t>
            </a:r>
            <a:r>
              <a:rPr lang="en-US" sz="1100" dirty="0">
                <a:solidFill>
                  <a:srgbClr val="1A1A1A"/>
                </a:solidFill>
                <a:latin typeface="Calibri" pitchFamily="34" charset="0"/>
                <a:ea typeface="Calibri" pitchFamily="34" charset="-122"/>
                <a:cs typeface="Calibri" pitchFamily="34" charset="-120"/>
              </a:rPr>
              <a:t>Introduced the RAG approach.
</a:t>
            </a:r>
            <a:r>
              <a:rPr lang="en-US" sz="1100" b="1" dirty="0">
                <a:solidFill>
                  <a:srgbClr val="1C7293"/>
                </a:solidFill>
                <a:latin typeface="Calibri" pitchFamily="34" charset="0"/>
                <a:ea typeface="Calibri" pitchFamily="34" charset="-122"/>
                <a:cs typeface="Calibri" pitchFamily="34" charset="-120"/>
              </a:rPr>
              <a:t>How: </a:t>
            </a:r>
            <a:r>
              <a:rPr lang="en-US" sz="1100" dirty="0">
                <a:solidFill>
                  <a:srgbClr val="1A1A1A"/>
                </a:solidFill>
                <a:latin typeface="Calibri" pitchFamily="34" charset="0"/>
                <a:ea typeface="Calibri" pitchFamily="34" charset="-122"/>
                <a:cs typeface="Calibri" pitchFamily="34" charset="-120"/>
              </a:rPr>
              <a:t>Retrieves relevant info from an external knowledge source and uses an LLM to generate an answer.
</a:t>
            </a:r>
            <a:r>
              <a:rPr lang="en-US" sz="1100" b="1" dirty="0">
                <a:solidFill>
                  <a:srgbClr val="E8A33D"/>
                </a:solidFill>
                <a:latin typeface="Calibri" pitchFamily="34" charset="0"/>
                <a:ea typeface="Calibri" pitchFamily="34" charset="-122"/>
                <a:cs typeface="Calibri" pitchFamily="34" charset="-120"/>
              </a:rPr>
              <a:t>Limitation: </a:t>
            </a:r>
            <a:r>
              <a:rPr lang="en-US" sz="1100" dirty="0">
                <a:solidFill>
                  <a:srgbClr val="1A1A1A"/>
                </a:solidFill>
                <a:latin typeface="Calibri" pitchFamily="34" charset="0"/>
                <a:ea typeface="Calibri" pitchFamily="34" charset="-122"/>
                <a:cs typeface="Calibri" pitchFamily="34" charset="-120"/>
              </a:rPr>
              <a:t>Focuses on general knowledge tasks — not academic paper QA or PDF processing strategies.</a:t>
            </a:r>
            <a:endParaRPr lang="en-US" sz="1100" dirty="0"/>
          </a:p>
        </p:txBody>
      </p:sp>
      <p:sp>
        <p:nvSpPr>
          <p:cNvPr id="9" name="Shape 7"/>
          <p:cNvSpPr/>
          <p:nvPr/>
        </p:nvSpPr>
        <p:spPr>
          <a:xfrm>
            <a:off x="4297680" y="1965960"/>
            <a:ext cx="3429000" cy="3200400"/>
          </a:xfrm>
          <a:prstGeom prst="roundRect">
            <a:avLst>
              <a:gd name="adj" fmla="val 2286"/>
            </a:avLst>
          </a:prstGeom>
          <a:solidFill>
            <a:srgbClr val="FFFFFF"/>
          </a:solidFill>
          <a:ln w="12700">
            <a:solidFill>
              <a:srgbClr val="DCE3E8"/>
            </a:solidFill>
            <a:prstDash val="solid"/>
          </a:ln>
        </p:spPr>
      </p:sp>
      <p:sp>
        <p:nvSpPr>
          <p:cNvPr id="10" name="Shape 8"/>
          <p:cNvSpPr/>
          <p:nvPr/>
        </p:nvSpPr>
        <p:spPr>
          <a:xfrm>
            <a:off x="4526280" y="2194560"/>
            <a:ext cx="457200" cy="457200"/>
          </a:xfrm>
          <a:prstGeom prst="ellipse">
            <a:avLst/>
          </a:prstGeom>
          <a:solidFill>
            <a:srgbClr val="1C7293"/>
          </a:solidFill>
          <a:ln/>
        </p:spPr>
      </p:sp>
      <p:sp>
        <p:nvSpPr>
          <p:cNvPr id="11" name="Text 9"/>
          <p:cNvSpPr txBox="1"/>
          <p:nvPr/>
        </p:nvSpPr>
        <p:spPr>
          <a:xfrm>
            <a:off x="452628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166360" y="2167128"/>
            <a:ext cx="2331720" cy="502920"/>
          </a:xfrm>
          <a:prstGeom prst="rect">
            <a:avLst/>
          </a:prstGeom>
          <a:noFill/>
          <a:ln/>
        </p:spPr>
        <p:txBody>
          <a:bodyPr wrap="square" lIns="0" tIns="0" rIns="0" bIns="0" rtlCol="0" anchor="ctr"/>
          <a:lstStyle/>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Lála et al. (2023)</a:t>
            </a:r>
            <a:endParaRPr lang="en-US" sz="1300" dirty="0"/>
          </a:p>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PaperQA: Retrieval-Augmented Generative Agent for Scientific Research</a:t>
            </a:r>
            <a:endParaRPr lang="en-US" sz="1300" dirty="0"/>
          </a:p>
        </p:txBody>
      </p:sp>
      <p:sp>
        <p:nvSpPr>
          <p:cNvPr id="13" name="Text 11"/>
          <p:cNvSpPr txBox="1"/>
          <p:nvPr/>
        </p:nvSpPr>
        <p:spPr>
          <a:xfrm>
            <a:off x="4572000" y="2834640"/>
            <a:ext cx="2880360" cy="2148840"/>
          </a:xfrm>
          <a:prstGeom prst="rect">
            <a:avLst/>
          </a:prstGeom>
          <a:noFill/>
          <a:ln/>
        </p:spPr>
        <p:txBody>
          <a:bodyPr wrap="square" lIns="0" tIns="0" rIns="0" bIns="0" rtlCol="0" anchor="t"/>
          <a:lstStyle/>
          <a:p>
            <a:pPr marL="0" indent="0">
              <a:lnSpc>
                <a:spcPct val="120000"/>
              </a:lnSpc>
              <a:buNone/>
            </a:pPr>
            <a:r>
              <a:rPr lang="en-US" sz="1100" b="1" dirty="0">
                <a:solidFill>
                  <a:srgbClr val="1C7293"/>
                </a:solidFill>
                <a:latin typeface="Calibri" pitchFamily="34" charset="0"/>
                <a:ea typeface="Calibri" pitchFamily="34" charset="-122"/>
                <a:cs typeface="Calibri" pitchFamily="34" charset="-120"/>
              </a:rPr>
              <a:t>What: </a:t>
            </a:r>
            <a:r>
              <a:rPr lang="en-US" sz="1100" dirty="0">
                <a:solidFill>
                  <a:srgbClr val="1A1A1A"/>
                </a:solidFill>
                <a:latin typeface="Calibri" pitchFamily="34" charset="0"/>
                <a:ea typeface="Calibri" pitchFamily="34" charset="-122"/>
                <a:cs typeface="Calibri" pitchFamily="34" charset="-120"/>
              </a:rPr>
              <a:t>A system for answering questions using scientific literature.
</a:t>
            </a:r>
            <a:r>
              <a:rPr lang="en-US" sz="1100" b="1" dirty="0">
                <a:solidFill>
                  <a:srgbClr val="1C7293"/>
                </a:solidFill>
                <a:latin typeface="Calibri" pitchFamily="34" charset="0"/>
                <a:ea typeface="Calibri" pitchFamily="34" charset="-122"/>
                <a:cs typeface="Calibri" pitchFamily="34" charset="-120"/>
              </a:rPr>
              <a:t>How: </a:t>
            </a:r>
            <a:r>
              <a:rPr lang="en-US" sz="1100" dirty="0">
                <a:solidFill>
                  <a:srgbClr val="1A1A1A"/>
                </a:solidFill>
                <a:latin typeface="Calibri" pitchFamily="34" charset="0"/>
                <a:ea typeface="Calibri" pitchFamily="34" charset="-122"/>
                <a:cs typeface="Calibri" pitchFamily="34" charset="-120"/>
              </a:rPr>
              <a:t>Retrieves relevant info from scientific papers and generates evidence-supported answers.
</a:t>
            </a:r>
            <a:r>
              <a:rPr lang="en-US" sz="1100" b="1" dirty="0">
                <a:solidFill>
                  <a:srgbClr val="E8A33D"/>
                </a:solidFill>
                <a:latin typeface="Calibri" pitchFamily="34" charset="0"/>
                <a:ea typeface="Calibri" pitchFamily="34" charset="-122"/>
                <a:cs typeface="Calibri" pitchFamily="34" charset="-120"/>
              </a:rPr>
              <a:t>Limitation: </a:t>
            </a:r>
            <a:r>
              <a:rPr lang="en-US" sz="1100" dirty="0">
                <a:solidFill>
                  <a:srgbClr val="1A1A1A"/>
                </a:solidFill>
                <a:latin typeface="Calibri" pitchFamily="34" charset="0"/>
                <a:ea typeface="Calibri" pitchFamily="34" charset="-122"/>
                <a:cs typeface="Calibri" pitchFamily="34" charset="-120"/>
              </a:rPr>
              <a:t>Focuses on building the assistant, not on systematically comparing chunking/retrieval/reranking/generation combinations.</a:t>
            </a:r>
            <a:endParaRPr lang="en-US" sz="1100" dirty="0"/>
          </a:p>
        </p:txBody>
      </p:sp>
      <p:sp>
        <p:nvSpPr>
          <p:cNvPr id="14" name="Shape 12"/>
          <p:cNvSpPr/>
          <p:nvPr/>
        </p:nvSpPr>
        <p:spPr>
          <a:xfrm>
            <a:off x="8046720" y="1965960"/>
            <a:ext cx="3429000" cy="3200400"/>
          </a:xfrm>
          <a:prstGeom prst="roundRect">
            <a:avLst>
              <a:gd name="adj" fmla="val 2286"/>
            </a:avLst>
          </a:prstGeom>
          <a:solidFill>
            <a:srgbClr val="FFFFFF"/>
          </a:solidFill>
          <a:ln w="12700">
            <a:solidFill>
              <a:srgbClr val="DCE3E8"/>
            </a:solidFill>
            <a:prstDash val="solid"/>
          </a:ln>
        </p:spPr>
      </p:sp>
      <p:sp>
        <p:nvSpPr>
          <p:cNvPr id="15" name="Shape 13"/>
          <p:cNvSpPr/>
          <p:nvPr/>
        </p:nvSpPr>
        <p:spPr>
          <a:xfrm>
            <a:off x="8275320" y="2194560"/>
            <a:ext cx="457200" cy="457200"/>
          </a:xfrm>
          <a:prstGeom prst="ellipse">
            <a:avLst/>
          </a:prstGeom>
          <a:solidFill>
            <a:srgbClr val="1C7293"/>
          </a:solidFill>
          <a:ln/>
        </p:spPr>
      </p:sp>
      <p:sp>
        <p:nvSpPr>
          <p:cNvPr id="16" name="Text 14"/>
          <p:cNvSpPr txBox="1"/>
          <p:nvPr/>
        </p:nvSpPr>
        <p:spPr>
          <a:xfrm>
            <a:off x="827532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915400" y="2167128"/>
            <a:ext cx="2331720" cy="502920"/>
          </a:xfrm>
          <a:prstGeom prst="rect">
            <a:avLst/>
          </a:prstGeom>
          <a:noFill/>
          <a:ln/>
        </p:spPr>
        <p:txBody>
          <a:bodyPr wrap="square" lIns="0" tIns="0" rIns="0" bIns="0" rtlCol="0" anchor="ctr"/>
          <a:lstStyle/>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Asai et al. (2024)</a:t>
            </a:r>
            <a:endParaRPr lang="en-US" sz="1300" dirty="0"/>
          </a:p>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Self-RAG: Learning to Retrieve, Generate, and Critique through Self-Reflection</a:t>
            </a:r>
            <a:endParaRPr lang="en-US" sz="1300" dirty="0"/>
          </a:p>
        </p:txBody>
      </p:sp>
      <p:sp>
        <p:nvSpPr>
          <p:cNvPr id="18" name="Text 16"/>
          <p:cNvSpPr txBox="1"/>
          <p:nvPr/>
        </p:nvSpPr>
        <p:spPr>
          <a:xfrm>
            <a:off x="8321040" y="2834640"/>
            <a:ext cx="2880360" cy="2148840"/>
          </a:xfrm>
          <a:prstGeom prst="rect">
            <a:avLst/>
          </a:prstGeom>
          <a:noFill/>
          <a:ln/>
        </p:spPr>
        <p:txBody>
          <a:bodyPr wrap="square" lIns="0" tIns="0" rIns="0" bIns="0" rtlCol="0" anchor="t"/>
          <a:lstStyle/>
          <a:p>
            <a:pPr marL="0" indent="0">
              <a:lnSpc>
                <a:spcPct val="120000"/>
              </a:lnSpc>
              <a:buNone/>
            </a:pPr>
            <a:r>
              <a:rPr lang="en-US" sz="1100" b="1" dirty="0">
                <a:solidFill>
                  <a:srgbClr val="1C7293"/>
                </a:solidFill>
                <a:latin typeface="Calibri" pitchFamily="34" charset="0"/>
                <a:ea typeface="Calibri" pitchFamily="34" charset="-122"/>
                <a:cs typeface="Calibri" pitchFamily="34" charset="-120"/>
              </a:rPr>
              <a:t>What: </a:t>
            </a:r>
            <a:r>
              <a:rPr lang="en-US" sz="1100" dirty="0">
                <a:solidFill>
                  <a:srgbClr val="1A1A1A"/>
                </a:solidFill>
                <a:latin typeface="Calibri" pitchFamily="34" charset="0"/>
                <a:ea typeface="Calibri" pitchFamily="34" charset="-122"/>
                <a:cs typeface="Calibri" pitchFamily="34" charset="-120"/>
              </a:rPr>
              <a:t>Improves RAG via self-reflection.
</a:t>
            </a:r>
            <a:r>
              <a:rPr lang="en-US" sz="1100" b="1" dirty="0">
                <a:solidFill>
                  <a:srgbClr val="1C7293"/>
                </a:solidFill>
                <a:latin typeface="Calibri" pitchFamily="34" charset="0"/>
                <a:ea typeface="Calibri" pitchFamily="34" charset="-122"/>
                <a:cs typeface="Calibri" pitchFamily="34" charset="-120"/>
              </a:rPr>
              <a:t>How: </a:t>
            </a:r>
            <a:r>
              <a:rPr lang="en-US" sz="1100" dirty="0">
                <a:solidFill>
                  <a:srgbClr val="1A1A1A"/>
                </a:solidFill>
                <a:latin typeface="Calibri" pitchFamily="34" charset="0"/>
                <a:ea typeface="Calibri" pitchFamily="34" charset="-122"/>
                <a:cs typeface="Calibri" pitchFamily="34" charset="-120"/>
              </a:rPr>
              <a:t>Decides when retrieval is needed and evaluates its own generated output.
</a:t>
            </a:r>
            <a:r>
              <a:rPr lang="en-US" sz="1100" b="1" dirty="0">
                <a:solidFill>
                  <a:srgbClr val="E8A33D"/>
                </a:solidFill>
                <a:latin typeface="Calibri" pitchFamily="34" charset="0"/>
                <a:ea typeface="Calibri" pitchFamily="34" charset="-122"/>
                <a:cs typeface="Calibri" pitchFamily="34" charset="-120"/>
              </a:rPr>
              <a:t>Limitation: </a:t>
            </a:r>
            <a:r>
              <a:rPr lang="en-US" sz="1100" dirty="0">
                <a:solidFill>
                  <a:srgbClr val="1A1A1A"/>
                </a:solidFill>
                <a:latin typeface="Calibri" pitchFamily="34" charset="0"/>
                <a:ea typeface="Calibri" pitchFamily="34" charset="-122"/>
                <a:cs typeface="Calibri" pitchFamily="34" charset="-120"/>
              </a:rPr>
              <a:t>Focuses on adaptive retrieval and self-reflection, not on comparing RAG configurations for academic papers.</a:t>
            </a:r>
            <a:endParaRPr lang="en-US" sz="1100" dirty="0"/>
          </a:p>
        </p:txBody>
      </p:sp>
      <p:sp>
        <p:nvSpPr>
          <p:cNvPr id="19" name="Text 17"/>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LITERATURE SURVEY  ·  2 OF 2</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Benchmarking &amp; chunking research</a:t>
            </a:r>
            <a:endParaRPr lang="en-US" sz="3200" dirty="0"/>
          </a:p>
        </p:txBody>
      </p:sp>
      <p:sp>
        <p:nvSpPr>
          <p:cNvPr id="4" name="Shape 2"/>
          <p:cNvSpPr/>
          <p:nvPr/>
        </p:nvSpPr>
        <p:spPr>
          <a:xfrm>
            <a:off x="548640" y="1965960"/>
            <a:ext cx="3429000" cy="3200400"/>
          </a:xfrm>
          <a:prstGeom prst="roundRect">
            <a:avLst>
              <a:gd name="adj" fmla="val 2286"/>
            </a:avLst>
          </a:prstGeom>
          <a:solidFill>
            <a:srgbClr val="FFFFFF"/>
          </a:solidFill>
          <a:ln w="12700">
            <a:solidFill>
              <a:srgbClr val="DCE3E8"/>
            </a:solidFill>
            <a:prstDash val="solid"/>
          </a:ln>
        </p:spPr>
      </p:sp>
      <p:sp>
        <p:nvSpPr>
          <p:cNvPr id="5" name="Shape 3"/>
          <p:cNvSpPr/>
          <p:nvPr/>
        </p:nvSpPr>
        <p:spPr>
          <a:xfrm>
            <a:off x="777240" y="2194560"/>
            <a:ext cx="457200" cy="457200"/>
          </a:xfrm>
          <a:prstGeom prst="ellipse">
            <a:avLst/>
          </a:prstGeom>
          <a:solidFill>
            <a:srgbClr val="1C7293"/>
          </a:solidFill>
          <a:ln/>
        </p:spPr>
      </p:sp>
      <p:sp>
        <p:nvSpPr>
          <p:cNvPr id="6" name="Text 4"/>
          <p:cNvSpPr txBox="1"/>
          <p:nvPr/>
        </p:nvSpPr>
        <p:spPr>
          <a:xfrm>
            <a:off x="77724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5"/>
          <p:cNvSpPr txBox="1"/>
          <p:nvPr/>
        </p:nvSpPr>
        <p:spPr>
          <a:xfrm>
            <a:off x="1417320" y="2167128"/>
            <a:ext cx="2331720" cy="502920"/>
          </a:xfrm>
          <a:prstGeom prst="rect">
            <a:avLst/>
          </a:prstGeom>
          <a:noFill/>
          <a:ln/>
        </p:spPr>
        <p:txBody>
          <a:bodyPr wrap="square" lIns="0" tIns="0" rIns="0" bIns="0" rtlCol="0" anchor="ctr"/>
          <a:lstStyle/>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Rau et al. (2024)</a:t>
            </a:r>
            <a:endParaRPr lang="en-US" sz="1300" dirty="0"/>
          </a:p>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BERGEN: A Benchmarking Library for Retrieval-Augmented Generation</a:t>
            </a:r>
            <a:endParaRPr lang="en-US" sz="1300" dirty="0"/>
          </a:p>
        </p:txBody>
      </p:sp>
      <p:sp>
        <p:nvSpPr>
          <p:cNvPr id="8" name="Text 6"/>
          <p:cNvSpPr txBox="1"/>
          <p:nvPr/>
        </p:nvSpPr>
        <p:spPr>
          <a:xfrm>
            <a:off x="822960" y="2834640"/>
            <a:ext cx="2880360" cy="2148840"/>
          </a:xfrm>
          <a:prstGeom prst="rect">
            <a:avLst/>
          </a:prstGeom>
          <a:noFill/>
          <a:ln/>
        </p:spPr>
        <p:txBody>
          <a:bodyPr wrap="square" lIns="0" tIns="0" rIns="0" bIns="0" rtlCol="0" anchor="t"/>
          <a:lstStyle/>
          <a:p>
            <a:pPr marL="0" indent="0">
              <a:lnSpc>
                <a:spcPct val="120000"/>
              </a:lnSpc>
              <a:buNone/>
            </a:pPr>
            <a:r>
              <a:rPr lang="en-US" sz="1100" b="1" dirty="0">
                <a:solidFill>
                  <a:srgbClr val="1C7293"/>
                </a:solidFill>
                <a:latin typeface="Calibri" pitchFamily="34" charset="0"/>
                <a:ea typeface="Calibri" pitchFamily="34" charset="-122"/>
                <a:cs typeface="Calibri" pitchFamily="34" charset="-120"/>
              </a:rPr>
              <a:t>What: </a:t>
            </a:r>
            <a:r>
              <a:rPr lang="en-US" sz="1100" dirty="0">
                <a:solidFill>
                  <a:srgbClr val="1A1A1A"/>
                </a:solidFill>
                <a:latin typeface="Calibri" pitchFamily="34" charset="0"/>
                <a:ea typeface="Calibri" pitchFamily="34" charset="-122"/>
                <a:cs typeface="Calibri" pitchFamily="34" charset="-120"/>
              </a:rPr>
              <a:t>A framework for comparing RAG systems.
</a:t>
            </a:r>
            <a:r>
              <a:rPr lang="en-US" sz="1100" b="1" dirty="0">
                <a:solidFill>
                  <a:srgbClr val="1C7293"/>
                </a:solidFill>
                <a:latin typeface="Calibri" pitchFamily="34" charset="0"/>
                <a:ea typeface="Calibri" pitchFamily="34" charset="-122"/>
                <a:cs typeface="Calibri" pitchFamily="34" charset="-120"/>
              </a:rPr>
              <a:t>How: </a:t>
            </a:r>
            <a:r>
              <a:rPr lang="en-US" sz="1100" dirty="0">
                <a:solidFill>
                  <a:srgbClr val="1A1A1A"/>
                </a:solidFill>
                <a:latin typeface="Calibri" pitchFamily="34" charset="0"/>
                <a:ea typeface="Calibri" pitchFamily="34" charset="-122"/>
                <a:cs typeface="Calibri" pitchFamily="34" charset="-120"/>
              </a:rPr>
              <a:t>Evaluates different retrievers, rerankers, generators, datasets, and configurations.
</a:t>
            </a:r>
            <a:r>
              <a:rPr lang="en-US" sz="1100" b="1" dirty="0">
                <a:solidFill>
                  <a:srgbClr val="E8A33D"/>
                </a:solidFill>
                <a:latin typeface="Calibri" pitchFamily="34" charset="0"/>
                <a:ea typeface="Calibri" pitchFamily="34" charset="-122"/>
                <a:cs typeface="Calibri" pitchFamily="34" charset="-120"/>
              </a:rPr>
              <a:t>Limitation: </a:t>
            </a:r>
            <a:r>
              <a:rPr lang="en-US" sz="1100" dirty="0">
                <a:solidFill>
                  <a:srgbClr val="1A1A1A"/>
                </a:solidFill>
                <a:latin typeface="Calibri" pitchFamily="34" charset="0"/>
                <a:ea typeface="Calibri" pitchFamily="34" charset="-122"/>
                <a:cs typeface="Calibri" pitchFamily="34" charset="-120"/>
              </a:rPr>
              <a:t>Focuses on general QA benchmarks rather than a dedicated academic research-paper dataset.</a:t>
            </a:r>
            <a:endParaRPr lang="en-US" sz="1100" dirty="0"/>
          </a:p>
        </p:txBody>
      </p:sp>
      <p:sp>
        <p:nvSpPr>
          <p:cNvPr id="9" name="Shape 7"/>
          <p:cNvSpPr/>
          <p:nvPr/>
        </p:nvSpPr>
        <p:spPr>
          <a:xfrm>
            <a:off x="4297680" y="1965960"/>
            <a:ext cx="3429000" cy="3200400"/>
          </a:xfrm>
          <a:prstGeom prst="roundRect">
            <a:avLst>
              <a:gd name="adj" fmla="val 2286"/>
            </a:avLst>
          </a:prstGeom>
          <a:solidFill>
            <a:srgbClr val="FFFFFF"/>
          </a:solidFill>
          <a:ln w="12700">
            <a:solidFill>
              <a:srgbClr val="DCE3E8"/>
            </a:solidFill>
            <a:prstDash val="solid"/>
          </a:ln>
        </p:spPr>
      </p:sp>
      <p:sp>
        <p:nvSpPr>
          <p:cNvPr id="10" name="Shape 8"/>
          <p:cNvSpPr/>
          <p:nvPr/>
        </p:nvSpPr>
        <p:spPr>
          <a:xfrm>
            <a:off x="4526280" y="2194560"/>
            <a:ext cx="457200" cy="457200"/>
          </a:xfrm>
          <a:prstGeom prst="ellipse">
            <a:avLst/>
          </a:prstGeom>
          <a:solidFill>
            <a:srgbClr val="1C7293"/>
          </a:solidFill>
          <a:ln/>
        </p:spPr>
      </p:sp>
      <p:sp>
        <p:nvSpPr>
          <p:cNvPr id="11" name="Text 9"/>
          <p:cNvSpPr txBox="1"/>
          <p:nvPr/>
        </p:nvSpPr>
        <p:spPr>
          <a:xfrm>
            <a:off x="452628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2" name="Text 10"/>
          <p:cNvSpPr txBox="1"/>
          <p:nvPr/>
        </p:nvSpPr>
        <p:spPr>
          <a:xfrm>
            <a:off x="5166360" y="2167128"/>
            <a:ext cx="2331720" cy="502920"/>
          </a:xfrm>
          <a:prstGeom prst="rect">
            <a:avLst/>
          </a:prstGeom>
          <a:noFill/>
          <a:ln/>
        </p:spPr>
        <p:txBody>
          <a:bodyPr wrap="square" lIns="0" tIns="0" rIns="0" bIns="0" rtlCol="0" anchor="ctr"/>
          <a:lstStyle/>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Lu et al. (2026)</a:t>
            </a:r>
            <a:endParaRPr lang="en-US" sz="1300" dirty="0"/>
          </a:p>
          <a:p>
            <a:pPr marL="0" indent="0">
              <a:lnSpc>
                <a:spcPct val="105000"/>
              </a:lnSpc>
              <a:buNone/>
            </a:pPr>
            <a:r>
              <a:rPr lang="en-US" sz="1300" b="1" dirty="0">
                <a:solidFill>
                  <a:srgbClr val="0B3358"/>
                </a:solidFill>
                <a:latin typeface="Cambria" pitchFamily="34" charset="0"/>
                <a:ea typeface="Cambria" pitchFamily="34" charset="-122"/>
                <a:cs typeface="Cambria" pitchFamily="34" charset="-120"/>
              </a:rPr>
              <a:t>HiChunk: Evaluating and Enhancing RAG with Hierarchical Chunking</a:t>
            </a:r>
            <a:endParaRPr lang="en-US" sz="1300" dirty="0"/>
          </a:p>
        </p:txBody>
      </p:sp>
      <p:sp>
        <p:nvSpPr>
          <p:cNvPr id="13" name="Text 11"/>
          <p:cNvSpPr txBox="1"/>
          <p:nvPr/>
        </p:nvSpPr>
        <p:spPr>
          <a:xfrm>
            <a:off x="4572000" y="2834640"/>
            <a:ext cx="2880360" cy="2148840"/>
          </a:xfrm>
          <a:prstGeom prst="rect">
            <a:avLst/>
          </a:prstGeom>
          <a:noFill/>
          <a:ln/>
        </p:spPr>
        <p:txBody>
          <a:bodyPr wrap="square" lIns="0" tIns="0" rIns="0" bIns="0" rtlCol="0" anchor="t"/>
          <a:lstStyle/>
          <a:p>
            <a:pPr marL="0" indent="0">
              <a:lnSpc>
                <a:spcPct val="120000"/>
              </a:lnSpc>
              <a:buNone/>
            </a:pPr>
            <a:r>
              <a:rPr lang="en-US" sz="1100" b="1" dirty="0">
                <a:solidFill>
                  <a:srgbClr val="1C7293"/>
                </a:solidFill>
                <a:latin typeface="Calibri" pitchFamily="34" charset="0"/>
                <a:ea typeface="Calibri" pitchFamily="34" charset="-122"/>
                <a:cs typeface="Calibri" pitchFamily="34" charset="-120"/>
              </a:rPr>
              <a:t>What: </a:t>
            </a:r>
            <a:r>
              <a:rPr lang="en-US" sz="1100" dirty="0">
                <a:solidFill>
                  <a:srgbClr val="1A1A1A"/>
                </a:solidFill>
                <a:latin typeface="Calibri" pitchFamily="34" charset="0"/>
                <a:ea typeface="Calibri" pitchFamily="34" charset="-122"/>
                <a:cs typeface="Calibri" pitchFamily="34" charset="-120"/>
              </a:rPr>
              <a:t>Studies how chunking methods affect RAG performance.
</a:t>
            </a:r>
            <a:r>
              <a:rPr lang="en-US" sz="1100" b="1" dirty="0">
                <a:solidFill>
                  <a:srgbClr val="1C7293"/>
                </a:solidFill>
                <a:latin typeface="Calibri" pitchFamily="34" charset="0"/>
                <a:ea typeface="Calibri" pitchFamily="34" charset="-122"/>
                <a:cs typeface="Calibri" pitchFamily="34" charset="-120"/>
              </a:rPr>
              <a:t>How: </a:t>
            </a:r>
            <a:r>
              <a:rPr lang="en-US" sz="1100" dirty="0">
                <a:solidFill>
                  <a:srgbClr val="1A1A1A"/>
                </a:solidFill>
                <a:latin typeface="Calibri" pitchFamily="34" charset="0"/>
                <a:ea typeface="Calibri" pitchFamily="34" charset="-122"/>
                <a:cs typeface="Calibri" pitchFamily="34" charset="-120"/>
              </a:rPr>
              <a:t>Compares chunking approaches and evaluates effects on retrieval and answer quality.
</a:t>
            </a:r>
            <a:r>
              <a:rPr lang="en-US" sz="1100" b="1" dirty="0">
                <a:solidFill>
                  <a:srgbClr val="E8A33D"/>
                </a:solidFill>
                <a:latin typeface="Calibri" pitchFamily="34" charset="0"/>
                <a:ea typeface="Calibri" pitchFamily="34" charset="-122"/>
                <a:cs typeface="Calibri" pitchFamily="34" charset="-120"/>
              </a:rPr>
              <a:t>Limitation: </a:t>
            </a:r>
            <a:r>
              <a:rPr lang="en-US" sz="1100" dirty="0">
                <a:solidFill>
                  <a:srgbClr val="1A1A1A"/>
                </a:solidFill>
                <a:latin typeface="Calibri" pitchFamily="34" charset="0"/>
                <a:ea typeface="Calibri" pitchFamily="34" charset="-122"/>
                <a:cs typeface="Calibri" pitchFamily="34" charset="-120"/>
              </a:rPr>
              <a:t>Focuses on chunking alone, not the full combination of chunking + retrieval + reranking + generation.</a:t>
            </a:r>
            <a:endParaRPr lang="en-US" sz="1100" dirty="0"/>
          </a:p>
        </p:txBody>
      </p:sp>
      <p:sp>
        <p:nvSpPr>
          <p:cNvPr id="14" name="Shape 12"/>
          <p:cNvSpPr/>
          <p:nvPr/>
        </p:nvSpPr>
        <p:spPr>
          <a:xfrm>
            <a:off x="8046720" y="1965960"/>
            <a:ext cx="3429000" cy="3200400"/>
          </a:xfrm>
          <a:prstGeom prst="roundRect">
            <a:avLst>
              <a:gd name="adj" fmla="val 2286"/>
            </a:avLst>
          </a:prstGeom>
          <a:solidFill>
            <a:srgbClr val="0B3358"/>
          </a:solidFill>
          <a:ln/>
        </p:spPr>
      </p:sp>
      <p:sp>
        <p:nvSpPr>
          <p:cNvPr id="15" name="Text 13"/>
          <p:cNvSpPr txBox="1"/>
          <p:nvPr/>
        </p:nvSpPr>
        <p:spPr>
          <a:xfrm>
            <a:off x="8321040" y="2240280"/>
            <a:ext cx="2880360" cy="320040"/>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TAKEAWAY</a:t>
            </a:r>
            <a:endParaRPr lang="en-US" sz="1100" dirty="0"/>
          </a:p>
        </p:txBody>
      </p:sp>
      <p:sp>
        <p:nvSpPr>
          <p:cNvPr id="16" name="Text 14"/>
          <p:cNvSpPr txBox="1"/>
          <p:nvPr/>
        </p:nvSpPr>
        <p:spPr>
          <a:xfrm>
            <a:off x="8321040" y="2697480"/>
            <a:ext cx="2880360" cy="21945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Each paper studies RAG broadly, or one component in isolation. None runs a controlled, same-corpus comparison across chunking, retrieval, reranking, and generation together for academic-paper QA.</a:t>
            </a:r>
            <a:endParaRPr lang="en-US" sz="1300" dirty="0"/>
          </a:p>
        </p:txBody>
      </p:sp>
      <p:sp>
        <p:nvSpPr>
          <p:cNvPr id="17" name="Text 1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35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RESEARCH GAP</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What's missing in prior work</a:t>
            </a:r>
            <a:endParaRPr lang="en-US" sz="3200" dirty="0"/>
          </a:p>
        </p:txBody>
      </p:sp>
      <p:sp>
        <p:nvSpPr>
          <p:cNvPr id="4" name="Text 2"/>
          <p:cNvSpPr txBox="1"/>
          <p:nvPr/>
        </p:nvSpPr>
        <p:spPr>
          <a:xfrm>
            <a:off x="548640" y="1828800"/>
            <a:ext cx="10789920" cy="914400"/>
          </a:xfrm>
          <a:prstGeom prst="rect">
            <a:avLst/>
          </a:prstGeom>
          <a:noFill/>
          <a:ln/>
        </p:spPr>
        <p:txBody>
          <a:bodyPr wrap="square" lIns="0" tIns="0" rIns="0" bIns="0" rtlCol="0" anchor="ctr"/>
          <a:lstStyle/>
          <a:p>
            <a:pPr marL="0" indent="0">
              <a:lnSpc>
                <a:spcPct val="130000"/>
              </a:lnSpc>
              <a:buNone/>
            </a:pPr>
            <a:r>
              <a:rPr lang="en-US" sz="1600" dirty="0">
                <a:solidFill>
                  <a:srgbClr val="CADCE0"/>
                </a:solidFill>
                <a:latin typeface="Calibri" pitchFamily="34" charset="0"/>
                <a:ea typeface="Calibri" pitchFamily="34" charset="-122"/>
                <a:cs typeface="Calibri" pitchFamily="34" charset="-120"/>
              </a:rPr>
              <a:t>Existing studies demonstrate RAG for scientific literature and evaluate individual components — retrieval, reranking, chunking — in isolation.</a:t>
            </a:r>
            <a:endParaRPr lang="en-US" sz="1600" dirty="0"/>
          </a:p>
        </p:txBody>
      </p:sp>
      <p:sp>
        <p:nvSpPr>
          <p:cNvPr id="5" name="Shape 3"/>
          <p:cNvSpPr/>
          <p:nvPr/>
        </p:nvSpPr>
        <p:spPr>
          <a:xfrm>
            <a:off x="548640" y="2880360"/>
            <a:ext cx="10789920" cy="1828800"/>
          </a:xfrm>
          <a:prstGeom prst="roundRect">
            <a:avLst>
              <a:gd name="adj" fmla="val 5000"/>
            </a:avLst>
          </a:prstGeom>
          <a:solidFill>
            <a:srgbClr val="0F4266"/>
          </a:solidFill>
          <a:ln w="12700">
            <a:solidFill>
              <a:srgbClr val="1C7293"/>
            </a:solidFill>
            <a:prstDash val="solid"/>
          </a:ln>
        </p:spPr>
      </p:sp>
      <p:sp>
        <p:nvSpPr>
          <p:cNvPr id="6" name="Text 4"/>
          <p:cNvSpPr txBox="1"/>
          <p:nvPr/>
        </p:nvSpPr>
        <p:spPr>
          <a:xfrm>
            <a:off x="914400" y="3108960"/>
            <a:ext cx="10058400" cy="1371600"/>
          </a:xfrm>
          <a:prstGeom prst="rect">
            <a:avLst/>
          </a:prstGeom>
          <a:noFill/>
          <a:ln/>
        </p:spPr>
        <p:txBody>
          <a:bodyPr wrap="square" lIns="0" tIns="0" rIns="0" bIns="0" rtlCol="0" anchor="ctr"/>
          <a:lstStyle/>
          <a:p>
            <a:pPr marL="0" indent="0">
              <a:lnSpc>
                <a:spcPct val="130000"/>
              </a:lnSpc>
              <a:buNone/>
            </a:pPr>
            <a:r>
              <a:rPr lang="en-US" sz="1700" dirty="0">
                <a:solidFill>
                  <a:srgbClr val="FFFFFF"/>
                </a:solidFill>
                <a:latin typeface="Cambria" pitchFamily="34" charset="0"/>
                <a:ea typeface="Cambria" pitchFamily="34" charset="-122"/>
                <a:cs typeface="Cambria" pitchFamily="34" charset="-120"/>
              </a:rPr>
              <a:t>There is still no controlled comparison of different combinations of these components for question answering over the same collection of academic research papers. This study identifies which combination yields the most accurate, relevant, and reliable answers.</a:t>
            </a:r>
            <a:endParaRPr lang="en-US" sz="1700" dirty="0"/>
          </a:p>
        </p:txBody>
      </p:sp>
      <p:sp>
        <p:nvSpPr>
          <p:cNvPr id="7" name="Text 5"/>
          <p:cNvSpPr txBox="1"/>
          <p:nvPr/>
        </p:nvSpPr>
        <p:spPr>
          <a:xfrm>
            <a:off x="548640" y="5029200"/>
            <a:ext cx="10789920" cy="640080"/>
          </a:xfrm>
          <a:prstGeom prst="rect">
            <a:avLst/>
          </a:prstGeom>
          <a:noFill/>
          <a:ln/>
        </p:spPr>
        <p:txBody>
          <a:bodyPr wrap="square" lIns="0" tIns="0" rIns="0" bIns="0" rtlCol="0" anchor="ctr"/>
          <a:lstStyle/>
          <a:p>
            <a:pPr marL="0" indent="0">
              <a:buNone/>
            </a:pPr>
            <a:r>
              <a:rPr lang="en-US" sz="1250" i="1" dirty="0">
                <a:solidFill>
                  <a:srgbClr val="E8A33D"/>
                </a:solidFill>
                <a:latin typeface="Calibri" pitchFamily="34" charset="0"/>
                <a:ea typeface="Calibri" pitchFamily="34" charset="-122"/>
                <a:cs typeface="Calibri" pitchFamily="34" charset="-120"/>
              </a:rPr>
              <a:t>Framing: a controlled comparison focused on how components interact in an academic-paper QA setup — not a claim that no one has studied RAG before.</a:t>
            </a:r>
            <a:endParaRPr lang="en-US" sz="1250" dirty="0"/>
          </a:p>
        </p:txBody>
      </p:sp>
      <p:sp>
        <p:nvSpPr>
          <p:cNvPr id="8" name="Text 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PROBLEM STATEMENT &amp; AIM</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What we are solving, and why</a:t>
            </a:r>
            <a:endParaRPr lang="en-US" sz="3200" dirty="0"/>
          </a:p>
        </p:txBody>
      </p:sp>
      <p:sp>
        <p:nvSpPr>
          <p:cNvPr id="4" name="Shape 2"/>
          <p:cNvSpPr/>
          <p:nvPr/>
        </p:nvSpPr>
        <p:spPr>
          <a:xfrm>
            <a:off x="548640" y="1737360"/>
            <a:ext cx="5349240" cy="4114800"/>
          </a:xfrm>
          <a:prstGeom prst="roundRect">
            <a:avLst>
              <a:gd name="adj" fmla="val 2222"/>
            </a:avLst>
          </a:prstGeom>
          <a:solidFill>
            <a:srgbClr val="FFFFFF"/>
          </a:solidFill>
          <a:ln w="12700">
            <a:solidFill>
              <a:srgbClr val="DCE3E8"/>
            </a:solidFill>
            <a:prstDash val="solid"/>
          </a:ln>
        </p:spPr>
      </p:sp>
      <p:sp>
        <p:nvSpPr>
          <p:cNvPr id="5" name="Shape 3"/>
          <p:cNvSpPr/>
          <p:nvPr/>
        </p:nvSpPr>
        <p:spPr>
          <a:xfrm>
            <a:off x="868680" y="2011680"/>
            <a:ext cx="502920" cy="502920"/>
          </a:xfrm>
          <a:prstGeom prst="ellipse">
            <a:avLst/>
          </a:prstGeom>
          <a:solidFill>
            <a:srgbClr val="1C7293"/>
          </a:solidFill>
          <a:ln/>
        </p:spPr>
      </p:sp>
      <p:sp>
        <p:nvSpPr>
          <p:cNvPr id="6" name="Text 4"/>
          <p:cNvSpPr txBox="1"/>
          <p:nvPr/>
        </p:nvSpPr>
        <p:spPr>
          <a:xfrm>
            <a:off x="868680" y="201168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1554480" y="2084832"/>
            <a:ext cx="4114800" cy="365760"/>
          </a:xfrm>
          <a:prstGeom prst="rect">
            <a:avLst/>
          </a:prstGeom>
          <a:noFill/>
          <a:ln/>
        </p:spPr>
        <p:txBody>
          <a:bodyPr wrap="square" lIns="0" tIns="0" rIns="0" bIns="0"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PROBLEM STATEMENT</a:t>
            </a:r>
            <a:endParaRPr lang="en-US" sz="1200" dirty="0"/>
          </a:p>
        </p:txBody>
      </p:sp>
      <p:sp>
        <p:nvSpPr>
          <p:cNvPr id="8" name="Text 6"/>
          <p:cNvSpPr txBox="1"/>
          <p:nvPr/>
        </p:nvSpPr>
        <p:spPr>
          <a:xfrm>
            <a:off x="868680" y="2697480"/>
            <a:ext cx="4754880" cy="2926080"/>
          </a:xfrm>
          <a:prstGeom prst="rect">
            <a:avLst/>
          </a:prstGeom>
          <a:noFill/>
          <a:ln/>
        </p:spPr>
        <p:txBody>
          <a:bodyPr wrap="square" lIns="0" tIns="0" rIns="0" bIns="0" rtlCol="0" anchor="ctr"/>
          <a:lstStyle/>
          <a:p>
            <a:pPr marL="0" indent="0">
              <a:lnSpc>
                <a:spcPct val="130000"/>
              </a:lnSpc>
              <a:buNone/>
            </a:pPr>
            <a:r>
              <a:rPr lang="en-US" sz="1450" dirty="0">
                <a:solidFill>
                  <a:srgbClr val="1A1A1A"/>
                </a:solidFill>
                <a:latin typeface="Calibri" pitchFamily="34" charset="0"/>
                <a:ea typeface="Calibri" pitchFamily="34" charset="-122"/>
                <a:cs typeface="Calibri" pitchFamily="34" charset="-120"/>
              </a:rPr>
              <a:t>To develop a RAG-based academic research assistant that retrieves relevant information from research papers and provides accurate, reliable, source-supported answers — addressing the difficulty of finding and verifying information across large document collections.</a:t>
            </a:r>
            <a:endParaRPr lang="en-US" sz="1450" dirty="0"/>
          </a:p>
        </p:txBody>
      </p:sp>
      <p:sp>
        <p:nvSpPr>
          <p:cNvPr id="9" name="Shape 7"/>
          <p:cNvSpPr/>
          <p:nvPr/>
        </p:nvSpPr>
        <p:spPr>
          <a:xfrm>
            <a:off x="6263640" y="1737360"/>
            <a:ext cx="5349240" cy="4114800"/>
          </a:xfrm>
          <a:prstGeom prst="roundRect">
            <a:avLst>
              <a:gd name="adj" fmla="val 2222"/>
            </a:avLst>
          </a:prstGeom>
          <a:solidFill>
            <a:srgbClr val="0B3358"/>
          </a:solidFill>
          <a:ln/>
        </p:spPr>
      </p:sp>
      <p:sp>
        <p:nvSpPr>
          <p:cNvPr id="10" name="Shape 8"/>
          <p:cNvSpPr/>
          <p:nvPr/>
        </p:nvSpPr>
        <p:spPr>
          <a:xfrm>
            <a:off x="6583680" y="2011680"/>
            <a:ext cx="502920" cy="502920"/>
          </a:xfrm>
          <a:prstGeom prst="ellipse">
            <a:avLst/>
          </a:prstGeom>
          <a:solidFill>
            <a:srgbClr val="E8A33D"/>
          </a:solidFill>
          <a:ln/>
        </p:spPr>
      </p:sp>
      <p:sp>
        <p:nvSpPr>
          <p:cNvPr id="11" name="Text 9"/>
          <p:cNvSpPr txBox="1"/>
          <p:nvPr/>
        </p:nvSpPr>
        <p:spPr>
          <a:xfrm>
            <a:off x="6583680" y="2011680"/>
            <a:ext cx="502920" cy="502920"/>
          </a:xfrm>
          <a:prstGeom prst="rect">
            <a:avLst/>
          </a:prstGeom>
          <a:noFill/>
          <a:ln/>
        </p:spPr>
        <p:txBody>
          <a:bodyPr wrap="square" lIns="0" tIns="0" rIns="0" bIns="0" rtlCol="0" anchor="ctr"/>
          <a:lstStyle/>
          <a:p>
            <a:pPr marL="0" indent="0" algn="ctr">
              <a:buNone/>
            </a:pPr>
            <a:r>
              <a:rPr lang="en-US" sz="2200" b="1" dirty="0">
                <a:solidFill>
                  <a:srgbClr val="0B3358"/>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7269480" y="2084832"/>
            <a:ext cx="4114800" cy="36576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AIM</a:t>
            </a:r>
            <a:endParaRPr lang="en-US" sz="1200" dirty="0"/>
          </a:p>
        </p:txBody>
      </p:sp>
      <p:sp>
        <p:nvSpPr>
          <p:cNvPr id="13" name="Text 11"/>
          <p:cNvSpPr txBox="1"/>
          <p:nvPr/>
        </p:nvSpPr>
        <p:spPr>
          <a:xfrm>
            <a:off x="6583680" y="2697480"/>
            <a:ext cx="4754880" cy="2926080"/>
          </a:xfrm>
          <a:prstGeom prst="rect">
            <a:avLst/>
          </a:prstGeom>
          <a:noFill/>
          <a:ln/>
        </p:spPr>
        <p:txBody>
          <a:bodyPr wrap="square" lIns="0" tIns="0" rIns="0" bIns="0"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To develop and evaluate a RAG-based academic research assistant that compares chunking, retrieval, reranking, and generation methods to identify a configuration that gives accurate and reliable answers from research papers.</a:t>
            </a:r>
            <a:endParaRPr lang="en-US" sz="1450" dirty="0"/>
          </a:p>
        </p:txBody>
      </p:sp>
      <p:sp>
        <p:nvSpPr>
          <p:cNvPr id="14" name="Text 1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Six objectives driving the project</a:t>
            </a:r>
            <a:endParaRPr lang="en-US" sz="3200" dirty="0"/>
          </a:p>
        </p:txBody>
      </p:sp>
      <p:sp>
        <p:nvSpPr>
          <p:cNvPr id="4" name="Shape 2"/>
          <p:cNvSpPr/>
          <p:nvPr/>
        </p:nvSpPr>
        <p:spPr>
          <a:xfrm>
            <a:off x="548640" y="1783080"/>
            <a:ext cx="5349240" cy="1234440"/>
          </a:xfrm>
          <a:prstGeom prst="roundRect">
            <a:avLst>
              <a:gd name="adj" fmla="val 5926"/>
            </a:avLst>
          </a:prstGeom>
          <a:solidFill>
            <a:srgbClr val="FFFFFF"/>
          </a:solidFill>
          <a:ln w="12700">
            <a:solidFill>
              <a:srgbClr val="DCE3E8"/>
            </a:solidFill>
            <a:prstDash val="solid"/>
          </a:ln>
        </p:spPr>
      </p:sp>
      <p:sp>
        <p:nvSpPr>
          <p:cNvPr id="5" name="Shape 3"/>
          <p:cNvSpPr/>
          <p:nvPr/>
        </p:nvSpPr>
        <p:spPr>
          <a:xfrm>
            <a:off x="749808" y="2171700"/>
            <a:ext cx="457200" cy="457200"/>
          </a:xfrm>
          <a:prstGeom prst="ellipse">
            <a:avLst/>
          </a:prstGeom>
          <a:solidFill>
            <a:srgbClr val="1C7293"/>
          </a:solidFill>
          <a:ln/>
        </p:spPr>
      </p:sp>
      <p:sp>
        <p:nvSpPr>
          <p:cNvPr id="6" name="Text 4"/>
          <p:cNvSpPr txBox="1"/>
          <p:nvPr/>
        </p:nvSpPr>
        <p:spPr>
          <a:xfrm>
            <a:off x="749808" y="21717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189280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Develop a RAG-based system for uploading and querying academic research papers.</a:t>
            </a:r>
            <a:endParaRPr lang="en-US" sz="1250" dirty="0"/>
          </a:p>
        </p:txBody>
      </p:sp>
      <p:sp>
        <p:nvSpPr>
          <p:cNvPr id="8" name="Shape 6"/>
          <p:cNvSpPr/>
          <p:nvPr/>
        </p:nvSpPr>
        <p:spPr>
          <a:xfrm>
            <a:off x="6217920" y="1783080"/>
            <a:ext cx="5349240" cy="1234440"/>
          </a:xfrm>
          <a:prstGeom prst="roundRect">
            <a:avLst>
              <a:gd name="adj" fmla="val 5926"/>
            </a:avLst>
          </a:prstGeom>
          <a:solidFill>
            <a:srgbClr val="FFFFFF"/>
          </a:solidFill>
          <a:ln w="12700">
            <a:solidFill>
              <a:srgbClr val="DCE3E8"/>
            </a:solidFill>
            <a:prstDash val="solid"/>
          </a:ln>
        </p:spPr>
      </p:sp>
      <p:sp>
        <p:nvSpPr>
          <p:cNvPr id="9" name="Shape 7"/>
          <p:cNvSpPr/>
          <p:nvPr/>
        </p:nvSpPr>
        <p:spPr>
          <a:xfrm>
            <a:off x="6419088" y="2171700"/>
            <a:ext cx="457200" cy="457200"/>
          </a:xfrm>
          <a:prstGeom prst="ellipse">
            <a:avLst/>
          </a:prstGeom>
          <a:solidFill>
            <a:srgbClr val="0B3358"/>
          </a:solidFill>
          <a:ln/>
        </p:spPr>
      </p:sp>
      <p:sp>
        <p:nvSpPr>
          <p:cNvPr id="10" name="Text 8"/>
          <p:cNvSpPr txBox="1"/>
          <p:nvPr/>
        </p:nvSpPr>
        <p:spPr>
          <a:xfrm>
            <a:off x="6419088" y="21717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7040880" y="189280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Compare document chunking methods for extracting useful information.</a:t>
            </a:r>
            <a:endParaRPr lang="en-US" sz="1250" dirty="0"/>
          </a:p>
        </p:txBody>
      </p:sp>
      <p:sp>
        <p:nvSpPr>
          <p:cNvPr id="12" name="Shape 10"/>
          <p:cNvSpPr/>
          <p:nvPr/>
        </p:nvSpPr>
        <p:spPr>
          <a:xfrm>
            <a:off x="548640" y="3291840"/>
            <a:ext cx="5349240" cy="1234440"/>
          </a:xfrm>
          <a:prstGeom prst="roundRect">
            <a:avLst>
              <a:gd name="adj" fmla="val 5926"/>
            </a:avLst>
          </a:prstGeom>
          <a:solidFill>
            <a:srgbClr val="FFFFFF"/>
          </a:solidFill>
          <a:ln w="12700">
            <a:solidFill>
              <a:srgbClr val="DCE3E8"/>
            </a:solidFill>
            <a:prstDash val="solid"/>
          </a:ln>
        </p:spPr>
      </p:sp>
      <p:sp>
        <p:nvSpPr>
          <p:cNvPr id="13" name="Shape 11"/>
          <p:cNvSpPr/>
          <p:nvPr/>
        </p:nvSpPr>
        <p:spPr>
          <a:xfrm>
            <a:off x="749808" y="3680460"/>
            <a:ext cx="457200" cy="457200"/>
          </a:xfrm>
          <a:prstGeom prst="ellipse">
            <a:avLst/>
          </a:prstGeom>
          <a:solidFill>
            <a:srgbClr val="1C7293"/>
          </a:solidFill>
          <a:ln/>
        </p:spPr>
      </p:sp>
      <p:sp>
        <p:nvSpPr>
          <p:cNvPr id="14" name="Text 12"/>
          <p:cNvSpPr txBox="1"/>
          <p:nvPr/>
        </p:nvSpPr>
        <p:spPr>
          <a:xfrm>
            <a:off x="749808" y="36804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340156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Evaluate retrieval methods for finding relevant information in the corpus.</a:t>
            </a:r>
            <a:endParaRPr lang="en-US" sz="1250" dirty="0"/>
          </a:p>
        </p:txBody>
      </p:sp>
      <p:sp>
        <p:nvSpPr>
          <p:cNvPr id="16" name="Shape 14"/>
          <p:cNvSpPr/>
          <p:nvPr/>
        </p:nvSpPr>
        <p:spPr>
          <a:xfrm>
            <a:off x="6217920" y="3291840"/>
            <a:ext cx="5349240" cy="1234440"/>
          </a:xfrm>
          <a:prstGeom prst="roundRect">
            <a:avLst>
              <a:gd name="adj" fmla="val 5926"/>
            </a:avLst>
          </a:prstGeom>
          <a:solidFill>
            <a:srgbClr val="FFFFFF"/>
          </a:solidFill>
          <a:ln w="12700">
            <a:solidFill>
              <a:srgbClr val="DCE3E8"/>
            </a:solidFill>
            <a:prstDash val="solid"/>
          </a:ln>
        </p:spPr>
      </p:sp>
      <p:sp>
        <p:nvSpPr>
          <p:cNvPr id="17" name="Shape 15"/>
          <p:cNvSpPr/>
          <p:nvPr/>
        </p:nvSpPr>
        <p:spPr>
          <a:xfrm>
            <a:off x="6419088" y="3680460"/>
            <a:ext cx="457200" cy="457200"/>
          </a:xfrm>
          <a:prstGeom prst="ellipse">
            <a:avLst/>
          </a:prstGeom>
          <a:solidFill>
            <a:srgbClr val="0B3358"/>
          </a:solidFill>
          <a:ln/>
        </p:spPr>
      </p:sp>
      <p:sp>
        <p:nvSpPr>
          <p:cNvPr id="18" name="Text 16"/>
          <p:cNvSpPr txBox="1"/>
          <p:nvPr/>
        </p:nvSpPr>
        <p:spPr>
          <a:xfrm>
            <a:off x="6419088" y="36804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7040880" y="340156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Study the effect of reranking methods on retrieval relevance.</a:t>
            </a:r>
            <a:endParaRPr lang="en-US" sz="1250" dirty="0"/>
          </a:p>
        </p:txBody>
      </p:sp>
      <p:sp>
        <p:nvSpPr>
          <p:cNvPr id="20" name="Shape 18"/>
          <p:cNvSpPr/>
          <p:nvPr/>
        </p:nvSpPr>
        <p:spPr>
          <a:xfrm>
            <a:off x="548640" y="4800600"/>
            <a:ext cx="5349240" cy="1234440"/>
          </a:xfrm>
          <a:prstGeom prst="roundRect">
            <a:avLst>
              <a:gd name="adj" fmla="val 5926"/>
            </a:avLst>
          </a:prstGeom>
          <a:solidFill>
            <a:srgbClr val="FFFFFF"/>
          </a:solidFill>
          <a:ln w="12700">
            <a:solidFill>
              <a:srgbClr val="DCE3E8"/>
            </a:solidFill>
            <a:prstDash val="solid"/>
          </a:ln>
        </p:spPr>
      </p:sp>
      <p:sp>
        <p:nvSpPr>
          <p:cNvPr id="21" name="Shape 19"/>
          <p:cNvSpPr/>
          <p:nvPr/>
        </p:nvSpPr>
        <p:spPr>
          <a:xfrm>
            <a:off x="749808" y="5189220"/>
            <a:ext cx="457200" cy="457200"/>
          </a:xfrm>
          <a:prstGeom prst="ellipse">
            <a:avLst/>
          </a:prstGeom>
          <a:solidFill>
            <a:srgbClr val="1C7293"/>
          </a:solidFill>
          <a:ln/>
        </p:spPr>
      </p:sp>
      <p:sp>
        <p:nvSpPr>
          <p:cNvPr id="22" name="Text 20"/>
          <p:cNvSpPr txBox="1"/>
          <p:nvPr/>
        </p:nvSpPr>
        <p:spPr>
          <a:xfrm>
            <a:off x="749808" y="51892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1371600" y="491032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Compare RAG configurations on answer accuracy, relevance, and reliability.</a:t>
            </a:r>
            <a:endParaRPr lang="en-US" sz="1250" dirty="0"/>
          </a:p>
        </p:txBody>
      </p:sp>
      <p:sp>
        <p:nvSpPr>
          <p:cNvPr id="24" name="Shape 22"/>
          <p:cNvSpPr/>
          <p:nvPr/>
        </p:nvSpPr>
        <p:spPr>
          <a:xfrm>
            <a:off x="6217920" y="4800600"/>
            <a:ext cx="5349240" cy="1234440"/>
          </a:xfrm>
          <a:prstGeom prst="roundRect">
            <a:avLst>
              <a:gd name="adj" fmla="val 5926"/>
            </a:avLst>
          </a:prstGeom>
          <a:solidFill>
            <a:srgbClr val="FFFFFF"/>
          </a:solidFill>
          <a:ln w="12700">
            <a:solidFill>
              <a:srgbClr val="DCE3E8"/>
            </a:solidFill>
            <a:prstDash val="solid"/>
          </a:ln>
        </p:spPr>
      </p:sp>
      <p:sp>
        <p:nvSpPr>
          <p:cNvPr id="25" name="Shape 23"/>
          <p:cNvSpPr/>
          <p:nvPr/>
        </p:nvSpPr>
        <p:spPr>
          <a:xfrm>
            <a:off x="6419088" y="5189220"/>
            <a:ext cx="457200" cy="457200"/>
          </a:xfrm>
          <a:prstGeom prst="ellipse">
            <a:avLst/>
          </a:prstGeom>
          <a:solidFill>
            <a:srgbClr val="0B3358"/>
          </a:solidFill>
          <a:ln/>
        </p:spPr>
      </p:sp>
      <p:sp>
        <p:nvSpPr>
          <p:cNvPr id="26" name="Text 24"/>
          <p:cNvSpPr txBox="1"/>
          <p:nvPr/>
        </p:nvSpPr>
        <p:spPr>
          <a:xfrm>
            <a:off x="6419088" y="51892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txBox="1"/>
          <p:nvPr/>
        </p:nvSpPr>
        <p:spPr>
          <a:xfrm>
            <a:off x="7040880" y="4910328"/>
            <a:ext cx="4297680" cy="1014984"/>
          </a:xfrm>
          <a:prstGeom prst="rect">
            <a:avLst/>
          </a:prstGeom>
          <a:noFill/>
          <a:ln/>
        </p:spPr>
        <p:txBody>
          <a:bodyPr wrap="square" lIns="0" tIns="0" rIns="0" bIns="0" rtlCol="0" anchor="ctr"/>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Provide answers supported by citations from the source papers.</a:t>
            </a:r>
            <a:endParaRPr lang="en-US" sz="1250" dirty="0"/>
          </a:p>
        </p:txBody>
      </p:sp>
      <p:sp>
        <p:nvSpPr>
          <p:cNvPr id="28" name="Text 2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End-to-end RAG pipeline</a:t>
            </a:r>
            <a:endParaRPr lang="en-US" sz="3200" dirty="0"/>
          </a:p>
        </p:txBody>
      </p:sp>
      <p:sp>
        <p:nvSpPr>
          <p:cNvPr id="4" name="Shape 2"/>
          <p:cNvSpPr/>
          <p:nvPr/>
        </p:nvSpPr>
        <p:spPr>
          <a:xfrm>
            <a:off x="548640" y="2103120"/>
            <a:ext cx="1207008" cy="1005840"/>
          </a:xfrm>
          <a:prstGeom prst="roundRect">
            <a:avLst>
              <a:gd name="adj" fmla="val 7273"/>
            </a:avLst>
          </a:prstGeom>
          <a:solidFill>
            <a:srgbClr val="0B3358"/>
          </a:solidFill>
          <a:ln/>
        </p:spPr>
      </p:sp>
      <p:sp>
        <p:nvSpPr>
          <p:cNvPr id="5" name="Text 3"/>
          <p:cNvSpPr txBox="1"/>
          <p:nvPr/>
        </p:nvSpPr>
        <p:spPr>
          <a:xfrm>
            <a:off x="594360"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Academic</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Papers</a:t>
            </a:r>
            <a:endParaRPr lang="en-US" sz="1050" dirty="0"/>
          </a:p>
        </p:txBody>
      </p:sp>
      <p:sp>
        <p:nvSpPr>
          <p:cNvPr id="6" name="Text 4"/>
          <p:cNvSpPr txBox="1"/>
          <p:nvPr/>
        </p:nvSpPr>
        <p:spPr>
          <a:xfrm>
            <a:off x="1755648"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1917627" y="2103120"/>
            <a:ext cx="1207008" cy="1005840"/>
          </a:xfrm>
          <a:prstGeom prst="roundRect">
            <a:avLst>
              <a:gd name="adj" fmla="val 7273"/>
            </a:avLst>
          </a:prstGeom>
          <a:solidFill>
            <a:srgbClr val="1C7293"/>
          </a:solidFill>
          <a:ln/>
        </p:spPr>
      </p:sp>
      <p:sp>
        <p:nvSpPr>
          <p:cNvPr id="8" name="Text 6"/>
          <p:cNvSpPr txBox="1"/>
          <p:nvPr/>
        </p:nvSpPr>
        <p:spPr>
          <a:xfrm>
            <a:off x="1963347"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PDF</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Processing</a:t>
            </a:r>
            <a:endParaRPr lang="en-US" sz="1050" dirty="0"/>
          </a:p>
        </p:txBody>
      </p:sp>
      <p:sp>
        <p:nvSpPr>
          <p:cNvPr id="9" name="Text 7"/>
          <p:cNvSpPr txBox="1"/>
          <p:nvPr/>
        </p:nvSpPr>
        <p:spPr>
          <a:xfrm>
            <a:off x="3124635"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286615" y="2103120"/>
            <a:ext cx="1207008" cy="1005840"/>
          </a:xfrm>
          <a:prstGeom prst="roundRect">
            <a:avLst>
              <a:gd name="adj" fmla="val 7273"/>
            </a:avLst>
          </a:prstGeom>
          <a:solidFill>
            <a:srgbClr val="1C7293"/>
          </a:solidFill>
          <a:ln/>
        </p:spPr>
      </p:sp>
      <p:sp>
        <p:nvSpPr>
          <p:cNvPr id="11" name="Text 9"/>
          <p:cNvSpPr txBox="1"/>
          <p:nvPr/>
        </p:nvSpPr>
        <p:spPr>
          <a:xfrm>
            <a:off x="3332335"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Chunking</a:t>
            </a:r>
            <a:endParaRPr lang="en-US" sz="1050" dirty="0"/>
          </a:p>
        </p:txBody>
      </p:sp>
      <p:sp>
        <p:nvSpPr>
          <p:cNvPr id="12" name="Text 10"/>
          <p:cNvSpPr txBox="1"/>
          <p:nvPr/>
        </p:nvSpPr>
        <p:spPr>
          <a:xfrm>
            <a:off x="4493623"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655602" y="2103120"/>
            <a:ext cx="1207008" cy="1005840"/>
          </a:xfrm>
          <a:prstGeom prst="roundRect">
            <a:avLst>
              <a:gd name="adj" fmla="val 7273"/>
            </a:avLst>
          </a:prstGeom>
          <a:solidFill>
            <a:srgbClr val="1C7293"/>
          </a:solidFill>
          <a:ln/>
        </p:spPr>
      </p:sp>
      <p:sp>
        <p:nvSpPr>
          <p:cNvPr id="14" name="Text 12"/>
          <p:cNvSpPr txBox="1"/>
          <p:nvPr/>
        </p:nvSpPr>
        <p:spPr>
          <a:xfrm>
            <a:off x="4701322"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Embedding /</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Indexing</a:t>
            </a:r>
            <a:endParaRPr lang="en-US" sz="1050" dirty="0"/>
          </a:p>
        </p:txBody>
      </p:sp>
      <p:sp>
        <p:nvSpPr>
          <p:cNvPr id="15" name="Text 13"/>
          <p:cNvSpPr txBox="1"/>
          <p:nvPr/>
        </p:nvSpPr>
        <p:spPr>
          <a:xfrm>
            <a:off x="5862610"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024590" y="2103120"/>
            <a:ext cx="1207008" cy="1005840"/>
          </a:xfrm>
          <a:prstGeom prst="roundRect">
            <a:avLst>
              <a:gd name="adj" fmla="val 7273"/>
            </a:avLst>
          </a:prstGeom>
          <a:solidFill>
            <a:srgbClr val="1C7293"/>
          </a:solidFill>
          <a:ln/>
        </p:spPr>
      </p:sp>
      <p:sp>
        <p:nvSpPr>
          <p:cNvPr id="17" name="Text 15"/>
          <p:cNvSpPr txBox="1"/>
          <p:nvPr/>
        </p:nvSpPr>
        <p:spPr>
          <a:xfrm>
            <a:off x="6070310"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Retrieval</a:t>
            </a:r>
            <a:endParaRPr lang="en-US" sz="1050" dirty="0"/>
          </a:p>
        </p:txBody>
      </p:sp>
      <p:sp>
        <p:nvSpPr>
          <p:cNvPr id="18" name="Text 16"/>
          <p:cNvSpPr txBox="1"/>
          <p:nvPr/>
        </p:nvSpPr>
        <p:spPr>
          <a:xfrm>
            <a:off x="7231598"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393577" y="2103120"/>
            <a:ext cx="1207008" cy="1005840"/>
          </a:xfrm>
          <a:prstGeom prst="roundRect">
            <a:avLst>
              <a:gd name="adj" fmla="val 7273"/>
            </a:avLst>
          </a:prstGeom>
          <a:solidFill>
            <a:srgbClr val="1C7293"/>
          </a:solidFill>
          <a:ln/>
        </p:spPr>
      </p:sp>
      <p:sp>
        <p:nvSpPr>
          <p:cNvPr id="20" name="Text 18"/>
          <p:cNvSpPr txBox="1"/>
          <p:nvPr/>
        </p:nvSpPr>
        <p:spPr>
          <a:xfrm>
            <a:off x="7439297"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Reranking</a:t>
            </a:r>
            <a:endParaRPr lang="en-US" sz="1050" dirty="0"/>
          </a:p>
        </p:txBody>
      </p:sp>
      <p:sp>
        <p:nvSpPr>
          <p:cNvPr id="21" name="Text 19"/>
          <p:cNvSpPr txBox="1"/>
          <p:nvPr/>
        </p:nvSpPr>
        <p:spPr>
          <a:xfrm>
            <a:off x="8600585"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8762565" y="2103120"/>
            <a:ext cx="1207008" cy="1005840"/>
          </a:xfrm>
          <a:prstGeom prst="roundRect">
            <a:avLst>
              <a:gd name="adj" fmla="val 7273"/>
            </a:avLst>
          </a:prstGeom>
          <a:solidFill>
            <a:srgbClr val="1C7293"/>
          </a:solidFill>
          <a:ln/>
        </p:spPr>
      </p:sp>
      <p:sp>
        <p:nvSpPr>
          <p:cNvPr id="23" name="Text 21"/>
          <p:cNvSpPr txBox="1"/>
          <p:nvPr/>
        </p:nvSpPr>
        <p:spPr>
          <a:xfrm>
            <a:off x="8808285"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LLM</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Generation</a:t>
            </a:r>
            <a:endParaRPr lang="en-US" sz="1050" dirty="0"/>
          </a:p>
        </p:txBody>
      </p:sp>
      <p:sp>
        <p:nvSpPr>
          <p:cNvPr id="24" name="Text 22"/>
          <p:cNvSpPr txBox="1"/>
          <p:nvPr/>
        </p:nvSpPr>
        <p:spPr>
          <a:xfrm>
            <a:off x="9969573"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10131552" y="2103120"/>
            <a:ext cx="1207008" cy="1005840"/>
          </a:xfrm>
          <a:prstGeom prst="roundRect">
            <a:avLst>
              <a:gd name="adj" fmla="val 7273"/>
            </a:avLst>
          </a:prstGeom>
          <a:solidFill>
            <a:srgbClr val="0B3358"/>
          </a:solidFill>
          <a:ln/>
        </p:spPr>
      </p:sp>
      <p:sp>
        <p:nvSpPr>
          <p:cNvPr id="26" name="Text 24"/>
          <p:cNvSpPr txBox="1"/>
          <p:nvPr/>
        </p:nvSpPr>
        <p:spPr>
          <a:xfrm>
            <a:off x="10177272" y="2103120"/>
            <a:ext cx="1115568" cy="100584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Answer +</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Citations</a:t>
            </a:r>
            <a:endParaRPr lang="en-US" sz="1050" dirty="0"/>
          </a:p>
        </p:txBody>
      </p:sp>
      <p:sp>
        <p:nvSpPr>
          <p:cNvPr id="27" name="Shape 25"/>
          <p:cNvSpPr/>
          <p:nvPr/>
        </p:nvSpPr>
        <p:spPr>
          <a:xfrm>
            <a:off x="548640" y="3520440"/>
            <a:ext cx="10789920" cy="1051560"/>
          </a:xfrm>
          <a:prstGeom prst="roundRect">
            <a:avLst>
              <a:gd name="adj" fmla="val 8696"/>
            </a:avLst>
          </a:prstGeom>
          <a:solidFill>
            <a:srgbClr val="EAF0F3"/>
          </a:solidFill>
          <a:ln w="12700">
            <a:solidFill>
              <a:srgbClr val="DCE3E8"/>
            </a:solidFill>
            <a:prstDash val="solid"/>
          </a:ln>
        </p:spPr>
      </p:sp>
      <p:sp>
        <p:nvSpPr>
          <p:cNvPr id="28" name="Text 26"/>
          <p:cNvSpPr txBox="1"/>
          <p:nvPr/>
        </p:nvSpPr>
        <p:spPr>
          <a:xfrm>
            <a:off x="822960" y="3520440"/>
            <a:ext cx="10241280" cy="1051560"/>
          </a:xfrm>
          <a:prstGeom prst="rect">
            <a:avLst/>
          </a:prstGeom>
          <a:noFill/>
          <a:ln/>
        </p:spPr>
        <p:txBody>
          <a:bodyPr wrap="square" lIns="0" tIns="0" rIns="0" bIns="0" rtlCol="0" anchor="ctr"/>
          <a:lstStyle/>
          <a:p>
            <a:pPr marL="0" indent="0">
              <a:lnSpc>
                <a:spcPct val="125000"/>
              </a:lnSpc>
              <a:buNone/>
            </a:pPr>
            <a:r>
              <a:rPr lang="en-US" sz="1350" b="1" dirty="0">
                <a:solidFill>
                  <a:srgbClr val="0B3358"/>
                </a:solidFill>
                <a:latin typeface="Calibri" pitchFamily="34" charset="0"/>
                <a:ea typeface="Calibri" pitchFamily="34" charset="-122"/>
                <a:cs typeface="Calibri" pitchFamily="34" charset="-120"/>
              </a:rPr>
              <a:t>Design principle:  </a:t>
            </a:r>
            <a:r>
              <a:rPr lang="en-US" sz="1350" dirty="0">
                <a:solidFill>
                  <a:srgbClr val="1A1A1A"/>
                </a:solidFill>
                <a:latin typeface="Calibri" pitchFamily="34" charset="0"/>
                <a:ea typeface="Calibri" pitchFamily="34" charset="-122"/>
                <a:cs typeface="Calibri" pitchFamily="34" charset="-120"/>
              </a:rPr>
              <a:t>retrieve relevant information from the research papers before generating the answer, rather than depending only on the LLM's existing knowledge.</a:t>
            </a:r>
            <a:endParaRPr lang="en-US" sz="1350" dirty="0"/>
          </a:p>
        </p:txBody>
      </p:sp>
      <p:sp>
        <p:nvSpPr>
          <p:cNvPr id="30" name="Text 2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EXPERIMENTAL DESIGN</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Four configurations under comparison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0789920" cy="2651760"/>
        </p:xfrm>
        <a:graphic>
          <a:graphicData uri="http://schemas.openxmlformats.org/drawingml/2006/table">
            <a:tbl>
              <a:tblPr/>
              <a:tblGrid>
                <a:gridCol w="14630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53035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Config</a:t>
                      </a:r>
                      <a:endParaRPr lang="en-US" sz="13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Chunking</a:t>
                      </a:r>
                      <a:endParaRPr lang="en-US" sz="13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Retrieval</a:t>
                      </a:r>
                      <a:endParaRPr lang="en-US" sz="13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Reranking</a:t>
                      </a:r>
                      <a:endParaRPr lang="en-US" sz="13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Generation</a:t>
                      </a:r>
                      <a:endParaRPr lang="en-US" sz="13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extLst>
                  <a:ext uri="{0D108BD9-81ED-4DB2-BD59-A6C34878D82A}">
                    <a16:rowId xmlns:a16="http://schemas.microsoft.com/office/drawing/2014/main" val="10000"/>
                  </a:ext>
                </a:extLst>
              </a:tr>
              <a:tr h="530352">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1C7293"/>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Fixed</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BM25</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None</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LLM</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1C7293"/>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Recursive</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Dense</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None</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LLM</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2"/>
                  </a:ext>
                </a:extLst>
              </a:tr>
              <a:tr h="530352">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1C7293"/>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Recursive</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Hybrid</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LLM</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1C7293"/>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Semantic</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Hybrid</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LLM</a:t>
                      </a:r>
                      <a:endParaRPr lang="en-US" sz="13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FUNCTIONAL REQUIREMENTS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What the system should do</a:t>
            </a:r>
            <a:endParaRPr lang="en-US" sz="3200" dirty="0"/>
          </a:p>
        </p:txBody>
      </p:sp>
      <p:sp>
        <p:nvSpPr>
          <p:cNvPr id="4" name="Shape 2"/>
          <p:cNvSpPr/>
          <p:nvPr/>
        </p:nvSpPr>
        <p:spPr>
          <a:xfrm>
            <a:off x="548640" y="1883664"/>
            <a:ext cx="201168" cy="201168"/>
          </a:xfrm>
          <a:prstGeom prst="roundRect">
            <a:avLst>
              <a:gd name="adj" fmla="val 18182"/>
            </a:avLst>
          </a:prstGeom>
          <a:solidFill>
            <a:srgbClr val="E8A33D"/>
          </a:solidFill>
          <a:ln/>
        </p:spPr>
      </p:sp>
      <p:sp>
        <p:nvSpPr>
          <p:cNvPr id="5" name="Text 3"/>
          <p:cNvSpPr txBox="1"/>
          <p:nvPr/>
        </p:nvSpPr>
        <p:spPr>
          <a:xfrm>
            <a:off x="868680" y="182880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Allow the user to upload academic research papers</a:t>
            </a:r>
            <a:endParaRPr lang="en-US" sz="1250" dirty="0"/>
          </a:p>
        </p:txBody>
      </p:sp>
      <p:sp>
        <p:nvSpPr>
          <p:cNvPr id="6" name="Shape 4"/>
          <p:cNvSpPr/>
          <p:nvPr/>
        </p:nvSpPr>
        <p:spPr>
          <a:xfrm>
            <a:off x="548640" y="2660904"/>
            <a:ext cx="201168" cy="201168"/>
          </a:xfrm>
          <a:prstGeom prst="roundRect">
            <a:avLst>
              <a:gd name="adj" fmla="val 18182"/>
            </a:avLst>
          </a:prstGeom>
          <a:solidFill>
            <a:srgbClr val="E8A33D"/>
          </a:solidFill>
          <a:ln/>
        </p:spPr>
      </p:sp>
      <p:sp>
        <p:nvSpPr>
          <p:cNvPr id="7" name="Text 5"/>
          <p:cNvSpPr txBox="1"/>
          <p:nvPr/>
        </p:nvSpPr>
        <p:spPr>
          <a:xfrm>
            <a:off x="868680" y="260604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Extract text from the uploaded papers</a:t>
            </a:r>
            <a:endParaRPr lang="en-US" sz="1250" dirty="0"/>
          </a:p>
        </p:txBody>
      </p:sp>
      <p:sp>
        <p:nvSpPr>
          <p:cNvPr id="8" name="Shape 6"/>
          <p:cNvSpPr/>
          <p:nvPr/>
        </p:nvSpPr>
        <p:spPr>
          <a:xfrm>
            <a:off x="548640" y="3438144"/>
            <a:ext cx="201168" cy="201168"/>
          </a:xfrm>
          <a:prstGeom prst="roundRect">
            <a:avLst>
              <a:gd name="adj" fmla="val 18182"/>
            </a:avLst>
          </a:prstGeom>
          <a:solidFill>
            <a:srgbClr val="E8A33D"/>
          </a:solidFill>
          <a:ln/>
        </p:spPr>
      </p:sp>
      <p:sp>
        <p:nvSpPr>
          <p:cNvPr id="9" name="Text 7"/>
          <p:cNvSpPr txBox="1"/>
          <p:nvPr/>
        </p:nvSpPr>
        <p:spPr>
          <a:xfrm>
            <a:off x="868680" y="338328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Split papers into chunks using the selected method</a:t>
            </a:r>
            <a:endParaRPr lang="en-US" sz="1250" dirty="0"/>
          </a:p>
        </p:txBody>
      </p:sp>
      <p:sp>
        <p:nvSpPr>
          <p:cNvPr id="10" name="Shape 8"/>
          <p:cNvSpPr/>
          <p:nvPr/>
        </p:nvSpPr>
        <p:spPr>
          <a:xfrm>
            <a:off x="548640" y="4215384"/>
            <a:ext cx="201168" cy="201168"/>
          </a:xfrm>
          <a:prstGeom prst="roundRect">
            <a:avLst>
              <a:gd name="adj" fmla="val 18182"/>
            </a:avLst>
          </a:prstGeom>
          <a:solidFill>
            <a:srgbClr val="E8A33D"/>
          </a:solidFill>
          <a:ln/>
        </p:spPr>
      </p:sp>
      <p:sp>
        <p:nvSpPr>
          <p:cNvPr id="11" name="Text 9"/>
          <p:cNvSpPr txBox="1"/>
          <p:nvPr/>
        </p:nvSpPr>
        <p:spPr>
          <a:xfrm>
            <a:off x="868680" y="416052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Store / index chunks for retrieval</a:t>
            </a:r>
            <a:endParaRPr lang="en-US" sz="1250" dirty="0"/>
          </a:p>
        </p:txBody>
      </p:sp>
      <p:sp>
        <p:nvSpPr>
          <p:cNvPr id="12" name="Shape 10"/>
          <p:cNvSpPr/>
          <p:nvPr/>
        </p:nvSpPr>
        <p:spPr>
          <a:xfrm>
            <a:off x="548640" y="4992624"/>
            <a:ext cx="201168" cy="201168"/>
          </a:xfrm>
          <a:prstGeom prst="roundRect">
            <a:avLst>
              <a:gd name="adj" fmla="val 18182"/>
            </a:avLst>
          </a:prstGeom>
          <a:solidFill>
            <a:srgbClr val="E8A33D"/>
          </a:solidFill>
          <a:ln/>
        </p:spPr>
      </p:sp>
      <p:sp>
        <p:nvSpPr>
          <p:cNvPr id="13" name="Text 11"/>
          <p:cNvSpPr txBox="1"/>
          <p:nvPr/>
        </p:nvSpPr>
        <p:spPr>
          <a:xfrm>
            <a:off x="868680" y="493776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Accept questions from the user</a:t>
            </a:r>
            <a:endParaRPr lang="en-US" sz="1250" dirty="0"/>
          </a:p>
        </p:txBody>
      </p:sp>
      <p:sp>
        <p:nvSpPr>
          <p:cNvPr id="14" name="Shape 12"/>
          <p:cNvSpPr/>
          <p:nvPr/>
        </p:nvSpPr>
        <p:spPr>
          <a:xfrm>
            <a:off x="6309360" y="1883664"/>
            <a:ext cx="201168" cy="201168"/>
          </a:xfrm>
          <a:prstGeom prst="roundRect">
            <a:avLst>
              <a:gd name="adj" fmla="val 18182"/>
            </a:avLst>
          </a:prstGeom>
          <a:solidFill>
            <a:srgbClr val="E8A33D"/>
          </a:solidFill>
          <a:ln/>
        </p:spPr>
      </p:sp>
      <p:sp>
        <p:nvSpPr>
          <p:cNvPr id="15" name="Text 13"/>
          <p:cNvSpPr txBox="1"/>
          <p:nvPr/>
        </p:nvSpPr>
        <p:spPr>
          <a:xfrm>
            <a:off x="6629400" y="182880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Retrieve relevant chunks from the papers</a:t>
            </a:r>
            <a:endParaRPr lang="en-US" sz="1250" dirty="0"/>
          </a:p>
        </p:txBody>
      </p:sp>
      <p:sp>
        <p:nvSpPr>
          <p:cNvPr id="16" name="Shape 14"/>
          <p:cNvSpPr/>
          <p:nvPr/>
        </p:nvSpPr>
        <p:spPr>
          <a:xfrm>
            <a:off x="6309360" y="2660904"/>
            <a:ext cx="201168" cy="201168"/>
          </a:xfrm>
          <a:prstGeom prst="roundRect">
            <a:avLst>
              <a:gd name="adj" fmla="val 18182"/>
            </a:avLst>
          </a:prstGeom>
          <a:solidFill>
            <a:srgbClr val="E8A33D"/>
          </a:solidFill>
          <a:ln/>
        </p:spPr>
      </p:sp>
      <p:sp>
        <p:nvSpPr>
          <p:cNvPr id="17" name="Text 15"/>
          <p:cNvSpPr txBox="1"/>
          <p:nvPr/>
        </p:nvSpPr>
        <p:spPr>
          <a:xfrm>
            <a:off x="6629400" y="260604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Rerank retrieved chunks when configured</a:t>
            </a:r>
            <a:endParaRPr lang="en-US" sz="1250" dirty="0"/>
          </a:p>
        </p:txBody>
      </p:sp>
      <p:sp>
        <p:nvSpPr>
          <p:cNvPr id="18" name="Shape 16"/>
          <p:cNvSpPr/>
          <p:nvPr/>
        </p:nvSpPr>
        <p:spPr>
          <a:xfrm>
            <a:off x="6309360" y="3438144"/>
            <a:ext cx="201168" cy="201168"/>
          </a:xfrm>
          <a:prstGeom prst="roundRect">
            <a:avLst>
              <a:gd name="adj" fmla="val 18182"/>
            </a:avLst>
          </a:prstGeom>
          <a:solidFill>
            <a:srgbClr val="E8A33D"/>
          </a:solidFill>
          <a:ln/>
        </p:spPr>
      </p:sp>
      <p:sp>
        <p:nvSpPr>
          <p:cNvPr id="19" name="Text 17"/>
          <p:cNvSpPr txBox="1"/>
          <p:nvPr/>
        </p:nvSpPr>
        <p:spPr>
          <a:xfrm>
            <a:off x="6629400" y="338328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Generate an answer using retrieved context</a:t>
            </a:r>
            <a:endParaRPr lang="en-US" sz="1250" dirty="0"/>
          </a:p>
        </p:txBody>
      </p:sp>
      <p:sp>
        <p:nvSpPr>
          <p:cNvPr id="20" name="Shape 18"/>
          <p:cNvSpPr/>
          <p:nvPr/>
        </p:nvSpPr>
        <p:spPr>
          <a:xfrm>
            <a:off x="6309360" y="4215384"/>
            <a:ext cx="201168" cy="201168"/>
          </a:xfrm>
          <a:prstGeom prst="roundRect">
            <a:avLst>
              <a:gd name="adj" fmla="val 18182"/>
            </a:avLst>
          </a:prstGeom>
          <a:solidFill>
            <a:srgbClr val="E8A33D"/>
          </a:solidFill>
          <a:ln/>
        </p:spPr>
      </p:sp>
      <p:sp>
        <p:nvSpPr>
          <p:cNvPr id="21" name="Text 19"/>
          <p:cNvSpPr txBox="1"/>
          <p:nvPr/>
        </p:nvSpPr>
        <p:spPr>
          <a:xfrm>
            <a:off x="6629400" y="416052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Display supporting sources / citations</a:t>
            </a:r>
            <a:endParaRPr lang="en-US" sz="1250" dirty="0"/>
          </a:p>
        </p:txBody>
      </p:sp>
      <p:sp>
        <p:nvSpPr>
          <p:cNvPr id="22" name="Shape 20"/>
          <p:cNvSpPr/>
          <p:nvPr/>
        </p:nvSpPr>
        <p:spPr>
          <a:xfrm>
            <a:off x="6309360" y="4992624"/>
            <a:ext cx="201168" cy="201168"/>
          </a:xfrm>
          <a:prstGeom prst="roundRect">
            <a:avLst>
              <a:gd name="adj" fmla="val 18182"/>
            </a:avLst>
          </a:prstGeom>
          <a:solidFill>
            <a:srgbClr val="E8A33D"/>
          </a:solidFill>
          <a:ln/>
        </p:spPr>
      </p:sp>
      <p:sp>
        <p:nvSpPr>
          <p:cNvPr id="23" name="Text 21"/>
          <p:cNvSpPr txBox="1"/>
          <p:nvPr/>
        </p:nvSpPr>
        <p:spPr>
          <a:xfrm>
            <a:off x="6629400" y="493776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Evaluate answers against the reference dataset</a:t>
            </a:r>
            <a:endParaRPr lang="en-US" sz="1250" dirty="0"/>
          </a:p>
        </p:txBody>
      </p:sp>
      <p:sp>
        <p:nvSpPr>
          <p:cNvPr id="24"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NON-FUNCTIONAL REQUIREMENTS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How well the system should perform</a:t>
            </a:r>
            <a:endParaRPr lang="en-US" sz="3200" dirty="0"/>
          </a:p>
        </p:txBody>
      </p:sp>
      <p:sp>
        <p:nvSpPr>
          <p:cNvPr id="4" name="Shape 2"/>
          <p:cNvSpPr/>
          <p:nvPr/>
        </p:nvSpPr>
        <p:spPr>
          <a:xfrm>
            <a:off x="548640" y="1783080"/>
            <a:ext cx="3429000" cy="1920240"/>
          </a:xfrm>
          <a:prstGeom prst="roundRect">
            <a:avLst>
              <a:gd name="adj" fmla="val 4762"/>
            </a:avLst>
          </a:prstGeom>
          <a:solidFill>
            <a:srgbClr val="0B3358"/>
          </a:solidFill>
          <a:ln/>
        </p:spPr>
      </p:sp>
      <p:sp>
        <p:nvSpPr>
          <p:cNvPr id="5" name="Text 3"/>
          <p:cNvSpPr txBox="1"/>
          <p:nvPr/>
        </p:nvSpPr>
        <p:spPr>
          <a:xfrm>
            <a:off x="82296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Accurate</a:t>
            </a:r>
            <a:endParaRPr lang="en-US" sz="1800" dirty="0"/>
          </a:p>
        </p:txBody>
      </p:sp>
      <p:sp>
        <p:nvSpPr>
          <p:cNvPr id="6" name="Text 4"/>
          <p:cNvSpPr txBox="1"/>
          <p:nvPr/>
        </p:nvSpPr>
        <p:spPr>
          <a:xfrm>
            <a:off x="82296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Answers correctly reflect the information in the research papers.</a:t>
            </a:r>
            <a:endParaRPr lang="en-US" sz="1200" dirty="0"/>
          </a:p>
        </p:txBody>
      </p:sp>
      <p:sp>
        <p:nvSpPr>
          <p:cNvPr id="7" name="Shape 5"/>
          <p:cNvSpPr/>
          <p:nvPr/>
        </p:nvSpPr>
        <p:spPr>
          <a:xfrm>
            <a:off x="4297680" y="1783080"/>
            <a:ext cx="3429000" cy="1920240"/>
          </a:xfrm>
          <a:prstGeom prst="roundRect">
            <a:avLst>
              <a:gd name="adj" fmla="val 4762"/>
            </a:avLst>
          </a:prstGeom>
          <a:solidFill>
            <a:srgbClr val="1C7293"/>
          </a:solidFill>
          <a:ln/>
        </p:spPr>
      </p:sp>
      <p:sp>
        <p:nvSpPr>
          <p:cNvPr id="8" name="Text 6"/>
          <p:cNvSpPr txBox="1"/>
          <p:nvPr/>
        </p:nvSpPr>
        <p:spPr>
          <a:xfrm>
            <a:off x="457200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Relevant</a:t>
            </a:r>
            <a:endParaRPr lang="en-US" sz="1800" dirty="0"/>
          </a:p>
        </p:txBody>
      </p:sp>
      <p:sp>
        <p:nvSpPr>
          <p:cNvPr id="9" name="Text 7"/>
          <p:cNvSpPr txBox="1"/>
          <p:nvPr/>
        </p:nvSpPr>
        <p:spPr>
          <a:xfrm>
            <a:off x="457200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Retrieved information relates directly to the user's question.</a:t>
            </a:r>
            <a:endParaRPr lang="en-US" sz="1200" dirty="0"/>
          </a:p>
        </p:txBody>
      </p:sp>
      <p:sp>
        <p:nvSpPr>
          <p:cNvPr id="10" name="Shape 8"/>
          <p:cNvSpPr/>
          <p:nvPr/>
        </p:nvSpPr>
        <p:spPr>
          <a:xfrm>
            <a:off x="8046720" y="1783080"/>
            <a:ext cx="3429000" cy="1920240"/>
          </a:xfrm>
          <a:prstGeom prst="roundRect">
            <a:avLst>
              <a:gd name="adj" fmla="val 4762"/>
            </a:avLst>
          </a:prstGeom>
          <a:solidFill>
            <a:srgbClr val="0B3358"/>
          </a:solidFill>
          <a:ln/>
        </p:spPr>
      </p:sp>
      <p:sp>
        <p:nvSpPr>
          <p:cNvPr id="11" name="Text 9"/>
          <p:cNvSpPr txBox="1"/>
          <p:nvPr/>
        </p:nvSpPr>
        <p:spPr>
          <a:xfrm>
            <a:off x="832104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Reliable</a:t>
            </a:r>
            <a:endParaRPr lang="en-US" sz="1800" dirty="0"/>
          </a:p>
        </p:txBody>
      </p:sp>
      <p:sp>
        <p:nvSpPr>
          <p:cNvPr id="12" name="Text 10"/>
          <p:cNvSpPr txBox="1"/>
          <p:nvPr/>
        </p:nvSpPr>
        <p:spPr>
          <a:xfrm>
            <a:off x="832104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Reduces unsupported or hallucinated answers.</a:t>
            </a:r>
            <a:endParaRPr lang="en-US" sz="1200" dirty="0"/>
          </a:p>
        </p:txBody>
      </p:sp>
      <p:sp>
        <p:nvSpPr>
          <p:cNvPr id="13" name="Shape 11"/>
          <p:cNvSpPr/>
          <p:nvPr/>
        </p:nvSpPr>
        <p:spPr>
          <a:xfrm>
            <a:off x="548640" y="4023360"/>
            <a:ext cx="3429000" cy="1920240"/>
          </a:xfrm>
          <a:prstGeom prst="roundRect">
            <a:avLst>
              <a:gd name="adj" fmla="val 4762"/>
            </a:avLst>
          </a:prstGeom>
          <a:solidFill>
            <a:srgbClr val="1C7293"/>
          </a:solidFill>
          <a:ln/>
        </p:spPr>
      </p:sp>
      <p:sp>
        <p:nvSpPr>
          <p:cNvPr id="14" name="Text 12"/>
          <p:cNvSpPr txBox="1"/>
          <p:nvPr/>
        </p:nvSpPr>
        <p:spPr>
          <a:xfrm>
            <a:off x="82296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Traceable</a:t>
            </a:r>
            <a:endParaRPr lang="en-US" sz="1800" dirty="0"/>
          </a:p>
        </p:txBody>
      </p:sp>
      <p:sp>
        <p:nvSpPr>
          <p:cNvPr id="15" name="Text 13"/>
          <p:cNvSpPr txBox="1"/>
          <p:nvPr/>
        </p:nvSpPr>
        <p:spPr>
          <a:xfrm>
            <a:off x="82296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Every answer is supported by the relevant paper or section.</a:t>
            </a:r>
            <a:endParaRPr lang="en-US" sz="1200" dirty="0"/>
          </a:p>
        </p:txBody>
      </p:sp>
      <p:sp>
        <p:nvSpPr>
          <p:cNvPr id="16" name="Shape 14"/>
          <p:cNvSpPr/>
          <p:nvPr/>
        </p:nvSpPr>
        <p:spPr>
          <a:xfrm>
            <a:off x="4297680" y="4023360"/>
            <a:ext cx="3429000" cy="1920240"/>
          </a:xfrm>
          <a:prstGeom prst="roundRect">
            <a:avLst>
              <a:gd name="adj" fmla="val 4762"/>
            </a:avLst>
          </a:prstGeom>
          <a:solidFill>
            <a:srgbClr val="0B3358"/>
          </a:solidFill>
          <a:ln/>
        </p:spPr>
      </p:sp>
      <p:sp>
        <p:nvSpPr>
          <p:cNvPr id="17" name="Text 15"/>
          <p:cNvSpPr txBox="1"/>
          <p:nvPr/>
        </p:nvSpPr>
        <p:spPr>
          <a:xfrm>
            <a:off x="457200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Efficient</a:t>
            </a:r>
            <a:endParaRPr lang="en-US" sz="1800" dirty="0"/>
          </a:p>
        </p:txBody>
      </p:sp>
      <p:sp>
        <p:nvSpPr>
          <p:cNvPr id="18" name="Text 16"/>
          <p:cNvSpPr txBox="1"/>
          <p:nvPr/>
        </p:nvSpPr>
        <p:spPr>
          <a:xfrm>
            <a:off x="457200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Answers are returned within a reasonable amount of time.</a:t>
            </a:r>
            <a:endParaRPr lang="en-US" sz="1200" dirty="0"/>
          </a:p>
        </p:txBody>
      </p:sp>
      <p:sp>
        <p:nvSpPr>
          <p:cNvPr id="19" name="Shape 17"/>
          <p:cNvSpPr/>
          <p:nvPr/>
        </p:nvSpPr>
        <p:spPr>
          <a:xfrm>
            <a:off x="8046720" y="4023360"/>
            <a:ext cx="3429000" cy="1920240"/>
          </a:xfrm>
          <a:prstGeom prst="roundRect">
            <a:avLst>
              <a:gd name="adj" fmla="val 4762"/>
            </a:avLst>
          </a:prstGeom>
          <a:solidFill>
            <a:srgbClr val="1C7293"/>
          </a:solidFill>
          <a:ln/>
        </p:spPr>
      </p:sp>
      <p:sp>
        <p:nvSpPr>
          <p:cNvPr id="20" name="Text 18"/>
          <p:cNvSpPr txBox="1"/>
          <p:nvPr/>
        </p:nvSpPr>
        <p:spPr>
          <a:xfrm>
            <a:off x="832104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Scalable</a:t>
            </a:r>
            <a:endParaRPr lang="en-US" sz="1800" dirty="0"/>
          </a:p>
        </p:txBody>
      </p:sp>
      <p:sp>
        <p:nvSpPr>
          <p:cNvPr id="21" name="Text 19"/>
          <p:cNvSpPr txBox="1"/>
          <p:nvPr/>
        </p:nvSpPr>
        <p:spPr>
          <a:xfrm>
            <a:off x="832104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The design allows more research papers to be added later.</a:t>
            </a:r>
            <a:endParaRPr lang="en-US" sz="1200" dirty="0"/>
          </a:p>
        </p:txBody>
      </p:sp>
      <p:sp>
        <p:nvSpPr>
          <p:cNvPr id="22" name="Text 20"/>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ASSUMPTIONS &amp; CONSTRAINTS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Scope of the study</a:t>
            </a:r>
            <a:endParaRPr lang="en-US" sz="3200" dirty="0"/>
          </a:p>
        </p:txBody>
      </p:sp>
      <p:sp>
        <p:nvSpPr>
          <p:cNvPr id="4" name="Text 2"/>
          <p:cNvSpPr txBox="1"/>
          <p:nvPr/>
        </p:nvSpPr>
        <p:spPr>
          <a:xfrm>
            <a:off x="548640" y="1737360"/>
            <a:ext cx="5303520" cy="365760"/>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ASSUMPTIONS</a:t>
            </a:r>
            <a:endParaRPr lang="en-US" sz="1300" dirty="0"/>
          </a:p>
        </p:txBody>
      </p:sp>
      <p:sp>
        <p:nvSpPr>
          <p:cNvPr id="5" name="Shape 3"/>
          <p:cNvSpPr/>
          <p:nvPr/>
        </p:nvSpPr>
        <p:spPr>
          <a:xfrm>
            <a:off x="548640" y="2240280"/>
            <a:ext cx="109728" cy="109728"/>
          </a:xfrm>
          <a:prstGeom prst="ellipse">
            <a:avLst/>
          </a:prstGeom>
          <a:solidFill>
            <a:srgbClr val="1C7293"/>
          </a:solidFill>
          <a:ln/>
        </p:spPr>
      </p:sp>
      <p:sp>
        <p:nvSpPr>
          <p:cNvPr id="6" name="Text 4"/>
          <p:cNvSpPr txBox="1"/>
          <p:nvPr/>
        </p:nvSpPr>
        <p:spPr>
          <a:xfrm>
            <a:off x="822960" y="219456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Input documents are valid, readable academic research papers.</a:t>
            </a:r>
            <a:endParaRPr lang="en-US" sz="1150" dirty="0"/>
          </a:p>
        </p:txBody>
      </p:sp>
      <p:sp>
        <p:nvSpPr>
          <p:cNvPr id="7" name="Shape 5"/>
          <p:cNvSpPr/>
          <p:nvPr/>
        </p:nvSpPr>
        <p:spPr>
          <a:xfrm>
            <a:off x="548640" y="2807208"/>
            <a:ext cx="109728" cy="109728"/>
          </a:xfrm>
          <a:prstGeom prst="ellipse">
            <a:avLst/>
          </a:prstGeom>
          <a:solidFill>
            <a:srgbClr val="1C7293"/>
          </a:solidFill>
          <a:ln/>
        </p:spPr>
      </p:sp>
      <p:sp>
        <p:nvSpPr>
          <p:cNvPr id="8" name="Text 6"/>
          <p:cNvSpPr txBox="1"/>
          <p:nvPr/>
        </p:nvSpPr>
        <p:spPr>
          <a:xfrm>
            <a:off x="822960" y="2761488"/>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Important text can be extracted from the uploaded papers.</a:t>
            </a:r>
            <a:endParaRPr lang="en-US" sz="1150" dirty="0"/>
          </a:p>
        </p:txBody>
      </p:sp>
      <p:sp>
        <p:nvSpPr>
          <p:cNvPr id="9" name="Shape 7"/>
          <p:cNvSpPr/>
          <p:nvPr/>
        </p:nvSpPr>
        <p:spPr>
          <a:xfrm>
            <a:off x="548640" y="3374136"/>
            <a:ext cx="109728" cy="109728"/>
          </a:xfrm>
          <a:prstGeom prst="ellipse">
            <a:avLst/>
          </a:prstGeom>
          <a:solidFill>
            <a:srgbClr val="1C7293"/>
          </a:solidFill>
          <a:ln/>
        </p:spPr>
      </p:sp>
      <p:sp>
        <p:nvSpPr>
          <p:cNvPr id="10" name="Text 8"/>
          <p:cNvSpPr txBox="1"/>
          <p:nvPr/>
        </p:nvSpPr>
        <p:spPr>
          <a:xfrm>
            <a:off x="822960" y="3328416"/>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Evaluation questions are relevant to the supplied papers.</a:t>
            </a:r>
            <a:endParaRPr lang="en-US" sz="1150" dirty="0"/>
          </a:p>
        </p:txBody>
      </p:sp>
      <p:sp>
        <p:nvSpPr>
          <p:cNvPr id="11" name="Shape 9"/>
          <p:cNvSpPr/>
          <p:nvPr/>
        </p:nvSpPr>
        <p:spPr>
          <a:xfrm>
            <a:off x="548640" y="3941064"/>
            <a:ext cx="109728" cy="109728"/>
          </a:xfrm>
          <a:prstGeom prst="ellipse">
            <a:avLst/>
          </a:prstGeom>
          <a:solidFill>
            <a:srgbClr val="1C7293"/>
          </a:solidFill>
          <a:ln/>
        </p:spPr>
      </p:sp>
      <p:sp>
        <p:nvSpPr>
          <p:cNvPr id="12" name="Text 10"/>
          <p:cNvSpPr txBox="1"/>
          <p:nvPr/>
        </p:nvSpPr>
        <p:spPr>
          <a:xfrm>
            <a:off x="822960" y="3895344"/>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Reference answers can be used to evaluate generated answers.</a:t>
            </a:r>
            <a:endParaRPr lang="en-US" sz="1150" dirty="0"/>
          </a:p>
        </p:txBody>
      </p:sp>
      <p:sp>
        <p:nvSpPr>
          <p:cNvPr id="13" name="Shape 11"/>
          <p:cNvSpPr/>
          <p:nvPr/>
        </p:nvSpPr>
        <p:spPr>
          <a:xfrm>
            <a:off x="548640" y="4507992"/>
            <a:ext cx="109728" cy="109728"/>
          </a:xfrm>
          <a:prstGeom prst="ellipse">
            <a:avLst/>
          </a:prstGeom>
          <a:solidFill>
            <a:srgbClr val="1C7293"/>
          </a:solidFill>
          <a:ln/>
        </p:spPr>
      </p:sp>
      <p:sp>
        <p:nvSpPr>
          <p:cNvPr id="14" name="Text 12"/>
          <p:cNvSpPr txBox="1"/>
          <p:nvPr/>
        </p:nvSpPr>
        <p:spPr>
          <a:xfrm>
            <a:off x="822960" y="4462272"/>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The LLM can generate an answer using retrieved context.</a:t>
            </a:r>
            <a:endParaRPr lang="en-US" sz="1150" dirty="0"/>
          </a:p>
        </p:txBody>
      </p:sp>
      <p:sp>
        <p:nvSpPr>
          <p:cNvPr id="15" name="Shape 13"/>
          <p:cNvSpPr/>
          <p:nvPr/>
        </p:nvSpPr>
        <p:spPr>
          <a:xfrm>
            <a:off x="548640" y="5074920"/>
            <a:ext cx="109728" cy="109728"/>
          </a:xfrm>
          <a:prstGeom prst="ellipse">
            <a:avLst/>
          </a:prstGeom>
          <a:solidFill>
            <a:srgbClr val="1C7293"/>
          </a:solidFill>
          <a:ln/>
        </p:spPr>
      </p:sp>
      <p:sp>
        <p:nvSpPr>
          <p:cNvPr id="16" name="Text 14"/>
          <p:cNvSpPr txBox="1"/>
          <p:nvPr/>
        </p:nvSpPr>
        <p:spPr>
          <a:xfrm>
            <a:off x="822960" y="502920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Selected evaluation metrics reasonably measure performance.</a:t>
            </a:r>
            <a:endParaRPr lang="en-US" sz="1150" dirty="0"/>
          </a:p>
        </p:txBody>
      </p:sp>
      <p:sp>
        <p:nvSpPr>
          <p:cNvPr id="17" name="Text 15"/>
          <p:cNvSpPr txBox="1"/>
          <p:nvPr/>
        </p:nvSpPr>
        <p:spPr>
          <a:xfrm>
            <a:off x="6309360" y="1737360"/>
            <a:ext cx="5303520" cy="365760"/>
          </a:xfrm>
          <a:prstGeom prst="rect">
            <a:avLst/>
          </a:prstGeom>
          <a:noFill/>
          <a:ln/>
        </p:spPr>
        <p:txBody>
          <a:bodyPr wrap="square" lIns="0" tIns="0" rIns="0" bIns="0" rtlCol="0" anchor="ctr"/>
          <a:lstStyle/>
          <a:p>
            <a:pPr marL="0" indent="0">
              <a:buNone/>
            </a:pPr>
            <a:r>
              <a:rPr lang="en-US" sz="1300" b="1" kern="0" spc="150" dirty="0">
                <a:solidFill>
                  <a:srgbClr val="E8A33D"/>
                </a:solidFill>
                <a:latin typeface="Calibri" pitchFamily="34" charset="0"/>
                <a:ea typeface="Calibri" pitchFamily="34" charset="-122"/>
                <a:cs typeface="Calibri" pitchFamily="34" charset="-120"/>
              </a:rPr>
              <a:t>CONSTRAINTS</a:t>
            </a:r>
            <a:endParaRPr lang="en-US" sz="1300" dirty="0"/>
          </a:p>
        </p:txBody>
      </p:sp>
      <p:sp>
        <p:nvSpPr>
          <p:cNvPr id="18" name="Shape 16"/>
          <p:cNvSpPr/>
          <p:nvPr/>
        </p:nvSpPr>
        <p:spPr>
          <a:xfrm>
            <a:off x="6309360" y="2240280"/>
            <a:ext cx="109728" cy="109728"/>
          </a:xfrm>
          <a:prstGeom prst="ellipse">
            <a:avLst/>
          </a:prstGeom>
          <a:solidFill>
            <a:srgbClr val="E8A33D"/>
          </a:solidFill>
          <a:ln/>
        </p:spPr>
      </p:sp>
      <p:sp>
        <p:nvSpPr>
          <p:cNvPr id="19" name="Text 17"/>
          <p:cNvSpPr txBox="1"/>
          <p:nvPr/>
        </p:nvSpPr>
        <p:spPr>
          <a:xfrm>
            <a:off x="6583680" y="219456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Computational resources may limit embedding/LLM model size.</a:t>
            </a:r>
            <a:endParaRPr lang="en-US" sz="1150" dirty="0"/>
          </a:p>
        </p:txBody>
      </p:sp>
      <p:sp>
        <p:nvSpPr>
          <p:cNvPr id="20" name="Shape 18"/>
          <p:cNvSpPr/>
          <p:nvPr/>
        </p:nvSpPr>
        <p:spPr>
          <a:xfrm>
            <a:off x="6309360" y="2807208"/>
            <a:ext cx="109728" cy="109728"/>
          </a:xfrm>
          <a:prstGeom prst="ellipse">
            <a:avLst/>
          </a:prstGeom>
          <a:solidFill>
            <a:srgbClr val="E8A33D"/>
          </a:solidFill>
          <a:ln/>
        </p:spPr>
      </p:sp>
      <p:sp>
        <p:nvSpPr>
          <p:cNvPr id="21" name="Text 19"/>
          <p:cNvSpPr txBox="1"/>
          <p:nvPr/>
        </p:nvSpPr>
        <p:spPr>
          <a:xfrm>
            <a:off x="6583680" y="2761488"/>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Poor PDF formatting or scans may affect text extraction.</a:t>
            </a:r>
            <a:endParaRPr lang="en-US" sz="1150" dirty="0"/>
          </a:p>
        </p:txBody>
      </p:sp>
      <p:sp>
        <p:nvSpPr>
          <p:cNvPr id="22" name="Shape 20"/>
          <p:cNvSpPr/>
          <p:nvPr/>
        </p:nvSpPr>
        <p:spPr>
          <a:xfrm>
            <a:off x="6309360" y="3374136"/>
            <a:ext cx="109728" cy="109728"/>
          </a:xfrm>
          <a:prstGeom prst="ellipse">
            <a:avLst/>
          </a:prstGeom>
          <a:solidFill>
            <a:srgbClr val="E8A33D"/>
          </a:solidFill>
          <a:ln/>
        </p:spPr>
      </p:sp>
      <p:sp>
        <p:nvSpPr>
          <p:cNvPr id="23" name="Text 21"/>
          <p:cNvSpPr txBox="1"/>
          <p:nvPr/>
        </p:nvSpPr>
        <p:spPr>
          <a:xfrm>
            <a:off x="6583680" y="3328416"/>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Dataset size (papers/questions) available may be limited.</a:t>
            </a:r>
            <a:endParaRPr lang="en-US" sz="1150" dirty="0"/>
          </a:p>
        </p:txBody>
      </p:sp>
      <p:sp>
        <p:nvSpPr>
          <p:cNvPr id="24" name="Shape 22"/>
          <p:cNvSpPr/>
          <p:nvPr/>
        </p:nvSpPr>
        <p:spPr>
          <a:xfrm>
            <a:off x="6309360" y="3941064"/>
            <a:ext cx="109728" cy="109728"/>
          </a:xfrm>
          <a:prstGeom prst="ellipse">
            <a:avLst/>
          </a:prstGeom>
          <a:solidFill>
            <a:srgbClr val="E8A33D"/>
          </a:solidFill>
          <a:ln/>
        </p:spPr>
      </p:sp>
      <p:sp>
        <p:nvSpPr>
          <p:cNvPr id="25" name="Text 23"/>
          <p:cNvSpPr txBox="1"/>
          <p:nvPr/>
        </p:nvSpPr>
        <p:spPr>
          <a:xfrm>
            <a:off x="6583680" y="3895344"/>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Response quality depends on the selected LLM.</a:t>
            </a:r>
            <a:endParaRPr lang="en-US" sz="1150" dirty="0"/>
          </a:p>
        </p:txBody>
      </p:sp>
      <p:sp>
        <p:nvSpPr>
          <p:cNvPr id="26" name="Shape 24"/>
          <p:cNvSpPr/>
          <p:nvPr/>
        </p:nvSpPr>
        <p:spPr>
          <a:xfrm>
            <a:off x="6309360" y="4507992"/>
            <a:ext cx="109728" cy="109728"/>
          </a:xfrm>
          <a:prstGeom prst="ellipse">
            <a:avLst/>
          </a:prstGeom>
          <a:solidFill>
            <a:srgbClr val="E8A33D"/>
          </a:solidFill>
          <a:ln/>
        </p:spPr>
      </p:sp>
      <p:sp>
        <p:nvSpPr>
          <p:cNvPr id="27" name="Text 25"/>
          <p:cNvSpPr txBox="1"/>
          <p:nvPr/>
        </p:nvSpPr>
        <p:spPr>
          <a:xfrm>
            <a:off x="6583680" y="4462272"/>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Comparing many configurations increases experiment time.</a:t>
            </a:r>
            <a:endParaRPr lang="en-US" sz="1150" dirty="0"/>
          </a:p>
        </p:txBody>
      </p:sp>
      <p:sp>
        <p:nvSpPr>
          <p:cNvPr id="28" name="Shape 26"/>
          <p:cNvSpPr/>
          <p:nvPr/>
        </p:nvSpPr>
        <p:spPr>
          <a:xfrm>
            <a:off x="6309360" y="5074920"/>
            <a:ext cx="109728" cy="109728"/>
          </a:xfrm>
          <a:prstGeom prst="ellipse">
            <a:avLst/>
          </a:prstGeom>
          <a:solidFill>
            <a:srgbClr val="E8A33D"/>
          </a:solidFill>
          <a:ln/>
        </p:spPr>
      </p:sp>
      <p:sp>
        <p:nvSpPr>
          <p:cNvPr id="29" name="Text 27"/>
          <p:cNvSpPr txBox="1"/>
          <p:nvPr/>
        </p:nvSpPr>
        <p:spPr>
          <a:xfrm>
            <a:off x="6583680" y="502920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Automatic metrics may not fully capture answer quality.</a:t>
            </a:r>
            <a:endParaRPr lang="en-US" sz="1150" dirty="0"/>
          </a:p>
        </p:txBody>
      </p:sp>
      <p:sp>
        <p:nvSpPr>
          <p:cNvPr id="30" name="Text 2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SDG ALIGNMENT &amp; PROJECT GOALS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Broader impact and direction</a:t>
            </a:r>
            <a:endParaRPr lang="en-US" sz="3200" dirty="0"/>
          </a:p>
        </p:txBody>
      </p:sp>
      <p:sp>
        <p:nvSpPr>
          <p:cNvPr id="4" name="Shape 2"/>
          <p:cNvSpPr/>
          <p:nvPr/>
        </p:nvSpPr>
        <p:spPr>
          <a:xfrm>
            <a:off x="548640" y="1783080"/>
            <a:ext cx="4937760" cy="4069080"/>
          </a:xfrm>
          <a:prstGeom prst="roundRect">
            <a:avLst>
              <a:gd name="adj" fmla="val 2247"/>
            </a:avLst>
          </a:prstGeom>
          <a:solidFill>
            <a:srgbClr val="0F4266"/>
          </a:solidFill>
          <a:ln w="12700">
            <a:solidFill>
              <a:srgbClr val="1C7293"/>
            </a:solidFill>
            <a:prstDash val="solid"/>
          </a:ln>
        </p:spPr>
      </p:sp>
      <p:sp>
        <p:nvSpPr>
          <p:cNvPr id="5" name="Shape 3"/>
          <p:cNvSpPr/>
          <p:nvPr/>
        </p:nvSpPr>
        <p:spPr>
          <a:xfrm>
            <a:off x="868680" y="2057400"/>
            <a:ext cx="548640" cy="548640"/>
          </a:xfrm>
          <a:prstGeom prst="ellipse">
            <a:avLst/>
          </a:prstGeom>
          <a:solidFill>
            <a:srgbClr val="E8A33D"/>
          </a:solidFill>
          <a:ln/>
        </p:spPr>
      </p:sp>
      <p:sp>
        <p:nvSpPr>
          <p:cNvPr id="6" name="Text 4"/>
          <p:cNvSpPr txBox="1"/>
          <p:nvPr/>
        </p:nvSpPr>
        <p:spPr>
          <a:xfrm>
            <a:off x="868680" y="2057400"/>
            <a:ext cx="548640" cy="548640"/>
          </a:xfrm>
          <a:prstGeom prst="rect">
            <a:avLst/>
          </a:prstGeom>
          <a:noFill/>
          <a:ln/>
        </p:spPr>
        <p:txBody>
          <a:bodyPr wrap="square" lIns="0" tIns="0" rIns="0" bIns="0" rtlCol="0" anchor="ctr"/>
          <a:lstStyle/>
          <a:p>
            <a:pPr marL="0" indent="0" algn="ctr">
              <a:buNone/>
            </a:pPr>
            <a:r>
              <a:rPr lang="en-US" sz="2400" b="1" dirty="0">
                <a:solidFill>
                  <a:srgbClr val="0B3358"/>
                </a:solidFill>
                <a:latin typeface="Calibri" pitchFamily="34" charset="0"/>
                <a:ea typeface="Calibri" pitchFamily="34" charset="-122"/>
                <a:cs typeface="Calibri" pitchFamily="34" charset="-120"/>
              </a:rPr>
              <a:t>4</a:t>
            </a:r>
            <a:endParaRPr lang="en-US" sz="2400" dirty="0"/>
          </a:p>
        </p:txBody>
      </p:sp>
      <p:sp>
        <p:nvSpPr>
          <p:cNvPr id="7" name="Text 5"/>
          <p:cNvSpPr txBox="1"/>
          <p:nvPr/>
        </p:nvSpPr>
        <p:spPr>
          <a:xfrm>
            <a:off x="1554480" y="2148840"/>
            <a:ext cx="3749040" cy="365760"/>
          </a:xfrm>
          <a:prstGeom prst="rect">
            <a:avLst/>
          </a:prstGeom>
          <a:noFill/>
          <a:ln/>
        </p:spPr>
        <p:txBody>
          <a:bodyPr wrap="square" lIns="0" tIns="0" rIns="0" bIns="0"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SDG 4 · QUALITY EDUCATION</a:t>
            </a:r>
            <a:endParaRPr lang="en-US" sz="1200" dirty="0"/>
          </a:p>
        </p:txBody>
      </p:sp>
      <p:sp>
        <p:nvSpPr>
          <p:cNvPr id="8" name="Text 6"/>
          <p:cNvSpPr txBox="1"/>
          <p:nvPr/>
        </p:nvSpPr>
        <p:spPr>
          <a:xfrm>
            <a:off x="868680" y="2697480"/>
            <a:ext cx="4343400" cy="3017520"/>
          </a:xfrm>
          <a:prstGeom prst="rect">
            <a:avLst/>
          </a:prstGeom>
          <a:noFill/>
          <a:ln/>
        </p:spPr>
        <p:txBody>
          <a:bodyPr wrap="square" lIns="0" tIns="0" rIns="0" bIns="0" rtlCol="0" anchor="ctr"/>
          <a:lstStyle/>
          <a:p>
            <a:pPr marL="0" indent="0">
              <a:lnSpc>
                <a:spcPct val="130000"/>
              </a:lnSpc>
              <a:buNone/>
            </a:pPr>
            <a:r>
              <a:rPr lang="en-US" sz="1300" b="1" dirty="0">
                <a:solidFill>
                  <a:srgbClr val="FFFFFF"/>
                </a:solidFill>
                <a:latin typeface="Calibri" pitchFamily="34" charset="0"/>
                <a:ea typeface="Calibri" pitchFamily="34" charset="-122"/>
                <a:cs typeface="Calibri" pitchFamily="34" charset="-120"/>
              </a:rPr>
              <a:t>Target 4.7 — </a:t>
            </a:r>
            <a:r>
              <a:rPr lang="en-US" sz="1300" dirty="0">
                <a:solidFill>
                  <a:srgbClr val="CADCE0"/>
                </a:solidFill>
                <a:latin typeface="Calibri" pitchFamily="34" charset="0"/>
                <a:ea typeface="Calibri" pitchFamily="34" charset="-122"/>
                <a:cs typeface="Calibri" pitchFamily="34" charset="-120"/>
              </a:rPr>
              <a:t>ensuring learners acquire the knowledge and skills needed for sustainable development.
</a:t>
            </a:r>
            <a:r>
              <a:rPr lang="en-US" sz="1300" b="1" dirty="0">
                <a:solidFill>
                  <a:srgbClr val="FFFFFF"/>
                </a:solidFill>
                <a:latin typeface="Calibri" pitchFamily="34" charset="0"/>
                <a:ea typeface="Calibri" pitchFamily="34" charset="-122"/>
                <a:cs typeface="Calibri" pitchFamily="34" charset="-120"/>
              </a:rPr>
              <a:t>Project link: </a:t>
            </a:r>
            <a:r>
              <a:rPr lang="en-US" sz="1300" dirty="0">
                <a:solidFill>
                  <a:srgbClr val="CADCE0"/>
                </a:solidFill>
                <a:latin typeface="Calibri" pitchFamily="34" charset="0"/>
                <a:ea typeface="Calibri" pitchFamily="34" charset="-122"/>
                <a:cs typeface="Calibri" pitchFamily="34" charset="-120"/>
              </a:rPr>
              <a:t>helps students and researchers access, understand, and work with academic knowledge more efficiently.</a:t>
            </a:r>
            <a:endParaRPr lang="en-US" sz="1300" dirty="0"/>
          </a:p>
        </p:txBody>
      </p:sp>
      <p:sp>
        <p:nvSpPr>
          <p:cNvPr id="9" name="Text 7"/>
          <p:cNvSpPr txBox="1"/>
          <p:nvPr/>
        </p:nvSpPr>
        <p:spPr>
          <a:xfrm>
            <a:off x="5760720" y="1783080"/>
            <a:ext cx="5852160" cy="365760"/>
          </a:xfrm>
          <a:prstGeom prst="rect">
            <a:avLst/>
          </a:prstGeom>
          <a:noFill/>
          <a:ln/>
        </p:spPr>
        <p:txBody>
          <a:bodyPr wrap="square" lIns="0" tIns="0" rIns="0" bIns="0"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PROJECT GOALS</a:t>
            </a:r>
            <a:endParaRPr lang="en-US" sz="1200" dirty="0"/>
          </a:p>
        </p:txBody>
      </p:sp>
      <p:sp>
        <p:nvSpPr>
          <p:cNvPr id="10" name="Shape 8"/>
          <p:cNvSpPr/>
          <p:nvPr/>
        </p:nvSpPr>
        <p:spPr>
          <a:xfrm>
            <a:off x="5760720" y="2295144"/>
            <a:ext cx="109728" cy="109728"/>
          </a:xfrm>
          <a:prstGeom prst="ellipse">
            <a:avLst/>
          </a:prstGeom>
          <a:solidFill>
            <a:srgbClr val="E8A33D"/>
          </a:solidFill>
          <a:ln/>
        </p:spPr>
      </p:sp>
      <p:sp>
        <p:nvSpPr>
          <p:cNvPr id="11" name="Text 9"/>
          <p:cNvSpPr txBox="1"/>
          <p:nvPr/>
        </p:nvSpPr>
        <p:spPr>
          <a:xfrm>
            <a:off x="6035040" y="2240280"/>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Develop an academic research-paper QA system</a:t>
            </a:r>
            <a:endParaRPr lang="en-US" sz="1300" dirty="0"/>
          </a:p>
        </p:txBody>
      </p:sp>
      <p:sp>
        <p:nvSpPr>
          <p:cNvPr id="12" name="Shape 10"/>
          <p:cNvSpPr/>
          <p:nvPr/>
        </p:nvSpPr>
        <p:spPr>
          <a:xfrm>
            <a:off x="5760720" y="2825496"/>
            <a:ext cx="109728" cy="109728"/>
          </a:xfrm>
          <a:prstGeom prst="ellipse">
            <a:avLst/>
          </a:prstGeom>
          <a:solidFill>
            <a:srgbClr val="E8A33D"/>
          </a:solidFill>
          <a:ln/>
        </p:spPr>
      </p:sp>
      <p:sp>
        <p:nvSpPr>
          <p:cNvPr id="13" name="Text 11"/>
          <p:cNvSpPr txBox="1"/>
          <p:nvPr/>
        </p:nvSpPr>
        <p:spPr>
          <a:xfrm>
            <a:off x="6035040" y="2770632"/>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Build a configurable RAG pipeline</a:t>
            </a:r>
            <a:endParaRPr lang="en-US" sz="1300" dirty="0"/>
          </a:p>
        </p:txBody>
      </p:sp>
      <p:sp>
        <p:nvSpPr>
          <p:cNvPr id="14" name="Shape 12"/>
          <p:cNvSpPr/>
          <p:nvPr/>
        </p:nvSpPr>
        <p:spPr>
          <a:xfrm>
            <a:off x="5760720" y="3355848"/>
            <a:ext cx="109728" cy="109728"/>
          </a:xfrm>
          <a:prstGeom prst="ellipse">
            <a:avLst/>
          </a:prstGeom>
          <a:solidFill>
            <a:srgbClr val="E8A33D"/>
          </a:solidFill>
          <a:ln/>
        </p:spPr>
      </p:sp>
      <p:sp>
        <p:nvSpPr>
          <p:cNvPr id="15" name="Text 13"/>
          <p:cNvSpPr txBox="1"/>
          <p:nvPr/>
        </p:nvSpPr>
        <p:spPr>
          <a:xfrm>
            <a:off x="6035040" y="3300984"/>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Compare chunking methods</a:t>
            </a:r>
            <a:endParaRPr lang="en-US" sz="1300" dirty="0"/>
          </a:p>
        </p:txBody>
      </p:sp>
      <p:sp>
        <p:nvSpPr>
          <p:cNvPr id="16" name="Shape 14"/>
          <p:cNvSpPr/>
          <p:nvPr/>
        </p:nvSpPr>
        <p:spPr>
          <a:xfrm>
            <a:off x="5760720" y="3886200"/>
            <a:ext cx="109728" cy="109728"/>
          </a:xfrm>
          <a:prstGeom prst="ellipse">
            <a:avLst/>
          </a:prstGeom>
          <a:solidFill>
            <a:srgbClr val="E8A33D"/>
          </a:solidFill>
          <a:ln/>
        </p:spPr>
      </p:sp>
      <p:sp>
        <p:nvSpPr>
          <p:cNvPr id="17" name="Text 15"/>
          <p:cNvSpPr txBox="1"/>
          <p:nvPr/>
        </p:nvSpPr>
        <p:spPr>
          <a:xfrm>
            <a:off x="6035040" y="3831336"/>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Compare retrieval methods</a:t>
            </a:r>
            <a:endParaRPr lang="en-US" sz="1300" dirty="0"/>
          </a:p>
        </p:txBody>
      </p:sp>
      <p:sp>
        <p:nvSpPr>
          <p:cNvPr id="18" name="Shape 16"/>
          <p:cNvSpPr/>
          <p:nvPr/>
        </p:nvSpPr>
        <p:spPr>
          <a:xfrm>
            <a:off x="5760720" y="4416552"/>
            <a:ext cx="109728" cy="109728"/>
          </a:xfrm>
          <a:prstGeom prst="ellipse">
            <a:avLst/>
          </a:prstGeom>
          <a:solidFill>
            <a:srgbClr val="E8A33D"/>
          </a:solidFill>
          <a:ln/>
        </p:spPr>
      </p:sp>
      <p:sp>
        <p:nvSpPr>
          <p:cNvPr id="19" name="Text 17"/>
          <p:cNvSpPr txBox="1"/>
          <p:nvPr/>
        </p:nvSpPr>
        <p:spPr>
          <a:xfrm>
            <a:off x="6035040" y="4361688"/>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Evaluate the effect of reranking</a:t>
            </a:r>
            <a:endParaRPr lang="en-US" sz="1300" dirty="0"/>
          </a:p>
        </p:txBody>
      </p:sp>
      <p:sp>
        <p:nvSpPr>
          <p:cNvPr id="20" name="Shape 18"/>
          <p:cNvSpPr/>
          <p:nvPr/>
        </p:nvSpPr>
        <p:spPr>
          <a:xfrm>
            <a:off x="5760720" y="4946904"/>
            <a:ext cx="109728" cy="109728"/>
          </a:xfrm>
          <a:prstGeom prst="ellipse">
            <a:avLst/>
          </a:prstGeom>
          <a:solidFill>
            <a:srgbClr val="E8A33D"/>
          </a:solidFill>
          <a:ln/>
        </p:spPr>
      </p:sp>
      <p:sp>
        <p:nvSpPr>
          <p:cNvPr id="21" name="Text 19"/>
          <p:cNvSpPr txBox="1"/>
          <p:nvPr/>
        </p:nvSpPr>
        <p:spPr>
          <a:xfrm>
            <a:off x="6035040" y="4892040"/>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Identify the best-performing configuration</a:t>
            </a:r>
            <a:endParaRPr lang="en-US" sz="1300" dirty="0"/>
          </a:p>
        </p:txBody>
      </p:sp>
      <p:sp>
        <p:nvSpPr>
          <p:cNvPr id="22" name="Shape 20"/>
          <p:cNvSpPr/>
          <p:nvPr/>
        </p:nvSpPr>
        <p:spPr>
          <a:xfrm>
            <a:off x="5760720" y="5477256"/>
            <a:ext cx="109728" cy="109728"/>
          </a:xfrm>
          <a:prstGeom prst="ellipse">
            <a:avLst/>
          </a:prstGeom>
          <a:solidFill>
            <a:srgbClr val="E8A33D"/>
          </a:solidFill>
          <a:ln/>
        </p:spPr>
      </p:sp>
      <p:sp>
        <p:nvSpPr>
          <p:cNvPr id="23" name="Text 21"/>
          <p:cNvSpPr txBox="1"/>
          <p:nvPr/>
        </p:nvSpPr>
        <p:spPr>
          <a:xfrm>
            <a:off x="6035040" y="5422392"/>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Improve reliability through citations</a:t>
            </a:r>
            <a:endParaRPr lang="en-US" sz="1300" dirty="0"/>
          </a:p>
        </p:txBody>
      </p:sp>
      <p:sp>
        <p:nvSpPr>
          <p:cNvPr id="24"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DELIVERABLES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What the project will produce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789920" cy="4571996"/>
        </p:xfrm>
        <a:graphic>
          <a:graphicData uri="http://schemas.openxmlformats.org/drawingml/2006/table">
            <a:tbl>
              <a:tblPr/>
              <a:tblGrid>
                <a:gridCol w="41148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4156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0B3358"/>
                    </a:solidFill>
                  </a:tcPr>
                </a:tc>
                <a:extLst>
                  <a:ext uri="{0D108BD9-81ED-4DB2-BD59-A6C34878D82A}">
                    <a16:rowId xmlns:a16="http://schemas.microsoft.com/office/drawing/2014/main" val="10000"/>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Literature Survey</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Reviewed papers and identified gap</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1"/>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Academic-paper corpus + QA data</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Document Processing</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Extracted and chunked papers</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3"/>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RAG Baseline</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Basic working RAG system</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Retrieval Module</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BM25 / dense / hybrid retrieval</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5"/>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Reranking Module</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Reranking implementation</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Generation Module</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LLM-based answer generation</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7"/>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Evaluation Framework</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Metrics and comparison system</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Experimental Results</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Tables and graphs</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1F5F7"/>
                    </a:solidFill>
                  </a:tcPr>
                </a:tc>
                <a:extLst>
                  <a:ext uri="{0D108BD9-81ED-4DB2-BD59-A6C34878D82A}">
                    <a16:rowId xmlns:a16="http://schemas.microsoft.com/office/drawing/2014/main" val="10009"/>
                  </a:ext>
                </a:extLst>
              </a:tr>
              <a:tr h="415636">
                <a:tc>
                  <a:txBody>
                    <a:bodyPr/>
                    <a:lstStyle/>
                    <a:p>
                      <a:pPr marL="0" indent="0">
                        <a:buNone/>
                      </a:pPr>
                      <a:r>
                        <a:rPr lang="en-US" sz="1150" b="1" dirty="0">
                          <a:solidFill>
                            <a:srgbClr val="0B3358"/>
                          </a:solidFill>
                          <a:latin typeface="Calibri" pitchFamily="34" charset="0"/>
                          <a:ea typeface="Calibri" pitchFamily="34" charset="-122"/>
                          <a:cs typeface="Calibri" pitchFamily="34" charset="-120"/>
                        </a:rPr>
                        <a:t>Final System</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Academic Research Assistant</a:t>
                      </a:r>
                      <a:endParaRPr lang="en-US" sz="1150" dirty="0">
                        <a:latin typeface="Calibri" charset="0"/>
                        <a:ea typeface="Calibri" charset="0"/>
                        <a:cs typeface="Calibri" charset="0"/>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TIMELINE</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0B3358"/>
                </a:solidFill>
                <a:latin typeface="Cambria" pitchFamily="34" charset="0"/>
                <a:ea typeface="Cambria" pitchFamily="34" charset="-122"/>
                <a:cs typeface="Cambria" pitchFamily="34" charset="-120"/>
              </a:rPr>
              <a:t>12-week project schedule</a:t>
            </a:r>
            <a:endParaRPr lang="en-US" sz="3200" dirty="0"/>
          </a:p>
        </p:txBody>
      </p:sp>
      <p:sp>
        <p:nvSpPr>
          <p:cNvPr id="4" name="Shape 2"/>
          <p:cNvSpPr/>
          <p:nvPr/>
        </p:nvSpPr>
        <p:spPr>
          <a:xfrm>
            <a:off x="640080" y="2834640"/>
            <a:ext cx="10881360" cy="0"/>
          </a:xfrm>
          <a:prstGeom prst="line">
            <a:avLst/>
          </a:prstGeom>
          <a:noFill/>
          <a:ln w="25400">
            <a:solidFill>
              <a:srgbClr val="CBD6DC"/>
            </a:solidFill>
            <a:prstDash val="solid"/>
          </a:ln>
        </p:spPr>
      </p:sp>
      <p:sp>
        <p:nvSpPr>
          <p:cNvPr id="5" name="Shape 3"/>
          <p:cNvSpPr/>
          <p:nvPr/>
        </p:nvSpPr>
        <p:spPr>
          <a:xfrm>
            <a:off x="557784" y="2752344"/>
            <a:ext cx="164592" cy="164592"/>
          </a:xfrm>
          <a:prstGeom prst="ellipse">
            <a:avLst/>
          </a:prstGeom>
          <a:solidFill>
            <a:srgbClr val="1C7293"/>
          </a:solidFill>
          <a:ln/>
        </p:spPr>
      </p:sp>
      <p:sp>
        <p:nvSpPr>
          <p:cNvPr id="6" name="Text 4"/>
          <p:cNvSpPr txBox="1"/>
          <p:nvPr/>
        </p:nvSpPr>
        <p:spPr>
          <a:xfrm>
            <a:off x="137160"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W1–2</a:t>
            </a:r>
            <a:endParaRPr lang="en-US" sz="1050" dirty="0"/>
          </a:p>
        </p:txBody>
      </p:sp>
      <p:sp>
        <p:nvSpPr>
          <p:cNvPr id="7" name="Text 5"/>
          <p:cNvSpPr txBox="1"/>
          <p:nvPr/>
        </p:nvSpPr>
        <p:spPr>
          <a:xfrm>
            <a:off x="-45720"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Literature survey &amp; research gap</a:t>
            </a:r>
            <a:endParaRPr lang="en-US" sz="950" dirty="0"/>
          </a:p>
        </p:txBody>
      </p:sp>
      <p:sp>
        <p:nvSpPr>
          <p:cNvPr id="8" name="Shape 6"/>
          <p:cNvSpPr/>
          <p:nvPr/>
        </p:nvSpPr>
        <p:spPr>
          <a:xfrm>
            <a:off x="1645920" y="2752344"/>
            <a:ext cx="164592" cy="164592"/>
          </a:xfrm>
          <a:prstGeom prst="ellipse">
            <a:avLst/>
          </a:prstGeom>
          <a:solidFill>
            <a:srgbClr val="1C7293"/>
          </a:solidFill>
          <a:ln/>
        </p:spPr>
      </p:sp>
      <p:sp>
        <p:nvSpPr>
          <p:cNvPr id="9" name="Text 7"/>
          <p:cNvSpPr txBox="1"/>
          <p:nvPr/>
        </p:nvSpPr>
        <p:spPr>
          <a:xfrm>
            <a:off x="1225296" y="2999232"/>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W3</a:t>
            </a:r>
            <a:endParaRPr lang="en-US" sz="1050" dirty="0"/>
          </a:p>
        </p:txBody>
      </p:sp>
      <p:sp>
        <p:nvSpPr>
          <p:cNvPr id="10" name="Text 8"/>
          <p:cNvSpPr txBox="1"/>
          <p:nvPr/>
        </p:nvSpPr>
        <p:spPr>
          <a:xfrm>
            <a:off x="1042416" y="310896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Dataset preparation</a:t>
            </a:r>
            <a:endParaRPr lang="en-US" sz="950" dirty="0"/>
          </a:p>
        </p:txBody>
      </p:sp>
      <p:sp>
        <p:nvSpPr>
          <p:cNvPr id="11" name="Shape 9"/>
          <p:cNvSpPr/>
          <p:nvPr/>
        </p:nvSpPr>
        <p:spPr>
          <a:xfrm>
            <a:off x="2734056" y="2752344"/>
            <a:ext cx="164592" cy="164592"/>
          </a:xfrm>
          <a:prstGeom prst="ellipse">
            <a:avLst/>
          </a:prstGeom>
          <a:solidFill>
            <a:srgbClr val="1C7293"/>
          </a:solidFill>
          <a:ln/>
        </p:spPr>
      </p:sp>
      <p:sp>
        <p:nvSpPr>
          <p:cNvPr id="12" name="Text 10"/>
          <p:cNvSpPr txBox="1"/>
          <p:nvPr/>
        </p:nvSpPr>
        <p:spPr>
          <a:xfrm>
            <a:off x="2313432"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W4</a:t>
            </a:r>
            <a:endParaRPr lang="en-US" sz="1050" dirty="0"/>
          </a:p>
        </p:txBody>
      </p:sp>
      <p:sp>
        <p:nvSpPr>
          <p:cNvPr id="13" name="Text 11"/>
          <p:cNvSpPr txBox="1"/>
          <p:nvPr/>
        </p:nvSpPr>
        <p:spPr>
          <a:xfrm>
            <a:off x="2130552"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PDF processing &amp; chunking</a:t>
            </a:r>
            <a:endParaRPr lang="en-US" sz="950" dirty="0"/>
          </a:p>
        </p:txBody>
      </p:sp>
      <p:sp>
        <p:nvSpPr>
          <p:cNvPr id="14" name="Shape 12"/>
          <p:cNvSpPr/>
          <p:nvPr/>
        </p:nvSpPr>
        <p:spPr>
          <a:xfrm>
            <a:off x="3822192" y="2752344"/>
            <a:ext cx="164592" cy="164592"/>
          </a:xfrm>
          <a:prstGeom prst="ellipse">
            <a:avLst/>
          </a:prstGeom>
          <a:solidFill>
            <a:srgbClr val="1C7293"/>
          </a:solidFill>
          <a:ln/>
        </p:spPr>
      </p:sp>
      <p:sp>
        <p:nvSpPr>
          <p:cNvPr id="15" name="Text 13"/>
          <p:cNvSpPr txBox="1"/>
          <p:nvPr/>
        </p:nvSpPr>
        <p:spPr>
          <a:xfrm>
            <a:off x="3401568" y="2999232"/>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W5</a:t>
            </a:r>
            <a:endParaRPr lang="en-US" sz="1050" dirty="0"/>
          </a:p>
        </p:txBody>
      </p:sp>
      <p:sp>
        <p:nvSpPr>
          <p:cNvPr id="16" name="Text 14"/>
          <p:cNvSpPr txBox="1"/>
          <p:nvPr/>
        </p:nvSpPr>
        <p:spPr>
          <a:xfrm>
            <a:off x="3218688" y="310896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Basic RAG system</a:t>
            </a:r>
            <a:endParaRPr lang="en-US" sz="950" dirty="0"/>
          </a:p>
        </p:txBody>
      </p:sp>
      <p:sp>
        <p:nvSpPr>
          <p:cNvPr id="17" name="Shape 15"/>
          <p:cNvSpPr/>
          <p:nvPr/>
        </p:nvSpPr>
        <p:spPr>
          <a:xfrm>
            <a:off x="4910328" y="2752344"/>
            <a:ext cx="164592" cy="164592"/>
          </a:xfrm>
          <a:prstGeom prst="ellipse">
            <a:avLst/>
          </a:prstGeom>
          <a:solidFill>
            <a:srgbClr val="1C7293"/>
          </a:solidFill>
          <a:ln/>
        </p:spPr>
      </p:sp>
      <p:sp>
        <p:nvSpPr>
          <p:cNvPr id="18" name="Text 16"/>
          <p:cNvSpPr txBox="1"/>
          <p:nvPr/>
        </p:nvSpPr>
        <p:spPr>
          <a:xfrm>
            <a:off x="4489704"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W6</a:t>
            </a:r>
            <a:endParaRPr lang="en-US" sz="1050" dirty="0"/>
          </a:p>
        </p:txBody>
      </p:sp>
      <p:sp>
        <p:nvSpPr>
          <p:cNvPr id="19" name="Text 17"/>
          <p:cNvSpPr txBox="1"/>
          <p:nvPr/>
        </p:nvSpPr>
        <p:spPr>
          <a:xfrm>
            <a:off x="4306824"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Retrieval experiments</a:t>
            </a:r>
            <a:endParaRPr lang="en-US" sz="950" dirty="0"/>
          </a:p>
        </p:txBody>
      </p:sp>
      <p:sp>
        <p:nvSpPr>
          <p:cNvPr id="20" name="Shape 18"/>
          <p:cNvSpPr/>
          <p:nvPr/>
        </p:nvSpPr>
        <p:spPr>
          <a:xfrm>
            <a:off x="5998464" y="2752344"/>
            <a:ext cx="164592" cy="164592"/>
          </a:xfrm>
          <a:prstGeom prst="ellipse">
            <a:avLst/>
          </a:prstGeom>
          <a:solidFill>
            <a:srgbClr val="1C7293"/>
          </a:solidFill>
          <a:ln/>
        </p:spPr>
      </p:sp>
      <p:sp>
        <p:nvSpPr>
          <p:cNvPr id="21" name="Text 19"/>
          <p:cNvSpPr txBox="1"/>
          <p:nvPr/>
        </p:nvSpPr>
        <p:spPr>
          <a:xfrm>
            <a:off x="5577840" y="2999232"/>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W7</a:t>
            </a:r>
            <a:endParaRPr lang="en-US" sz="1050" dirty="0"/>
          </a:p>
        </p:txBody>
      </p:sp>
      <p:sp>
        <p:nvSpPr>
          <p:cNvPr id="22" name="Text 20"/>
          <p:cNvSpPr txBox="1"/>
          <p:nvPr/>
        </p:nvSpPr>
        <p:spPr>
          <a:xfrm>
            <a:off x="5394960" y="310896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Reranking experiments</a:t>
            </a:r>
            <a:endParaRPr lang="en-US" sz="950" dirty="0"/>
          </a:p>
        </p:txBody>
      </p:sp>
      <p:sp>
        <p:nvSpPr>
          <p:cNvPr id="23" name="Shape 21"/>
          <p:cNvSpPr/>
          <p:nvPr/>
        </p:nvSpPr>
        <p:spPr>
          <a:xfrm>
            <a:off x="7086600" y="2752344"/>
            <a:ext cx="164592" cy="164592"/>
          </a:xfrm>
          <a:prstGeom prst="ellipse">
            <a:avLst/>
          </a:prstGeom>
          <a:solidFill>
            <a:srgbClr val="1C7293"/>
          </a:solidFill>
          <a:ln/>
        </p:spPr>
      </p:sp>
      <p:sp>
        <p:nvSpPr>
          <p:cNvPr id="24" name="Text 22"/>
          <p:cNvSpPr txBox="1"/>
          <p:nvPr/>
        </p:nvSpPr>
        <p:spPr>
          <a:xfrm>
            <a:off x="6665976"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W8</a:t>
            </a:r>
            <a:endParaRPr lang="en-US" sz="1050" dirty="0"/>
          </a:p>
        </p:txBody>
      </p:sp>
      <p:sp>
        <p:nvSpPr>
          <p:cNvPr id="25" name="Text 23"/>
          <p:cNvSpPr txBox="1"/>
          <p:nvPr/>
        </p:nvSpPr>
        <p:spPr>
          <a:xfrm>
            <a:off x="6483096"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Generation &amp; citation handling</a:t>
            </a:r>
            <a:endParaRPr lang="en-US" sz="950" dirty="0"/>
          </a:p>
        </p:txBody>
      </p:sp>
      <p:sp>
        <p:nvSpPr>
          <p:cNvPr id="26" name="Shape 24"/>
          <p:cNvSpPr/>
          <p:nvPr/>
        </p:nvSpPr>
        <p:spPr>
          <a:xfrm>
            <a:off x="8174736" y="2752344"/>
            <a:ext cx="164592" cy="164592"/>
          </a:xfrm>
          <a:prstGeom prst="ellipse">
            <a:avLst/>
          </a:prstGeom>
          <a:solidFill>
            <a:srgbClr val="1C7293"/>
          </a:solidFill>
          <a:ln/>
        </p:spPr>
      </p:sp>
      <p:sp>
        <p:nvSpPr>
          <p:cNvPr id="27" name="Text 25"/>
          <p:cNvSpPr txBox="1"/>
          <p:nvPr/>
        </p:nvSpPr>
        <p:spPr>
          <a:xfrm>
            <a:off x="7754112" y="2999232"/>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W9</a:t>
            </a:r>
            <a:endParaRPr lang="en-US" sz="1050" dirty="0"/>
          </a:p>
        </p:txBody>
      </p:sp>
      <p:sp>
        <p:nvSpPr>
          <p:cNvPr id="28" name="Text 26"/>
          <p:cNvSpPr txBox="1"/>
          <p:nvPr/>
        </p:nvSpPr>
        <p:spPr>
          <a:xfrm>
            <a:off x="7571232" y="310896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Evaluation</a:t>
            </a:r>
            <a:endParaRPr lang="en-US" sz="950" dirty="0"/>
          </a:p>
        </p:txBody>
      </p:sp>
      <p:sp>
        <p:nvSpPr>
          <p:cNvPr id="29" name="Shape 27"/>
          <p:cNvSpPr/>
          <p:nvPr/>
        </p:nvSpPr>
        <p:spPr>
          <a:xfrm>
            <a:off x="9262872" y="2752344"/>
            <a:ext cx="164592" cy="164592"/>
          </a:xfrm>
          <a:prstGeom prst="ellipse">
            <a:avLst/>
          </a:prstGeom>
          <a:solidFill>
            <a:srgbClr val="1C7293"/>
          </a:solidFill>
          <a:ln/>
        </p:spPr>
      </p:sp>
      <p:sp>
        <p:nvSpPr>
          <p:cNvPr id="30" name="Text 28"/>
          <p:cNvSpPr txBox="1"/>
          <p:nvPr/>
        </p:nvSpPr>
        <p:spPr>
          <a:xfrm>
            <a:off x="8842248"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W10</a:t>
            </a:r>
            <a:endParaRPr lang="en-US" sz="1050" dirty="0"/>
          </a:p>
        </p:txBody>
      </p:sp>
      <p:sp>
        <p:nvSpPr>
          <p:cNvPr id="31" name="Text 29"/>
          <p:cNvSpPr txBox="1"/>
          <p:nvPr/>
        </p:nvSpPr>
        <p:spPr>
          <a:xfrm>
            <a:off x="8659368"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Comparison of configurations</a:t>
            </a:r>
            <a:endParaRPr lang="en-US" sz="950" dirty="0"/>
          </a:p>
        </p:txBody>
      </p:sp>
      <p:sp>
        <p:nvSpPr>
          <p:cNvPr id="32" name="Shape 30"/>
          <p:cNvSpPr/>
          <p:nvPr/>
        </p:nvSpPr>
        <p:spPr>
          <a:xfrm>
            <a:off x="10351008" y="2752344"/>
            <a:ext cx="164592" cy="164592"/>
          </a:xfrm>
          <a:prstGeom prst="ellipse">
            <a:avLst/>
          </a:prstGeom>
          <a:solidFill>
            <a:srgbClr val="1C7293"/>
          </a:solidFill>
          <a:ln/>
        </p:spPr>
      </p:sp>
      <p:sp>
        <p:nvSpPr>
          <p:cNvPr id="33" name="Text 31"/>
          <p:cNvSpPr txBox="1"/>
          <p:nvPr/>
        </p:nvSpPr>
        <p:spPr>
          <a:xfrm>
            <a:off x="9930384" y="2999232"/>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W11</a:t>
            </a:r>
            <a:endParaRPr lang="en-US" sz="1050" dirty="0"/>
          </a:p>
        </p:txBody>
      </p:sp>
      <p:sp>
        <p:nvSpPr>
          <p:cNvPr id="34" name="Text 32"/>
          <p:cNvSpPr txBox="1"/>
          <p:nvPr/>
        </p:nvSpPr>
        <p:spPr>
          <a:xfrm>
            <a:off x="9747504" y="310896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Results and analysis</a:t>
            </a:r>
            <a:endParaRPr lang="en-US" sz="950" dirty="0"/>
          </a:p>
        </p:txBody>
      </p:sp>
      <p:sp>
        <p:nvSpPr>
          <p:cNvPr id="35" name="Shape 33"/>
          <p:cNvSpPr/>
          <p:nvPr/>
        </p:nvSpPr>
        <p:spPr>
          <a:xfrm>
            <a:off x="11439144" y="2752344"/>
            <a:ext cx="164592" cy="164592"/>
          </a:xfrm>
          <a:prstGeom prst="ellipse">
            <a:avLst/>
          </a:prstGeom>
          <a:solidFill>
            <a:srgbClr val="E8A33D"/>
          </a:solidFill>
          <a:ln/>
        </p:spPr>
      </p:sp>
      <p:sp>
        <p:nvSpPr>
          <p:cNvPr id="36" name="Text 34"/>
          <p:cNvSpPr txBox="1"/>
          <p:nvPr/>
        </p:nvSpPr>
        <p:spPr>
          <a:xfrm>
            <a:off x="11018520" y="2331720"/>
            <a:ext cx="1005840" cy="274320"/>
          </a:xfrm>
          <a:prstGeom prst="rect">
            <a:avLst/>
          </a:prstGeom>
          <a:noFill/>
          <a:ln/>
        </p:spPr>
        <p:txBody>
          <a:bodyPr wrap="square" lIns="0" tIns="0" rIns="0" bIns="0" rtlCol="0" anchor="ctr"/>
          <a:lstStyle/>
          <a:p>
            <a:pPr marL="0" indent="0" algn="ctr">
              <a:buNone/>
            </a:pPr>
            <a:r>
              <a:rPr lang="en-US" sz="1050" b="1" dirty="0">
                <a:solidFill>
                  <a:srgbClr val="0B3358"/>
                </a:solidFill>
                <a:latin typeface="Calibri" pitchFamily="34" charset="0"/>
                <a:ea typeface="Calibri" pitchFamily="34" charset="-122"/>
                <a:cs typeface="Calibri" pitchFamily="34" charset="-120"/>
              </a:rPr>
              <a:t>W12</a:t>
            </a:r>
            <a:endParaRPr lang="en-US" sz="1050" dirty="0"/>
          </a:p>
        </p:txBody>
      </p:sp>
      <p:sp>
        <p:nvSpPr>
          <p:cNvPr id="37" name="Text 35"/>
          <p:cNvSpPr txBox="1"/>
          <p:nvPr/>
        </p:nvSpPr>
        <p:spPr>
          <a:xfrm>
            <a:off x="10835640" y="1463040"/>
            <a:ext cx="1371600" cy="1005840"/>
          </a:xfrm>
          <a:prstGeom prst="rect">
            <a:avLst/>
          </a:prstGeom>
          <a:noFill/>
          <a:ln/>
        </p:spPr>
        <p:txBody>
          <a:bodyPr wrap="square" lIns="0" tIns="0" rIns="0" bIns="0" rtlCol="0" anchor="ctr"/>
          <a:lstStyle/>
          <a:p>
            <a:pPr marL="0" indent="0" algn="ctr">
              <a:lnSpc>
                <a:spcPct val="110000"/>
              </a:lnSpc>
              <a:buNone/>
            </a:pPr>
            <a:r>
              <a:rPr lang="en-US" sz="950" dirty="0">
                <a:solidFill>
                  <a:srgbClr val="5B6B79"/>
                </a:solidFill>
                <a:latin typeface="Calibri" pitchFamily="34" charset="0"/>
                <a:ea typeface="Calibri" pitchFamily="34" charset="-122"/>
                <a:cs typeface="Calibri" pitchFamily="34" charset="-120"/>
              </a:rPr>
              <a:t>Final system &amp; documentation</a:t>
            </a:r>
            <a:endParaRPr lang="en-US" sz="950" dirty="0"/>
          </a:p>
        </p:txBody>
      </p:sp>
      <p:sp>
        <p:nvSpPr>
          <p:cNvPr id="38" name="Text 36"/>
          <p:cNvSpPr txBox="1"/>
          <p:nvPr/>
        </p:nvSpPr>
        <p:spPr>
          <a:xfrm>
            <a:off x="548640" y="5989320"/>
            <a:ext cx="10789920" cy="457200"/>
          </a:xfrm>
          <a:prstGeom prst="rect">
            <a:avLst/>
          </a:prstGeom>
          <a:noFill/>
          <a:ln/>
        </p:spPr>
        <p:txBody>
          <a:bodyPr wrap="square" lIns="0" tIns="0" rIns="0" bIns="0" rtlCol="0" anchor="ctr"/>
          <a:lstStyle/>
          <a:p>
            <a:pPr marL="0" indent="0">
              <a:buNone/>
            </a:pPr>
            <a:r>
              <a:rPr lang="en-US" sz="1200" i="1" dirty="0">
                <a:solidFill>
                  <a:srgbClr val="5B6B79"/>
                </a:solidFill>
                <a:latin typeface="Calibri" pitchFamily="34" charset="0"/>
                <a:ea typeface="Calibri" pitchFamily="34" charset="-122"/>
                <a:cs typeface="Calibri" pitchFamily="34" charset="-120"/>
              </a:rPr>
              <a:t>Review 1 falls in Week 5 of the college calendar — this presentation reflects the early stages, not a completed system.</a:t>
            </a:r>
            <a:endParaRPr lang="en-US" sz="1200" dirty="0"/>
          </a:p>
        </p:txBody>
      </p:sp>
      <p:sp>
        <p:nvSpPr>
          <p:cNvPr id="39" name="Text 37"/>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35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Cited work</a:t>
            </a:r>
            <a:endParaRPr lang="en-US" sz="3200" dirty="0"/>
          </a:p>
        </p:txBody>
      </p:sp>
      <p:sp>
        <p:nvSpPr>
          <p:cNvPr id="4" name="Shape 2"/>
          <p:cNvSpPr/>
          <p:nvPr/>
        </p:nvSpPr>
        <p:spPr>
          <a:xfrm>
            <a:off x="548640" y="1920240"/>
            <a:ext cx="384048" cy="384048"/>
          </a:xfrm>
          <a:prstGeom prst="ellipse">
            <a:avLst/>
          </a:prstGeom>
          <a:solidFill>
            <a:srgbClr val="1C7293"/>
          </a:solidFill>
          <a:ln/>
        </p:spPr>
      </p:sp>
      <p:sp>
        <p:nvSpPr>
          <p:cNvPr id="5" name="Text 3"/>
          <p:cNvSpPr txBox="1"/>
          <p:nvPr/>
        </p:nvSpPr>
        <p:spPr>
          <a:xfrm>
            <a:off x="548640" y="1920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874520"/>
            <a:ext cx="10058400" cy="640080"/>
          </a:xfrm>
          <a:prstGeom prst="rect">
            <a:avLst/>
          </a:prstGeom>
          <a:noFill/>
          <a:ln/>
        </p:spPr>
        <p:txBody>
          <a:bodyPr wrap="square" lIns="0" tIns="0" rIns="0" bIns="0" rtlCol="0" anchor="ctr"/>
          <a:lstStyle/>
          <a:p>
            <a:pPr marL="0" indent="0">
              <a:lnSpc>
                <a:spcPct val="115000"/>
              </a:lnSpc>
              <a:buNone/>
            </a:pPr>
            <a:r>
              <a:rPr lang="en-US" sz="1350" dirty="0">
                <a:solidFill>
                  <a:srgbClr val="E6EEF2"/>
                </a:solidFill>
                <a:latin typeface="Calibri" pitchFamily="34" charset="0"/>
                <a:ea typeface="Calibri" pitchFamily="34" charset="-122"/>
                <a:cs typeface="Calibri" pitchFamily="34" charset="-120"/>
              </a:rPr>
              <a:t>Lewis, P. et al. — Retrieval-Augmented Generation for Knowledge-Intensive NLP Tasks (2020)</a:t>
            </a:r>
            <a:endParaRPr lang="en-US" sz="1350" dirty="0"/>
          </a:p>
        </p:txBody>
      </p:sp>
      <p:sp>
        <p:nvSpPr>
          <p:cNvPr id="7" name="Shape 5"/>
          <p:cNvSpPr/>
          <p:nvPr/>
        </p:nvSpPr>
        <p:spPr>
          <a:xfrm>
            <a:off x="548640" y="2697480"/>
            <a:ext cx="384048" cy="384048"/>
          </a:xfrm>
          <a:prstGeom prst="ellipse">
            <a:avLst/>
          </a:prstGeom>
          <a:solidFill>
            <a:srgbClr val="1C7293"/>
          </a:solidFill>
          <a:ln/>
        </p:spPr>
      </p:sp>
      <p:sp>
        <p:nvSpPr>
          <p:cNvPr id="8" name="Text 6"/>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651760"/>
            <a:ext cx="10058400" cy="640080"/>
          </a:xfrm>
          <a:prstGeom prst="rect">
            <a:avLst/>
          </a:prstGeom>
          <a:noFill/>
          <a:ln/>
        </p:spPr>
        <p:txBody>
          <a:bodyPr wrap="square" lIns="0" tIns="0" rIns="0" bIns="0" rtlCol="0" anchor="ctr"/>
          <a:lstStyle/>
          <a:p>
            <a:pPr marL="0" indent="0">
              <a:lnSpc>
                <a:spcPct val="115000"/>
              </a:lnSpc>
              <a:buNone/>
            </a:pPr>
            <a:r>
              <a:rPr lang="en-US" sz="1350" dirty="0">
                <a:solidFill>
                  <a:srgbClr val="E6EEF2"/>
                </a:solidFill>
                <a:latin typeface="Calibri" pitchFamily="34" charset="0"/>
                <a:ea typeface="Calibri" pitchFamily="34" charset="-122"/>
                <a:cs typeface="Calibri" pitchFamily="34" charset="-120"/>
              </a:rPr>
              <a:t>Lála, J. et al. — PaperQA: Retrieval-Augmented Generative Agent for Scientific Research (2023)</a:t>
            </a:r>
            <a:endParaRPr lang="en-US" sz="1350" dirty="0"/>
          </a:p>
        </p:txBody>
      </p:sp>
      <p:sp>
        <p:nvSpPr>
          <p:cNvPr id="10" name="Shape 8"/>
          <p:cNvSpPr/>
          <p:nvPr/>
        </p:nvSpPr>
        <p:spPr>
          <a:xfrm>
            <a:off x="548640" y="3474720"/>
            <a:ext cx="384048" cy="384048"/>
          </a:xfrm>
          <a:prstGeom prst="ellipse">
            <a:avLst/>
          </a:prstGeom>
          <a:solidFill>
            <a:srgbClr val="1C7293"/>
          </a:solidFill>
          <a:ln/>
        </p:spPr>
      </p:sp>
      <p:sp>
        <p:nvSpPr>
          <p:cNvPr id="11" name="Text 9"/>
          <p:cNvSpPr txBox="1"/>
          <p:nvPr/>
        </p:nvSpPr>
        <p:spPr>
          <a:xfrm>
            <a:off x="548640" y="3474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43000" y="3429000"/>
            <a:ext cx="10058400" cy="640080"/>
          </a:xfrm>
          <a:prstGeom prst="rect">
            <a:avLst/>
          </a:prstGeom>
          <a:noFill/>
          <a:ln/>
        </p:spPr>
        <p:txBody>
          <a:bodyPr wrap="square" lIns="0" tIns="0" rIns="0" bIns="0" rtlCol="0" anchor="ctr"/>
          <a:lstStyle/>
          <a:p>
            <a:pPr marL="0" indent="0">
              <a:lnSpc>
                <a:spcPct val="115000"/>
              </a:lnSpc>
              <a:buNone/>
            </a:pPr>
            <a:r>
              <a:rPr lang="en-US" sz="1350" dirty="0">
                <a:solidFill>
                  <a:srgbClr val="E6EEF2"/>
                </a:solidFill>
                <a:latin typeface="Calibri" pitchFamily="34" charset="0"/>
                <a:ea typeface="Calibri" pitchFamily="34" charset="-122"/>
                <a:cs typeface="Calibri" pitchFamily="34" charset="-120"/>
              </a:rPr>
              <a:t>Asai, A. et al. — Self-RAG: Learning to Retrieve, Generate, and Critique through Self-Reflection (2024)</a:t>
            </a:r>
            <a:endParaRPr lang="en-US" sz="1350" dirty="0"/>
          </a:p>
        </p:txBody>
      </p:sp>
      <p:sp>
        <p:nvSpPr>
          <p:cNvPr id="13" name="Shape 11"/>
          <p:cNvSpPr/>
          <p:nvPr/>
        </p:nvSpPr>
        <p:spPr>
          <a:xfrm>
            <a:off x="548640" y="4251960"/>
            <a:ext cx="384048" cy="384048"/>
          </a:xfrm>
          <a:prstGeom prst="ellipse">
            <a:avLst/>
          </a:prstGeom>
          <a:solidFill>
            <a:srgbClr val="1C7293"/>
          </a:solidFill>
          <a:ln/>
        </p:spPr>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143000" y="4206240"/>
            <a:ext cx="10058400" cy="640080"/>
          </a:xfrm>
          <a:prstGeom prst="rect">
            <a:avLst/>
          </a:prstGeom>
          <a:noFill/>
          <a:ln/>
        </p:spPr>
        <p:txBody>
          <a:bodyPr wrap="square" lIns="0" tIns="0" rIns="0" bIns="0" rtlCol="0" anchor="ctr"/>
          <a:lstStyle/>
          <a:p>
            <a:pPr marL="0" indent="0">
              <a:lnSpc>
                <a:spcPct val="115000"/>
              </a:lnSpc>
              <a:buNone/>
            </a:pPr>
            <a:r>
              <a:rPr lang="en-US" sz="1350" dirty="0">
                <a:solidFill>
                  <a:srgbClr val="E6EEF2"/>
                </a:solidFill>
                <a:latin typeface="Calibri" pitchFamily="34" charset="0"/>
                <a:ea typeface="Calibri" pitchFamily="34" charset="-122"/>
                <a:cs typeface="Calibri" pitchFamily="34" charset="-120"/>
              </a:rPr>
              <a:t>Rau, D. et al. — BERGEN: A Benchmarking Library for Retrieval-Augmented Generation (2024)</a:t>
            </a:r>
            <a:endParaRPr lang="en-US" sz="1350" dirty="0"/>
          </a:p>
        </p:txBody>
      </p:sp>
      <p:sp>
        <p:nvSpPr>
          <p:cNvPr id="16" name="Shape 14"/>
          <p:cNvSpPr/>
          <p:nvPr/>
        </p:nvSpPr>
        <p:spPr>
          <a:xfrm>
            <a:off x="548640" y="5029200"/>
            <a:ext cx="384048" cy="384048"/>
          </a:xfrm>
          <a:prstGeom prst="ellipse">
            <a:avLst/>
          </a:prstGeom>
          <a:solidFill>
            <a:srgbClr val="1C7293"/>
          </a:solidFill>
          <a:ln/>
        </p:spPr>
      </p:sp>
      <p:sp>
        <p:nvSpPr>
          <p:cNvPr id="17" name="Text 15"/>
          <p:cNvSpPr txBox="1"/>
          <p:nvPr/>
        </p:nvSpPr>
        <p:spPr>
          <a:xfrm>
            <a:off x="548640" y="5029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43000" y="4983480"/>
            <a:ext cx="10058400" cy="640080"/>
          </a:xfrm>
          <a:prstGeom prst="rect">
            <a:avLst/>
          </a:prstGeom>
          <a:noFill/>
          <a:ln/>
        </p:spPr>
        <p:txBody>
          <a:bodyPr wrap="square" lIns="0" tIns="0" rIns="0" bIns="0" rtlCol="0" anchor="ctr"/>
          <a:lstStyle/>
          <a:p>
            <a:pPr marL="0" indent="0">
              <a:lnSpc>
                <a:spcPct val="115000"/>
              </a:lnSpc>
              <a:buNone/>
            </a:pPr>
            <a:r>
              <a:rPr lang="en-US" sz="1350" dirty="0">
                <a:solidFill>
                  <a:srgbClr val="E6EEF2"/>
                </a:solidFill>
                <a:latin typeface="Calibri" pitchFamily="34" charset="0"/>
                <a:ea typeface="Calibri" pitchFamily="34" charset="-122"/>
                <a:cs typeface="Calibri" pitchFamily="34" charset="-120"/>
              </a:rPr>
              <a:t>Lu, W. et al. — HiChunk: Evaluating and Enhancing RAG with Hierarchical Chunking (2026)</a:t>
            </a:r>
            <a:endParaRPr lang="en-US" sz="1350" dirty="0"/>
          </a:p>
        </p:txBody>
      </p:sp>
      <p:sp>
        <p:nvSpPr>
          <p:cNvPr id="20" name="Text 1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1467</Words>
  <Application>Microsoft Office PowerPoint</Application>
  <PresentationFormat>Widescreen</PresentationFormat>
  <Paragraphs>279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Mokshagna D</cp:lastModifiedBy>
  <cp:revision>3</cp:revision>
  <dcterms:created xsi:type="dcterms:W3CDTF">2026-08-31T20:05:29Z</dcterms:created>
  <dcterms:modified xsi:type="dcterms:W3CDTF">2026-09-04T15:56:09Z</dcterms:modified>
</cp:coreProperties>
</file>